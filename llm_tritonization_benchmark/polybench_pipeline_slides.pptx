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140"/>
              </a:lnSpc>
              <a:defRPr sz="3600" b="1">
                <a:solidFill>
                  <a:srgbClr val="FFFFFF"/>
                </a:solidFill>
                <a:latin typeface="Calibri"/>
              </a:defRPr>
            </a:pPr>
            <a:r>
              <a:t>Analysis-Guided LLM</a:t>
            </a:r>
            <a:br/>
            <a:r>
              <a:t>Tritonization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070"/>
              </a:lnSpc>
              <a:defRPr sz="1800" b="0">
                <a:solidFill>
                  <a:srgbClr val="F5F5F5"/>
                </a:solidFill>
                <a:latin typeface="Calibri"/>
              </a:defRPr>
            </a:pPr>
            <a:r>
              <a:t>PET + LLVM Static Analysis  -&gt;  LLM Prompt  -&gt;  GPU Triton Kernels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09"/>
              </a:lnSpc>
              <a:defRPr sz="1400" b="0">
                <a:solidFill>
                  <a:srgbClr val="7F8C8D"/>
                </a:solidFill>
                <a:latin typeface="Calibri"/>
              </a:defRPr>
            </a:pPr>
            <a:r>
              <a:t>Polybench/C 4.2.1 (30 kernels)  |  Rodinia 3.1 (3 kernels)  |  16 Analysis Modules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Pipeline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8600" y="1097280"/>
            <a:ext cx="1097280" cy="41148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 Kernel</a:t>
            </a:r>
          </a:p>
        </p:txBody>
      </p:sp>
      <p:sp>
        <p:nvSpPr>
          <p:cNvPr id="4" name="Right Arrow 3"/>
          <p:cNvSpPr/>
          <p:nvPr/>
        </p:nvSpPr>
        <p:spPr>
          <a:xfrm>
            <a:off x="1339596" y="1211580"/>
            <a:ext cx="109728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49324" y="1097280"/>
            <a:ext cx="1097280" cy="41148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Extract</a:t>
            </a:r>
            <a:br/>
            <a:r>
              <a:t>Scop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60320" y="1211580"/>
            <a:ext cx="109728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670048" y="1097280"/>
            <a:ext cx="1097280" cy="411480"/>
          </a:xfrm>
          <a:prstGeom prst="roundRect">
            <a:avLst>
              <a:gd name="adj" fmla="val 15000"/>
            </a:avLst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PET / LLVM</a:t>
            </a:r>
            <a:br/>
            <a:r>
              <a:t>Analysis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781044" y="1211580"/>
            <a:ext cx="109728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890772" y="1097280"/>
            <a:ext cx="1097280" cy="41148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Build</a:t>
            </a:r>
            <a:br/>
            <a:r>
              <a:t>Prompt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001768" y="1211580"/>
            <a:ext cx="109728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11496" y="1097280"/>
            <a:ext cx="1097280" cy="411480"/>
          </a:xfrm>
          <a:prstGeom prst="roundRect">
            <a:avLst>
              <a:gd name="adj" fmla="val 15000"/>
            </a:avLst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Claude</a:t>
            </a:r>
            <a:br/>
            <a:r>
              <a:t>Sonnet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222492" y="1211580"/>
            <a:ext cx="109728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32220" y="1097280"/>
            <a:ext cx="1097280" cy="41148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Triton</a:t>
            </a:r>
            <a:br/>
            <a:r>
              <a:t>Code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443216" y="1211580"/>
            <a:ext cx="109728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52944" y="1097280"/>
            <a:ext cx="1097280" cy="41148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Test vs</a:t>
            </a:r>
            <a:br/>
            <a:r>
              <a:t>C Ref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645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C0392B"/>
                </a:solidFill>
                <a:latin typeface="Calibri"/>
              </a:defRPr>
            </a:pPr>
            <a:r>
              <a:t>5+5 retry strategy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1031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30 Kernels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60320" y="21031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16 Analysis Modules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63440" y="21031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Speedup Retry (&lt;0.1x)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21031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30/30 Pass (100%)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9"/>
              </a:lnSpc>
              <a:defRPr sz="1400" b="1">
                <a:solidFill>
                  <a:srgbClr val="1B2A4A"/>
                </a:solidFill>
                <a:latin typeface="Calibri"/>
              </a:defRPr>
            </a:pPr>
            <a:r>
              <a:t>16 Analysis Modules (PET + LLVM fallback):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29184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WAR Dependencies  |  Parallel Dimensions  |  Reduction Detection  |  Scalar Expansion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Stream Patterns  |  Aliasing  |  Overwrites  |  Indirect Addressing  |  Goto Detection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Loop Distribution  |  Loop Interchange  |  Unrolling  |  Reordering  |  Crossing  |  Convolution  |  Early Exit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Scop Extraction: From Polybench to Kernel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0">
                <a:solidFill>
                  <a:srgbClr val="7F8C8D"/>
                </a:solidFill>
                <a:latin typeface="Calibri"/>
              </a:defRPr>
            </a:pPr>
            <a:r>
              <a:t>Each kernel goes through a multi-stage extraction before analysis and LLM prompting.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109728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Raw Polybench</a:t>
            </a:r>
            <a:br/>
            <a:r>
              <a:t>gemm.c (147 lines)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572768" y="1257300"/>
            <a:ext cx="256032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74520" y="109728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Extract Scop</a:t>
            </a:r>
            <a:br/>
            <a:r>
              <a:t>Region + Arrays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64408" y="1257300"/>
            <a:ext cx="256032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66160" y="109728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Expand Macros</a:t>
            </a:r>
            <a:br/>
            <a:r>
              <a:t>&amp; Globals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56048" y="1257300"/>
            <a:ext cx="256032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57800" y="109728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Standalone</a:t>
            </a:r>
            <a:br/>
            <a:r>
              <a:t>gemm.c (27 lines)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647688" y="1257300"/>
            <a:ext cx="256032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49440" y="109728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PET + LLVM</a:t>
            </a:r>
            <a:br/>
            <a:r>
              <a:t>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82880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9"/>
              </a:lnSpc>
              <a:defRPr sz="1400" b="1">
                <a:solidFill>
                  <a:srgbClr val="C0392B"/>
                </a:solidFill>
                <a:latin typeface="Calibri"/>
              </a:defRPr>
            </a:pPr>
            <a:r>
              <a:t>Removed (Polybench infrastructure):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14884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main(), init_array(), print_array()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POLYBENCH_2D/3D array macros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_PB_NI, _PB_NJ, ... bound macros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DATA_TYPE casts, SCALAR_VAL() wrappers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polybench.h timing infrastructure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18288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9"/>
              </a:lnSpc>
              <a:defRPr sz="1400" b="1">
                <a:solidFill>
                  <a:srgbClr val="27AE60"/>
                </a:solidFill>
                <a:latin typeface="Calibri"/>
              </a:defRPr>
            </a:pPr>
            <a:r>
              <a:t>Kept / Generated: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148840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#pragma scop region (the computation)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#define NI 60, NJ 70, NK 80 (sizes)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Global arrays: float C[NI][NJ], ...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Global scalars: float alpha = 1.5f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Iteration variables: int i, j, 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49039"/>
            <a:ext cx="8229600" cy="1097280"/>
          </a:xfrm>
          <a:prstGeom prst="roundRect">
            <a:avLst>
              <a:gd name="adj" fmla="val 5000"/>
            </a:avLst>
          </a:prstGeom>
          <a:solidFill>
            <a:srgbClr val="EBF5FB"/>
          </a:solidFill>
          <a:ln w="12700"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b="1" sz="1200">
                <a:solidFill>
                  <a:srgbClr val="2E5C8A"/>
                </a:solidFill>
                <a:latin typeface="Calibri"/>
              </a:rPr>
              <a:t>Why global arrays? </a:t>
            </a:r>
            <a:r>
              <a:rPr sz="1100">
                <a:solidFill>
                  <a:srgbClr val="2C3E50"/>
                </a:solidFill>
                <a:latin typeface="Calibri"/>
              </a:rPr>
              <a:t>PET requires standalone files with known array sizes. By using #define constants and global declarations, PET can build the polyhedral model with exact iteration domains (e.g., { S[i,j] : 0 &lt;= i &lt; 60 and 0 &lt;= j &lt; 70 }).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2E5C8A"/>
                </a:solidFill>
                <a:latin typeface="Calibri"/>
              </a:rPr>
              <a:t>30 kernels configured: </a:t>
            </a:r>
            <a:r>
              <a:rPr sz="1100">
                <a:solidFill>
                  <a:srgbClr val="2C3E50"/>
                </a:solidFill>
                <a:latin typeface="Calibri"/>
              </a:rPr>
              <a:t>Each kernel has a config entry specifying: path, dimension sizes, macro mappings, data type, extra globals (scalars), and any math replacements.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GEMM Example: Before &amp; After Extraction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772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1">
                <a:solidFill>
                  <a:srgbClr val="C0392B"/>
                </a:solidFill>
                <a:latin typeface="Calibri"/>
              </a:defRPr>
            </a:pPr>
            <a:r>
              <a:t>Raw Polybench gemm.c (kernel function):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51560"/>
            <a:ext cx="4160520" cy="246888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void kernel_gemm(int ni, int nj, int nk,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DATA_TYPE alpha, DATA_TYPE beta,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DATA_TYPE POLYBENCH_2D(C,NI,NJ,ni,nj),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DATA_TYPE POLYBENCH_2D(A,NI,NK,ni,nk),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DATA_TYPE POLYBENCH_2D(B,NK,NJ,nk,nj))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{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int i, j, k;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#pragma scop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for (i = 0; i &lt; _PB_NI; i++) {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for (j = 0; j &lt; _PB_NJ; j++)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C[i][j] *= beta;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for (k = 0; k &lt; _PB_NK; k++) {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 for (j = 0; j &lt; _PB_NJ; j++)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   C[i][j] += alpha*A[i][k]*B[k][j];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}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}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#pragma endscop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3611880"/>
            <a:ext cx="4160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C0392B"/>
                </a:solidFill>
                <a:latin typeface="Calibri"/>
              </a:rPr>
              <a:t>POLYBENCH_2D: complex macro for arrays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C0392B"/>
                </a:solidFill>
                <a:latin typeface="Calibri"/>
              </a:rPr>
              <a:t>_PB_NI, _PB_NK: indirect bound macros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C0392B"/>
                </a:solidFill>
                <a:latin typeface="Calibri"/>
              </a:rPr>
              <a:t>DATA_TYPE: typedef (float/double)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C0392B"/>
                </a:solidFill>
                <a:latin typeface="Calibri"/>
              </a:rPr>
              <a:t>+ 80 lines of main/init/print boilerplate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7772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1">
                <a:solidFill>
                  <a:srgbClr val="27AE60"/>
                </a:solidFill>
                <a:latin typeface="Calibri"/>
              </a:defRPr>
            </a:pPr>
            <a:r>
              <a:t>Extracted standalone gemm.c: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051560"/>
            <a:ext cx="4160520" cy="338328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#include &lt;math.h&gt;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#define NI 60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#define NJ 70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#define NK 80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float C[NI][NJ];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float A[NI][NK];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float B[NK][NJ];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float alpha = 1.5f;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float beta = 1.2f;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void gemm_kernel() {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int i, j, k;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#pragma scop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for (i = 0; i &lt; NI; i++) {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for (j = 0; j &lt; NJ; j++)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C[i][j] *= beta;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for (k = 0; k &lt; NK; k++) {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 for (j = 0; j &lt; NJ; j++)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   C[i][j] += alpha*A[i][k]*B[k][j];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}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}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#pragma endscop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462272" y="2103120"/>
            <a:ext cx="256032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4320" y="4617720"/>
            <a:ext cx="8686800" cy="365760"/>
          </a:xfrm>
          <a:prstGeom prst="roundRect">
            <a:avLst>
              <a:gd name="adj" fmla="val 10000"/>
            </a:avLst>
          </a:prstGeom>
          <a:solidFill>
            <a:srgbClr val="E8F8F5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b="1" sz="1200">
                <a:solidFill>
                  <a:srgbClr val="27AE60"/>
                </a:solidFill>
                <a:latin typeface="Calibri"/>
              </a:rPr>
              <a:t>147 lines -&gt; 27 lines: </a:t>
            </a:r>
            <a:r>
              <a:rPr sz="1200">
                <a:solidFill>
                  <a:srgbClr val="2C3E50"/>
                </a:solidFill>
                <a:latin typeface="Calibri"/>
              </a:rPr>
              <a:t>Same computation, zero boilerplate. Ready for PET polyhedral analysis.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From Kernel to LLM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0">
                <a:solidFill>
                  <a:srgbClr val="7F8C8D"/>
                </a:solidFill>
                <a:latin typeface="Calibri"/>
              </a:defRPr>
            </a:pPr>
            <a:r>
              <a:t>The extracted kernel feeds two paths that merge into the final prompt.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554480"/>
            <a:ext cx="1188720" cy="45720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gemm.c</a:t>
            </a:r>
            <a:br/>
            <a:r>
              <a:t>(extracted)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508760" y="1325880"/>
            <a:ext cx="228600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83080" y="1188720"/>
            <a:ext cx="1463040" cy="45720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PET + LLVM</a:t>
            </a:r>
            <a:br/>
            <a:r>
              <a:t>Analysis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91840" y="1325880"/>
            <a:ext cx="228600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66160" y="1188720"/>
            <a:ext cx="1371600" cy="457200"/>
          </a:xfrm>
          <a:prstGeom prst="roundRect">
            <a:avLst>
              <a:gd name="adj" fmla="val 15000"/>
            </a:avLst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WAR, ParDims</a:t>
            </a:r>
            <a:br/>
            <a:r>
              <a:t>Reduction, ...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508760" y="2240280"/>
            <a:ext cx="228600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783080" y="2103120"/>
            <a:ext cx="1463040" cy="45720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Function Spec</a:t>
            </a:r>
            <a:br/>
            <a:r>
              <a:t>Database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291840" y="2240280"/>
            <a:ext cx="228600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66160" y="2103120"/>
            <a:ext cx="1371600" cy="457200"/>
          </a:xfrm>
          <a:prstGeom prst="roundRect">
            <a:avLst>
              <a:gd name="adj" fmla="val 15000"/>
            </a:avLst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arrays, scalars</a:t>
            </a:r>
            <a:br/>
            <a:r>
              <a:t>signature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983480" y="1783080"/>
            <a:ext cx="228600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57800" y="1645920"/>
            <a:ext cx="1280160" cy="457200"/>
          </a:xfrm>
          <a:prstGeom prst="roundRect">
            <a:avLst>
              <a:gd name="adj" fmla="val 15000"/>
            </a:avLst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Build</a:t>
            </a:r>
            <a:br/>
            <a:r>
              <a:t>Prompt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83680" y="1783080"/>
            <a:ext cx="228600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0" y="1645920"/>
            <a:ext cx="1097280" cy="45720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Claude</a:t>
            </a:r>
            <a:br/>
            <a:r>
              <a:t>Sonnet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278892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9"/>
              </a:lnSpc>
              <a:defRPr sz="1400" b="1">
                <a:solidFill>
                  <a:srgbClr val="1B2A4A"/>
                </a:solidFill>
                <a:latin typeface="Calibri"/>
              </a:defRPr>
            </a:pPr>
            <a:r>
              <a:t>Final Prompt Structure (GEMM, 7 sections):</a:t>
            </a:r>
          </a:p>
        </p:txBody>
      </p:sp>
      <p:sp>
        <p:nvSpPr>
          <p:cNvPr id="18" name="Oval 17"/>
          <p:cNvSpPr/>
          <p:nvPr/>
        </p:nvSpPr>
        <p:spPr>
          <a:xfrm>
            <a:off x="320040" y="3081528"/>
            <a:ext cx="201168" cy="201168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06324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1B2A4A"/>
                </a:solidFill>
                <a:latin typeface="Calibri"/>
              </a:defRPr>
            </a:pPr>
            <a:r>
              <a:t>C Source 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3063240"/>
            <a:ext cx="6675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2C3E50"/>
                </a:solidFill>
                <a:latin typeface="Calibri"/>
              </a:defRPr>
            </a:pPr>
            <a:r>
              <a:t>Full extracted gemm.c (27 lines, with globals + scop)</a:t>
            </a:r>
          </a:p>
        </p:txBody>
      </p:sp>
      <p:sp>
        <p:nvSpPr>
          <p:cNvPr id="21" name="Oval 20"/>
          <p:cNvSpPr/>
          <p:nvPr/>
        </p:nvSpPr>
        <p:spPr>
          <a:xfrm>
            <a:off x="320040" y="3328416"/>
            <a:ext cx="201168" cy="201168"/>
          </a:xfrm>
          <a:prstGeom prst="ellipse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10128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2E5C8A"/>
                </a:solidFill>
                <a:latin typeface="Calibri"/>
              </a:defRPr>
            </a:pPr>
            <a:r>
              <a:t>Loop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3310128"/>
            <a:ext cx="6675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2C3E50"/>
                </a:solidFill>
                <a:latin typeface="Calibri"/>
              </a:defRPr>
            </a:pPr>
            <a:r>
              <a:t>The #pragma scop region: "this is what you must implement"</a:t>
            </a:r>
          </a:p>
        </p:txBody>
      </p:sp>
      <p:sp>
        <p:nvSpPr>
          <p:cNvPr id="24" name="Oval 23"/>
          <p:cNvSpPr/>
          <p:nvPr/>
        </p:nvSpPr>
        <p:spPr>
          <a:xfrm>
            <a:off x="320040" y="3575304"/>
            <a:ext cx="201168" cy="201168"/>
          </a:xfrm>
          <a:prstGeom prst="ellipse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3557016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3A7CBD"/>
                </a:solidFill>
                <a:latin typeface="Calibri"/>
              </a:defRPr>
            </a:pPr>
            <a:r>
              <a:t>Analysis Results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3557016"/>
            <a:ext cx="6675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2C3E50"/>
                </a:solidFill>
                <a:latin typeface="Calibri"/>
              </a:defRPr>
            </a:pPr>
            <a:r>
              <a:t>WAR: none | ParDims: i,j parallel, k reduction | Reduction: dot product</a:t>
            </a:r>
          </a:p>
        </p:txBody>
      </p:sp>
      <p:sp>
        <p:nvSpPr>
          <p:cNvPr id="27" name="Oval 26"/>
          <p:cNvSpPr/>
          <p:nvPr/>
        </p:nvSpPr>
        <p:spPr>
          <a:xfrm>
            <a:off x="320040" y="3822192"/>
            <a:ext cx="201168" cy="201168"/>
          </a:xfrm>
          <a:prstGeom prst="ellipse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3803904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2E5C8A"/>
                </a:solidFill>
                <a:latin typeface="Calibri"/>
              </a:defRPr>
            </a:pPr>
            <a:r>
              <a:t>Array Info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3803904"/>
            <a:ext cx="6675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2C3E50"/>
                </a:solidFill>
                <a:latin typeface="Calibri"/>
              </a:defRPr>
            </a:pPr>
            <a:r>
              <a:t>C: read-write | A: read-only | B: read-only</a:t>
            </a:r>
          </a:p>
        </p:txBody>
      </p:sp>
      <p:sp>
        <p:nvSpPr>
          <p:cNvPr id="30" name="Oval 29"/>
          <p:cNvSpPr/>
          <p:nvPr/>
        </p:nvSpPr>
        <p:spPr>
          <a:xfrm>
            <a:off x="320040" y="4069080"/>
            <a:ext cx="201168" cy="201168"/>
          </a:xfrm>
          <a:prstGeom prst="ellipse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405079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3A7CBD"/>
                </a:solidFill>
                <a:latin typeface="Calibri"/>
              </a:defRPr>
            </a:pPr>
            <a:r>
              <a:t>Dimensions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4050792"/>
            <a:ext cx="6675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2C3E50"/>
                </a:solidFill>
                <a:latin typeface="Calibri"/>
              </a:defRPr>
            </a:pPr>
            <a:r>
              <a:t>NI=60, NJ=70, NK=80 (compile-time in C -&gt; runtime in Triton)</a:t>
            </a:r>
          </a:p>
        </p:txBody>
      </p:sp>
      <p:sp>
        <p:nvSpPr>
          <p:cNvPr id="33" name="Oval 32"/>
          <p:cNvSpPr/>
          <p:nvPr/>
        </p:nvSpPr>
        <p:spPr>
          <a:xfrm>
            <a:off x="320040" y="4315968"/>
            <a:ext cx="201168" cy="201168"/>
          </a:xfrm>
          <a:prstGeom prst="ellipse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429768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2E5C8A"/>
                </a:solidFill>
                <a:latin typeface="Calibri"/>
              </a:defRPr>
            </a:pPr>
            <a:r>
              <a:t>Exact Signature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4560" y="4297680"/>
            <a:ext cx="6675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2C3E50"/>
                </a:solidFill>
                <a:latin typeface="Calibri"/>
              </a:defRPr>
            </a:pPr>
            <a:r>
              <a:t>def gemm_triton(C, A, B, alpha, beta, NI, NJ, NK)</a:t>
            </a:r>
          </a:p>
        </p:txBody>
      </p:sp>
      <p:sp>
        <p:nvSpPr>
          <p:cNvPr id="36" name="Oval 35"/>
          <p:cNvSpPr/>
          <p:nvPr/>
        </p:nvSpPr>
        <p:spPr>
          <a:xfrm>
            <a:off x="320040" y="4562856"/>
            <a:ext cx="201168" cy="201168"/>
          </a:xfrm>
          <a:prstGeom prst="ellipse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4544568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E87D2F"/>
                </a:solidFill>
                <a:latin typeface="Calibri"/>
              </a:defRPr>
            </a:pPr>
            <a:r>
              <a:t>Triton Rules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4544568"/>
            <a:ext cx="6675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2C3E50"/>
                </a:solidFill>
                <a:latin typeface="Calibri"/>
              </a:defRPr>
            </a:pPr>
            <a:r>
              <a:t>constexpr block sizes, tl.arange outside loops, masked loads, ...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486460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2E5C8A"/>
                </a:solidFill>
                <a:latin typeface="Calibri"/>
              </a:defRPr>
            </a:pPr>
            <a:r>
              <a:t>The scop region tells the LLM exactly which computation to convert. Analysis tells it HOW to parallelize safely.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Analysis Impact: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0">
                <a:solidFill>
                  <a:srgbClr val="7F8C8D"/>
                </a:solidFill>
                <a:latin typeface="Calibri"/>
              </a:defRPr>
            </a:pPr>
            <a:r>
              <a:t>30 kernels receive analysis. Showing notable wins, ties, and losses (full table on next slides).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1005840"/>
          <a:ext cx="694944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828800"/>
                <a:gridCol w="1371600"/>
                <a:gridCol w="1371600"/>
                <a:gridCol w="1188720"/>
              </a:tblGrid>
              <a:tr h="25603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Modules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With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W/O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Winner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doitgen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ParDims(N-D)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5.21x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Y(2) 4.83x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heat_3d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ParDims(N-D)+TS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12.36x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Y(6) 22.93x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W/O (+1.9x)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ScExp+Red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4.26x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3.99x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trmm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WAR+ParDims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10.39x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9.59x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fdtd_2d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ParWarn+TS(1,)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5.07x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Y(3) 0.16x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(+31.6x)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covariance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MultiPhase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7.40x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0.22x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(+33.7x)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durbin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WAR+ScalarExp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Y(2) 0.30x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0.30x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WAR+grid=(1,)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0.39x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Y(3) 0.28x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(+1.4x)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seidel_2d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ParWarn+WAR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0.20x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FAIL(10)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(pass)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adi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ParWarn+WAR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0.24x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0.19x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(+1.3x)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ParDims(3D-fix)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3.02x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8.66x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W/O (+2.9x)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1371600" y="4572000"/>
            <a:ext cx="6400800" cy="41148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Analysis wins 20  |  No-analysis wins 4  |  30/30 vs 28/30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Loop Fission: Opposing Reductions &amp; Cross-Phase Deps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0">
                <a:solidFill>
                  <a:srgbClr val="7F8C8D"/>
                </a:solidFill>
                <a:latin typeface="Calibri"/>
              </a:defRPr>
            </a:pPr>
            <a:r>
              <a:t>30/30 kernels receive analysis. Multi-phase split guidance added for correlation, covariance, gemver.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1">
                <a:solidFill>
                  <a:srgbClr val="27AE60"/>
                </a:solidFill>
                <a:latin typeface="Calibri"/>
              </a:defRPr>
            </a:pPr>
            <a:r>
              <a:t>atax / bicg -- Opposing Reductions (SOLVED)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280160"/>
            <a:ext cx="4114800" cy="137160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// atax: y = A^T * (A * x)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for (i = 0; i &lt; M; i++) {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tmp[i] = 0;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for (j = 0; j &lt; N; j++) {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tmp[i] += A[i][j] * x[j];  // reduce j -&gt; tmp[i]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y[j]   += A[i][j] * tmp[i]; // reduce i -&gt; y[j]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}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269748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Both dims INVALID: write_conflict on opposing arrays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New: ## Loop Fission Recommended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  -&gt; LLM splits into 2 kernels with tl.sum()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  -&gt; atax 2.31x, bicg 3.51x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051560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1">
                <a:solidFill>
                  <a:srgbClr val="27AE60"/>
                </a:solidFill>
                <a:latin typeface="Calibri"/>
              </a:defRPr>
            </a:pPr>
            <a:r>
              <a:t>correlation / covariance -- Cross-Phase (MultiPhase)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280160"/>
            <a:ext cx="4206240" cy="137160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// correlation: 4 fused phases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// Phase 1: mean[j] = sum_i(data[i][j]) / N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// Phase 2: stddev[j] = sqrt(sum_i(...))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// Phase 3: data[i][j] -= mean[j]  (in-place!)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// Phase 4: corr[i][j] = sum_k(data[k][i]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//                             * data[k][j])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//          corr[j][i] = corr[i][j]  (symmetry)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697480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PET sees cross-phase read/write as shift dep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corr[j][i]=corr[i][j] looks like write conflict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New: ## Multi-Phase Kernel guidance emitted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  -&gt; covariance 7.40x, correlation 5.71x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3703320"/>
            <a:ext cx="8686800" cy="502920"/>
          </a:xfrm>
          <a:prstGeom prst="roundRect">
            <a:avLst>
              <a:gd name="adj" fmla="val 8000"/>
            </a:avLst>
          </a:prstGeom>
          <a:solidFill>
            <a:srgbClr val="E8F8F5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/>
            <a:r>
              <a:rPr b="1" sz="1200">
                <a:solidFill>
                  <a:srgbClr val="27AE60"/>
                </a:solidFill>
                <a:latin typeface="Calibri"/>
              </a:rPr>
              <a:t>Loop Fission guidance works: </a:t>
            </a:r>
            <a:r>
              <a:rPr sz="1000">
                <a:solidFill>
                  <a:srgbClr val="2C3E50"/>
                </a:solidFill>
                <a:latin typeface="Calibri"/>
              </a:rPr>
              <a:t>When ParDims detects write_conflict on both dims (opposing reductions), we emit a '## Loop Fission Recommended' section telling the LLM to split into separate kernels. atax 2.31x, bicg 3.51x. Multi-phase guidance gives covariance 7.40x, correlation 5.71x.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Ablation: All 30 Kernels With Analysis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0">
                <a:solidFill>
                  <a:srgbClr val="7F8C8D"/>
                </a:solidFill>
                <a:latin typeface="Calibri"/>
              </a:defRPr>
            </a:pPr>
            <a:r>
              <a:t>Sorted by analysis advantage (with/without speedup ratio). Top = analysis helps most.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05840"/>
          <a:ext cx="859536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560320"/>
                <a:gridCol w="2560320"/>
                <a:gridCol w="1645920"/>
              </a:tblGrid>
              <a:tr h="25603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With Analysis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Without Analysis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Winner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jacobi_2d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9.92x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(pass)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seidel_2d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0.20x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(pass)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covariance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7.40x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0.22x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(+33.7x)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fdtd_2d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5.07x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Y(3) 0.16x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(+31.6x)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trisolv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1.09x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Y(10) 0.09x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(+11.6x)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jacobi_1d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Y(4) 3.10x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Y(4) 0.39x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(+7.9x)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gramschmidt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0.61x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0.11x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(+5.5x)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2mm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3.73x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0.94x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(+4.0x)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6.23x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2.92x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(+2.1x)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deriche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Y(3) 0.28x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Y(2) 0.13x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(+2.1x)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syr2k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Y(6) 6.48x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3.43x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(+1.9x)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3mm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13.04x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Y(2) 7.11x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(+1.8x)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correlation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5.71x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3.12x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(+1.8x)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atax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2.31x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1.35x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(+1.7x)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floyd_warshall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1.68x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Y(2) 0.99x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(+1.7x)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Ablation: All 30 Kernels With Analysis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0">
                <a:solidFill>
                  <a:srgbClr val="7F8C8D"/>
                </a:solidFill>
                <a:latin typeface="Calibri"/>
              </a:defRPr>
            </a:pPr>
            <a:r>
              <a:t>Sorted by analysis advantage (with/without speedup ratio). Top = analysis helps most.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05840"/>
          <a:ext cx="859536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560320"/>
                <a:gridCol w="2560320"/>
                <a:gridCol w="1645920"/>
              </a:tblGrid>
              <a:tr h="25603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With Analysis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Without Analysis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Winner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bicg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3.51x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2.15x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(+1.6x)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cholesky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Y(10) 0.22x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Y(2) 0.14x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(+1.6x)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gesummv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3.95x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2.60x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(+1.5x)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0.39x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Y(3) 0.28x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(+1.4x)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adi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0.24x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0.19x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(+1.3x)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nussinov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Y(5) 0.11x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Y(10) 0.09x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trmm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10.39x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9.59x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doitgen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5.21x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Y(2) 4.83x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4.26x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3.99x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durbin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Y(2) 0.30x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0.30x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gemver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1.94x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Y(5) 1.97x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ludcmp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0.14x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0.17x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W/O (+1.2x)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mvt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2.11x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3.55x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W/O (+1.7x)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heat_3d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12.36x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Y(6) 22.93x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W/O (+1.9x)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3.02x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8.66x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W/O (+2.9x)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1371600" y="4572000"/>
            <a:ext cx="6400800" cy="36576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Analysis wins 20/30  |  No-analysis wins 4/30  |  Ties 6  |  Both fail 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Regression Analysis: 4 NA-Win Kernels Classified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7F8C8D"/>
                </a:solidFill>
                <a:latin typeface="Calibri"/>
              </a:defRPr>
            </a:pPr>
            <a:r>
              <a:t>Each NA-win kernel re-run 3-5x. Triton ms compared against NA baseline. Green = nondeterminism (WA beats NA &gt;= 2/N runs). Red = true regression (WA beats NA &lt;= 1/N). NA wins vary across runs due to LLM nondeterminism; evidence below is from a dedicated multi-run study.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" y="1188720"/>
          <a:ext cx="658368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097280"/>
                <a:gridCol w="1097280"/>
                <a:gridCol w="1097280"/>
                <a:gridCol w="914400"/>
                <a:gridCol w="1097280"/>
              </a:tblGrid>
              <a:tr h="25603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 (ms)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WA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Worst WA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WA&gt;NA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3/3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Nondet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heat_3d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0.801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0.587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1.233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3/5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Nondet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ludcmp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10.266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10.120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10.279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2/3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Nondet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mvt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0.135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0.071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0.138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2/3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Nondet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260604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1">
                <a:solidFill>
                  <a:srgbClr val="27AE60"/>
                </a:solidFill>
                <a:latin typeface="Calibri"/>
              </a:defRPr>
            </a:pPr>
            <a:r>
              <a:t>Nondeterminism (4/4 kernels)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83464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2C3E50"/>
                </a:solidFill>
                <a:latin typeface="Calibri"/>
              </a:defRPr>
            </a:pPr>
            <a:r>
              <a:t>WA beats NA in multiple re-runs. The NA advantage on the ablation slide is due to LLM sampling variance, not analysis quality.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60604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1">
                <a:solidFill>
                  <a:srgbClr val="C0392B"/>
                </a:solidFill>
                <a:latin typeface="Calibri"/>
              </a:defRPr>
            </a:pPr>
            <a:r>
              <a:t>True Regressions (0/4 kernels)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83464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2C3E50"/>
                </a:solidFill>
                <a:latin typeface="Calibri"/>
              </a:defRPr>
            </a:pPr>
            <a:r>
              <a:t>WA rarely or never beats NA. Analysis guidance steers the LLM toward a suboptimal strategy for these kernels.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4617720"/>
            <a:ext cx="8686800" cy="411480"/>
          </a:xfrm>
          <a:prstGeom prst="roundRect">
            <a:avLst>
              <a:gd name="adj" fmla="val 8000"/>
            </a:avLst>
          </a:prstGeom>
          <a:solidFill>
            <a:srgbClr val="EBF5FB"/>
          </a:solidFill>
          <a:ln w="19050"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/>
            <a:r>
              <a:rPr b="1" sz="1200">
                <a:solidFill>
                  <a:srgbClr val="2E5C8A"/>
                </a:solidFill>
                <a:latin typeface="Calibri"/>
              </a:rPr>
              <a:t>Conclusion: </a:t>
            </a:r>
            <a:r>
              <a:rPr sz="1000">
                <a:solidFill>
                  <a:srgbClr val="2C3E50"/>
                </a:solidFill>
                <a:latin typeface="Calibri"/>
              </a:rPr>
              <a:t>4/4 NA wins are nondeterminism (WA beats NA in re-runs). 0/4 are true regressions where analysis guides suboptimally.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Analysis Win: WAR Clone Pattern (trisolv, trmm)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772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1">
                <a:solidFill>
                  <a:srgbClr val="2E5C8A"/>
                </a:solidFill>
                <a:latin typeface="Calibri"/>
              </a:defRPr>
            </a:pPr>
            <a:r>
              <a:t>trisolv (1.09x vs 0.09x) -- forward substitution: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51560"/>
            <a:ext cx="4114800" cy="109728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for (i = 0; i &lt; N; i++) {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x[i] = b[i];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for (j = 0; j &lt; i; j++)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x[i] -= L[i][j] * x[j];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x[i] = x[i] / L[i][i];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194560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1B2A4A"/>
                </a:solidFill>
                <a:latin typeface="Calibri"/>
              </a:defRPr>
            </a:pPr>
            <a:r>
              <a:t>Injected analysis: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377440"/>
            <a:ext cx="4114800" cy="141732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## WAR Dependencies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Arrays needing read-only copies: x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Read x[(j)] may conflict with Write x[(i)]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Pattern: x_copy = x.clone()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## Parallelization Analysis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Triangular bounds: j &lt; i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- Parallelize j, sequential i: VALID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- Parallelize i, sequential j: VALID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3840480"/>
            <a:ext cx="1920240" cy="27432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With: Y(1) 1.09x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3840480"/>
            <a:ext cx="2103120" cy="274320"/>
          </a:xfrm>
          <a:prstGeom prst="roundRect">
            <a:avLst>
              <a:gd name="adj" fmla="val 15000"/>
            </a:avLst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Without: Y(10) 0.09x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7772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1">
                <a:solidFill>
                  <a:srgbClr val="2E5C8A"/>
                </a:solidFill>
                <a:latin typeface="Calibri"/>
              </a:defRPr>
            </a:pPr>
            <a:r>
              <a:t>trmm (10.39x vs 9.59x) -- triangular matmul: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051560"/>
            <a:ext cx="4206240" cy="109728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for (i = 0; i &lt; M; i++)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for (j = 0; j &lt; N; j++) {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for (k = i+1; k &lt; M; k++)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  B[i][j] += A[k][i] * B[k][j];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B[i][j] = alpha * B[i][j];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194560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1B2A4A"/>
                </a:solidFill>
                <a:latin typeface="Calibri"/>
              </a:defRPr>
            </a:pPr>
            <a:r>
              <a:t>Injected analysis: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2377440"/>
            <a:ext cx="4206240" cy="141732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## WAR Dependencies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B: WAR carried by loops i, k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- Parallelizing j: SAFE (no copy needed)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- Parallelizing i: REQUIRES B_copy = B.clone()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## WAR + Parallelization Recommendation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RECOMMENDED: Parallelize j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-- no WAR copies needed for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3840480"/>
            <a:ext cx="1920240" cy="27432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With: Y(1) 10.39x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3840480"/>
            <a:ext cx="2194560" cy="274320"/>
          </a:xfrm>
          <a:prstGeom prst="roundRect">
            <a:avLst>
              <a:gd name="adj" fmla="val 15000"/>
            </a:avLst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Without: Y(1) 9.59x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25196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0">
                <a:solidFill>
                  <a:srgbClr val="7F8C8D"/>
                </a:solidFill>
                <a:latin typeface="Calibri"/>
              </a:defRPr>
            </a:pPr>
            <a:r>
              <a:t>WAR analysis tells the LLM exactly which arrays to clone and which dimensions are safe to parallelize.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LLVM Direction Vector Fix: seidel_2d, adi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772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1">
                <a:solidFill>
                  <a:srgbClr val="27AE60"/>
                </a:solidFill>
                <a:latin typeface="Calibri"/>
              </a:defRPr>
            </a:pPr>
            <a:r>
              <a:t>seidel_2d (0.20x vs FAIL) -- Gauss-Seidel: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24128"/>
            <a:ext cx="4114800" cy="100584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for (t = 0; t &lt; TSTEPS; t++)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for (i = 1; i &lt; N-1; i++)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for (j = 1; j &lt; N-1; j++)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A[i][j] = (A[i-1][j-1]+...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+A[i+1][j+1]) / 9;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057400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1B2A4A"/>
                </a:solidFill>
                <a:latin typeface="Calibri"/>
              </a:defRPr>
            </a:pPr>
            <a:r>
              <a:t>Injected analysis (after LLVM DV fix):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240280"/>
            <a:ext cx="4114800" cy="141732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## WAR Dependencies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A: 5 read-write conflicts on stencil neighbors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If separate kernels: no cloning needed.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## Parallelization Warning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No dimension is safe to parallelize.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- t: sequential context loop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- i: deps carried (LLVM DVs: [S -1 -1])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Same array with neighbor deps.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Use grid=(1,) with nested loops sequentially.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3703320"/>
            <a:ext cx="1920240" cy="27432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With: Y(1) 0.20x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3703320"/>
            <a:ext cx="2103120" cy="274320"/>
          </a:xfrm>
          <a:prstGeom prst="roundRect">
            <a:avLst>
              <a:gd name="adj" fmla="val 15000"/>
            </a:avLst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Without: FAIL (10 att)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7772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1">
                <a:solidFill>
                  <a:srgbClr val="27AE60"/>
                </a:solidFill>
                <a:latin typeface="Calibri"/>
              </a:defRPr>
            </a:pPr>
            <a:r>
              <a:t>adi (0.24x vs 0.19x) -- ADI stencil: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51560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C0392B"/>
                </a:solidFill>
                <a:latin typeface="Calibri"/>
              </a:defRPr>
            </a:pPr>
            <a:r>
              <a:t>The LLVM fallback bug: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23444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170"/>
              </a:lnSpc>
              <a:spcAft>
                <a:spcPts val="400"/>
              </a:spcAft>
            </a:pPr>
            <a:r>
              <a:rPr sz="900">
                <a:solidFill>
                  <a:srgbClr val="2C3E50"/>
                </a:solidFill>
                <a:latin typeface="Calibri"/>
              </a:rPr>
              <a:t>PET fails on 5 kernels -&gt; LLVM fallback used</a:t>
            </a:r>
          </a:p>
          <a:p>
            <a:pPr>
              <a:lnSpc>
                <a:spcPts val="1170"/>
              </a:lnSpc>
              <a:spcAft>
                <a:spcPts val="400"/>
              </a:spcAft>
            </a:pPr>
            <a:r>
              <a:rPr sz="900">
                <a:solidFill>
                  <a:srgbClr val="2C3E50"/>
                </a:solidFill>
                <a:latin typeface="Calibri"/>
              </a:rPr>
              <a:t>Old: valid=True always (even with flow deps!)</a:t>
            </a:r>
          </a:p>
          <a:p>
            <a:pPr>
              <a:lnSpc>
                <a:spcPts val="1170"/>
              </a:lnSpc>
              <a:spcAft>
                <a:spcPts val="400"/>
              </a:spcAft>
            </a:pPr>
            <a:r>
              <a:rPr sz="900">
                <a:solidFill>
                  <a:srgbClr val="2C3E50"/>
                </a:solidFill>
                <a:latin typeface="Calibri"/>
              </a:rPr>
              <a:t>Told LLM to parallelize dims with carried deps</a:t>
            </a:r>
          </a:p>
          <a:p>
            <a:pPr>
              <a:lnSpc>
                <a:spcPts val="1170"/>
              </a:lnSpc>
              <a:spcAft>
                <a:spcPts val="400"/>
              </a:spcAft>
            </a:pPr>
            <a:r>
              <a:rPr sz="900">
                <a:solidFill>
                  <a:srgbClr val="2C3E50"/>
                </a:solidFill>
                <a:latin typeface="Calibri"/>
              </a:rPr>
              <a:t>All 5 kernels performed WORSE with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148840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27AE60"/>
                </a:solidFill>
                <a:latin typeface="Calibri"/>
              </a:defRPr>
            </a:pPr>
            <a:r>
              <a:t>Fix: per-dim direction vector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331720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170"/>
              </a:lnSpc>
              <a:spcAft>
                <a:spcPts val="400"/>
              </a:spcAft>
            </a:pPr>
            <a:r>
              <a:rPr sz="900">
                <a:solidFill>
                  <a:srgbClr val="2C3E50"/>
                </a:solidFill>
                <a:latin typeface="Calibri"/>
              </a:rPr>
              <a:t>LLVM DA provides per-loop DVs: [S -1 -1]</a:t>
            </a:r>
          </a:p>
          <a:p>
            <a:pPr>
              <a:lnSpc>
                <a:spcPts val="1170"/>
              </a:lnSpc>
              <a:spcAft>
                <a:spcPts val="400"/>
              </a:spcAft>
            </a:pPr>
            <a:r>
              <a:rPr sz="900">
                <a:solidFill>
                  <a:srgbClr val="2C3E50"/>
                </a:solidFill>
                <a:latin typeface="Calibri"/>
              </a:rPr>
              <a:t>Map DV positions to source loop variables</a:t>
            </a:r>
          </a:p>
          <a:p>
            <a:pPr>
              <a:lnSpc>
                <a:spcPts val="1170"/>
              </a:lnSpc>
              <a:spcAft>
                <a:spcPts val="400"/>
              </a:spcAft>
            </a:pPr>
            <a:r>
              <a:rPr sz="900">
                <a:solidFill>
                  <a:srgbClr val="2C3E50"/>
                </a:solidFill>
                <a:latin typeface="Calibri"/>
              </a:rPr>
              <a:t>Check _direction_entry_carries_dep() per dim</a:t>
            </a:r>
          </a:p>
          <a:p>
            <a:pPr>
              <a:lnSpc>
                <a:spcPts val="1170"/>
              </a:lnSpc>
              <a:spcAft>
                <a:spcPts val="400"/>
              </a:spcAft>
            </a:pPr>
            <a:r>
              <a:rPr sz="900">
                <a:solidFill>
                  <a:srgbClr val="2C3E50"/>
                </a:solidFill>
                <a:latin typeface="Calibri"/>
              </a:rPr>
              <a:t>Now: valid=False when dep carried at that level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754880" y="3337560"/>
          <a:ext cx="41148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</a:tblGrid>
              <a:tr h="2286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Before DV fix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After (current)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adi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0.65x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seidel_2d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0.20x (PASS)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fdtd_2d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0.56x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5.07x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floyd_warshall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0.46x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1.68x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jacobi_2d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9.92x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274320" y="475488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7F8C8D"/>
                </a:solidFill>
                <a:latin typeface="Calibri"/>
              </a:defRPr>
            </a:pPr>
            <a:r>
              <a:t>DV fix: seidel_2d passes (grid=(1,)). fdtd_2d 5.07x, jacobi_2d 9.92x. adi 0.24x (vs W/O 0.19x).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Analysis Win: Scalar Expansion (deriche)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772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1">
                <a:solidFill>
                  <a:srgbClr val="2E5C8A"/>
                </a:solidFill>
                <a:latin typeface="Calibri"/>
              </a:defRPr>
            </a:pPr>
            <a:r>
              <a:t>deriche -- edge detection (IIR filter):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51560"/>
            <a:ext cx="4114800" cy="150876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for (i = 0; i &lt; W; i++) {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ym1 = 0; ym2 = 0; xm1 = 0;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for (j = 0; j &lt; H; j++) {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yy1[i][j] = a1*imgIn[i][j]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   + a2*xm1 + b1*ym1 + b2*ym2;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xm1 = imgIn[i][j];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ym2 = ym1;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ym1 = yy1[i][j];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}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} // + 5 more similar filter passes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7772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1">
                <a:solidFill>
                  <a:srgbClr val="1B2A4A"/>
                </a:solidFill>
                <a:latin typeface="Calibri"/>
              </a:defRPr>
            </a:pPr>
            <a:r>
              <a:t>Injected analysis: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051560"/>
            <a:ext cx="4206240" cy="274320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## SCALAR EXPANSION PATTERN DETECTED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6 scalar variables with loop-carried deps: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Variable: xm1 (direct_expansion)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Simply replace with indexed expression.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Variable: tm1 (direct_expansion)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Simply replace with indexed expression.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Variable: ym1 (direct_expansion)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Simply replace with indexed expression.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Variable: xp1 (direct_expansion)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Simply replace with indexed expression.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Variable: tp1 (direct_expansion)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Simply replace with indexed expression.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Variable: yp1 (direct_expansion)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Simply replace with indexed expression.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(No ParDims: both dims INVALID due to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scalar loop-carried dependencies)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65176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6 scalars carry values across j iterations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Without analysis: LLM doesn't privatize them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  -&gt; Race conditions, wrong results (0.11x)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With analysis: LLM expands to per-thread arrays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  -&gt; Correct parallel code (pass on attempt 9)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3794760"/>
            <a:ext cx="1920240" cy="32004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With: Y(3) 0.28x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3794760"/>
            <a:ext cx="2103120" cy="320040"/>
          </a:xfrm>
          <a:prstGeom prst="roundRect">
            <a:avLst>
              <a:gd name="adj" fmla="val 15000"/>
            </a:avLst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Without: Y(2) 0.13x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425196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0">
                <a:solidFill>
                  <a:srgbClr val="7F8C8D"/>
                </a:solidFill>
                <a:latin typeface="Calibri"/>
              </a:defRPr>
            </a:pPr>
            <a:r>
              <a:t>ScalarExp identifies 6 loop-carried deps the LLM misses. *Pass rate varies across runs (LLM nondeterminism).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Analysis Win: Scalar Expansion (durbin, symm)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772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1">
                <a:solidFill>
                  <a:srgbClr val="2E5C8A"/>
                </a:solidFill>
                <a:latin typeface="Calibri"/>
              </a:defRPr>
            </a:pPr>
            <a:r>
              <a:t>durbin (0.30x vs 0.30x) -- Levinson-Durbin: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1B2A4A"/>
                </a:solidFill>
                <a:latin typeface="Calibri"/>
              </a:defRPr>
            </a:pPr>
            <a:r>
              <a:t>Injected analysis: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234440"/>
            <a:ext cx="4114800" cy="228600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## WAR Dependencies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Note: WAR deps on r, y arrays.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If using separate kernels: no cloning needed.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## SCALAR EXPANSION DETECTED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Variable: alpha (previous_value)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alpha carries previous iteration's value.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Replace with: -(r[k-1]+sum)/beta (for k&gt;0)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Initial: alpha = -r[0] (for k=0)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After substitution: FULLY PARALLEL.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Variable: sum (direct_expansion)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Simply replace with indexed expression.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(No ParDims: both dims INVALID due to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scalar loop-carried dependencies)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3566160"/>
            <a:ext cx="1920240" cy="27432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With: Y(2) 0.30x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3566160"/>
            <a:ext cx="2103120" cy="274320"/>
          </a:xfrm>
          <a:prstGeom prst="roundRect">
            <a:avLst>
              <a:gd name="adj" fmla="val 15000"/>
            </a:avLst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Without: Y(1) 0.30x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7772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1">
                <a:solidFill>
                  <a:srgbClr val="2E5C8A"/>
                </a:solidFill>
                <a:latin typeface="Calibri"/>
              </a:defRPr>
            </a:pPr>
            <a:r>
              <a:t>symm (4.26x vs 3.99x) -- symmetric matmul: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051560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1B2A4A"/>
                </a:solidFill>
                <a:latin typeface="Calibri"/>
              </a:defRPr>
            </a:pPr>
            <a:r>
              <a:t>Injected analysis: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234440"/>
            <a:ext cx="4206240" cy="228600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## SCALAR EXPANSION DETECTED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Variable: temp2 (direct_expansion)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Simply replace with indexed expression.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## Reduction Pattern Analysis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Detected: Sum Reduction (+= operator)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Use tl.sum() for parallel reduction: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vals = tl.load(a_ptr + offsets, mask=mask)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block_sum = tl.sum(vals, axis=0)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(ParDims both INVALID due to scalar temp2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-- ScalarExp handles it, LLM infers j-parallel)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3566160"/>
            <a:ext cx="1920240" cy="27432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With: Y(1) 4.26x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3566160"/>
            <a:ext cx="2194560" cy="274320"/>
          </a:xfrm>
          <a:prstGeom prst="roundRect">
            <a:avLst>
              <a:gd name="adj" fmla="val 15000"/>
            </a:avLst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Without: Y(1) 3.99x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40233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7F8C8D"/>
                </a:solidFill>
                <a:latin typeface="Calibri"/>
              </a:defRPr>
            </a:pPr>
            <a:r>
              <a:t>durbin: Analysis helps (0.30x vs 0.30x) by identifying scalar expansion patterns. symm: Three analysis modules (ParDims + ScalarExp + Reduction) boost 4.26x vs 3.99x.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Analysis Module Impact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0">
                <a:solidFill>
                  <a:srgbClr val="7F8C8D"/>
                </a:solidFill>
                <a:latin typeface="Calibri"/>
              </a:defRPr>
            </a:pPr>
            <a:r>
              <a:t>For each winning kernel: which analysis modules were injected and what they told the LLM.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1005840"/>
          <a:ext cx="87782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731520"/>
                <a:gridCol w="731520"/>
                <a:gridCol w="1097280"/>
                <a:gridCol w="5120640"/>
              </a:tblGrid>
              <a:tr h="3200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With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W/O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Modules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Instruction to LLM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doitgen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5.21x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4.83x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ParDims(N-D)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4D loop: r,q parallel (2D grid), p,s sequential inside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heat_3d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12.36x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22.93x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ParDims(N-D)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3D stencil: t in host, i/j/k parallel (multi-CTA)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4.26x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3.99x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ScExp+Red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temp2 expansion + tl.sum() reduction pattern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trmm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10.39x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9.59x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WAR+LLVM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RECOMMENDED: parallelize j (no clone needed)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fdtd_2d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5.07x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0.16x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ParWarn+TS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grid=(1,) with t-loop inside; 2D tiling per timestep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durbin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0.30x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0.30x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WAR+ScExp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Scalar expansion: alpha, sum loop-carried deps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0.39x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WAR+Par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grid=(1,) with i-loop inside; vectorize j with tl.arange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seidel_2d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ParWarn+WAR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No dim safe (LLVM DVs) -&gt; grid=(1,) sequential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5661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1">
                <a:solidFill>
                  <a:srgbClr val="1B2A4A"/>
                </a:solidFill>
                <a:latin typeface="Calibri"/>
              </a:defRPr>
            </a:pPr>
            <a:r>
              <a:t>Analysis Module Breakdown: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931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WAR (6 kernels): Clone arrays / multi-kernel hints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ParDims (7 kernels): Which dims safe to parallelize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  + N-D analysis for 4D+ loops (heat_3d, doitgen)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ScalarExp (4 kernels): Eliminate loop-carried scalars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384048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ParWarn (5 kernels): LLVM DV per-dim dep check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  + Timestep guidance: grid=(1,) vs multi-CTA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LoopFission (2 kernels): Split opposing reductions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Reduction (1 kernel): Use tl.sum() pattern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Stencil Contrast: heat_3d (Jacobi) vs seidel_2d (Gauss-Seidel)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772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1">
                <a:solidFill>
                  <a:srgbClr val="27AE60"/>
                </a:solidFill>
                <a:latin typeface="Calibri"/>
              </a:defRPr>
            </a:pPr>
            <a:r>
              <a:t>heat_3d -- 3D Jacobi stencil (12.36x speedup):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51560"/>
            <a:ext cx="4114800" cy="150876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for (t = 1; t &lt;= TSTEPS; t++) {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for (i,j,k)  // Loop nest 1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B[i][j][k] = 0.125*(A[i+1][j][k]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- 2*A[i][j][k] + A[i-1][j][k])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+ ... + A[i][j][k];  // 7-pt stencil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for (i,j,k)  // Loop nest 2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A[i][j][k] = 0.125*(B[i+1][j][k]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- 2*B[i][j][k] + B[i-1][j][k])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+ ... + B[i][j][k];  // 7-pt stencil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606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1">
                <a:solidFill>
                  <a:srgbClr val="27AE60"/>
                </a:solidFill>
                <a:latin typeface="Calibri"/>
              </a:defRPr>
            </a:pPr>
            <a:r>
              <a:t>N-D ParDims fix (was FAIL, now 12.36x):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288036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Old: dims=['t','i'] (truncated to 2D)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  -&gt; LLM only parallelizes i, fails 10/10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New: dims=['t','i','j','k'] (full N-D)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  -&gt; LLM parallelizes i*j*k, passes 12.36x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8404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1">
                <a:solidFill>
                  <a:srgbClr val="2E5C8A"/>
                </a:solidFill>
                <a:latin typeface="Calibri"/>
              </a:defRPr>
            </a:pPr>
            <a:r>
              <a:t>Double-buffering: no WAR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411480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Nest 1: reads A, writes B (different arrays)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Nest 2: reads B, writes A (different arrays)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7772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1">
                <a:solidFill>
                  <a:srgbClr val="E87D2F"/>
                </a:solidFill>
                <a:latin typeface="Calibri"/>
              </a:defRPr>
            </a:pPr>
            <a:r>
              <a:t>seidel_2d -- Gauss-Seidel stencil (0.20x):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051560"/>
            <a:ext cx="4206240" cy="150876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for (t = 0; t &lt;= TSTEPS - 1; t++)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for (i = 1; i &lt;= N - 2; i++)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for (j = 1; j &lt;= N - 2; j++)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A[i][j] = (A[i-1][j-1] + A[i-1][j]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  + A[i-1][j+1] + A[i][j-1]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  + A[i][j]     + A[i][j+1]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  + A[i+1][j-1] + A[i+1][j]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  + A[i+1][j+1]) / 9.0;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6060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1">
                <a:solidFill>
                  <a:srgbClr val="27AE60"/>
                </a:solidFill>
                <a:latin typeface="Calibri"/>
              </a:defRPr>
            </a:pPr>
            <a:r>
              <a:t>Inherently sequential (now passes via LLVM DV fix):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88036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Single loop nest -- reads &amp; writes SAME array A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LLVM DVs confirm deps on ALL dims: [S -1 -1]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ParWarning: 'No dim safe' -&gt; LLM uses grid=(1,)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0.20x (slow but CORRECT -- inherently sequential)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754880" y="3749039"/>
          <a:ext cx="4114800" cy="9601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</a:tblGrid>
              <a:tr h="320039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Parallelizable?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heat_3d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Yes (Jacobi)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12.36x (N-D ParDims)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1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seidel_2d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No (Gauss-Seidel)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0.20x (sequential)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274320" y="4572000"/>
            <a:ext cx="8686800" cy="411480"/>
          </a:xfrm>
          <a:prstGeom prst="roundRect">
            <a:avLst>
              <a:gd name="adj" fmla="val 8000"/>
            </a:avLst>
          </a:prstGeom>
          <a:solidFill>
            <a:srgbClr val="FDF2E9"/>
          </a:solidFill>
          <a:ln w="19050">
            <a:solidFill>
              <a:srgbClr val="E87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/>
            <a:r>
              <a:rPr b="1" sz="1200">
                <a:solidFill>
                  <a:srgbClr val="27AE60"/>
                </a:solidFill>
                <a:latin typeface="Calibri"/>
              </a:rPr>
              <a:t>heat_3d: </a:t>
            </a:r>
            <a:r>
              <a:rPr sz="1100">
                <a:solidFill>
                  <a:srgbClr val="2C3E50"/>
                </a:solidFill>
                <a:latin typeface="Calibri"/>
              </a:rPr>
              <a:t>N-D ParDims tells LLM to parallelize all spatial dims (10.29x). </a:t>
            </a:r>
            <a:r>
              <a:rPr b="1" sz="1200">
                <a:solidFill>
                  <a:srgbClr val="27AE60"/>
                </a:solidFill>
                <a:latin typeface="Calibri"/>
              </a:rPr>
              <a:t>seidel_2d: </a:t>
            </a:r>
            <a:r>
              <a:rPr sz="1100">
                <a:solidFill>
                  <a:srgbClr val="2C3E50"/>
                </a:solidFill>
                <a:latin typeface="Calibri"/>
              </a:rPr>
              <a:t>LLVM DV fix + ParWarning -&gt; LLM uses grid=(1,), passes (0.25x sequential).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Generated Triton Code -- GEMM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229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1">
                <a:solidFill>
                  <a:srgbClr val="1B2A4A"/>
                </a:solidFill>
                <a:latin typeface="Calibri"/>
              </a:defRPr>
            </a:pPr>
            <a:r>
              <a:t>C Original (6 lines):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97280"/>
            <a:ext cx="4114800" cy="141732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for (i = 0; i &lt; NI; i++) {</a:t>
            </a:r>
          </a:p>
          <a:p>
            <a:pPr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  for (j = 0; j &lt; NJ; j++)</a:t>
            </a:r>
          </a:p>
          <a:p>
            <a:pPr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    C[i][j] *= beta;</a:t>
            </a:r>
          </a:p>
          <a:p>
            <a:pPr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  for (k = 0; k &lt; NK; k++)</a:t>
            </a:r>
          </a:p>
          <a:p>
            <a:pPr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    for (j = 0; j &lt; NJ; j++)</a:t>
            </a:r>
          </a:p>
          <a:p>
            <a:pPr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      C[i][j] += alpha*A[i][k]*B[k][j];</a:t>
            </a:r>
          </a:p>
          <a:p>
            <a:pPr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8229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1">
                <a:solidFill>
                  <a:srgbClr val="27AE60"/>
                </a:solidFill>
                <a:latin typeface="Calibri"/>
              </a:defRPr>
            </a:pPr>
            <a:r>
              <a:t>Generated Triton Kernel: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097280"/>
            <a:ext cx="4297680" cy="320040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@triton.jit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def gemm_kernel(A, B, C, alpha, beta,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            NI, NJ, NK,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            BLOCK_I: tl.constexpr,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            BLOCK_J: tl.constexpr):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pid_i = tl.program_id(0)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pid_j = tl.program_id(1)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i_off = pid_i*BLOCK_I + tl.arange(0,BLOCK_I)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j_off = pid_j*BLOCK_J + tl.arange(0,BLOCK_J)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# C[i][j] *= beta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c_idx = i_off[:,None]*NJ + j_off[None,:]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mask = (i_off[:,None]&lt;NI) &amp; (j_off[None,:]&lt;NJ)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c = tl.load(C+c_idx, mask=mask) * beta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# k-loop accumulation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for k in range(NK):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a = tl.load(A + i_off*NK+k, mask=i_off&lt;NI)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b = tl.load(B + k*NJ+j_off, mask=j_off&lt;NJ)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c += alpha * a[:,None] * b[None,:]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tl.store(C+c_idx, c, mask=mask)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7432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1">
                <a:solidFill>
                  <a:srgbClr val="2E5C8A"/>
                </a:solidFill>
                <a:latin typeface="Calibri"/>
              </a:defRPr>
            </a:pPr>
            <a:r>
              <a:t>Key Triton Patterns: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01752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2D tiling: pid_i, pid_j -&gt; block of C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Masked loads: boundary safety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k-loop: sequential accumulation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Broadcasting: a[:,None] * b[None,:]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Scalar broadcast: alpha, beta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4572000"/>
            <a:ext cx="3200400" cy="41148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First-try pass  |  3.02x speedup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Evaluation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39"/>
              </a:lnSpc>
              <a:defRPr sz="1600" b="1">
                <a:solidFill>
                  <a:srgbClr val="2E5C8A"/>
                </a:solidFill>
                <a:latin typeface="Calibri"/>
              </a:defRPr>
            </a:pPr>
            <a:r>
              <a:t>Correctness Testing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3931920" cy="233172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 1. Compile C kernel to shared library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gcc -O2 -shared -fPIC -o kernel.so kernel.c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 2. Load .so via ctypes, memmove inputs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lib = ctypes.CDLL("kernel.so")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ctypes.memmove(c_arr, tensor.numpy().ctypes.data, nbytes)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 3. Run C reference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lib.kernel_function(c_arr, N)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 4. Run Triton kernel (same inputs)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triton_fn(gpu_tensor, N)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 5. Compare element-wise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assert |C_ref - Triton| &lt; atol + rtol * |C_ref|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Default: atol=1e-4, rtol=1e-4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Per-kernel overrides for FP32 accumulation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Auto-detect C array type (int/float/double)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77724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39"/>
              </a:lnSpc>
              <a:defRPr sz="1600" b="1">
                <a:solidFill>
                  <a:srgbClr val="2E5C8A"/>
                </a:solidFill>
                <a:latin typeface="Calibri"/>
              </a:defRPr>
            </a:pPr>
            <a:r>
              <a:t>Performance Benchmarking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109728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 C reference timing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for _ in range(5):   # warmup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lib.kernel_function(c_arr, N)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t0 = time.perf_counter()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for _ in range(50):  # timed runs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lib.kernel_function(c_arr, N)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c_time = (time.perf_counter() - t0) / 50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 Triton GPU timing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for _ in range(5):   # warmup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triton_fn(gpu_tensor, N)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torch.cuda.synchronize()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t0 = time.perf_counter()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for _ in range(50):  # timed runs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triton_fn(gpu_tensor, N)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torch.cuda.synchronize()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triton_time = (time.perf_counter() - t0) / 50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speedup = c_time / triton_time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393192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Speedup &gt;1x = Triton faster than C on CPU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251960"/>
            <a:ext cx="8229600" cy="731520"/>
          </a:xfrm>
          <a:prstGeom prst="roundRect">
            <a:avLst>
              <a:gd name="adj" fmla="val 8000"/>
            </a:avLst>
          </a:prstGeom>
          <a:solidFill>
            <a:srgbClr val="FDF2E9"/>
          </a:solidFill>
          <a:ln w="12700">
            <a:solidFill>
              <a:srgbClr val="E87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/>
          <a:lstStyle/>
          <a:p>
            <a:pPr algn="ctr"/>
            <a:r>
              <a:rPr b="1" sz="1200">
                <a:solidFill>
                  <a:srgbClr val="E87D2F"/>
                </a:solidFill>
                <a:latin typeface="Calibri"/>
              </a:rPr>
              <a:t>5+5 Retry Strategy: </a:t>
            </a:r>
            <a:r>
              <a:rPr sz="1100">
                <a:solidFill>
                  <a:srgbClr val="2C3E50"/>
                </a:solidFill>
                <a:latin typeface="Calibri"/>
              </a:rPr>
              <a:t>Up to 10 attempts. Error feedback injected into next prompt. Context reset at attempt 6 for fresh approach.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Test Input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0">
                <a:solidFill>
                  <a:srgbClr val="7F8C8D"/>
                </a:solidFill>
                <a:latin typeface="Calibri"/>
              </a:defRPr>
            </a:pPr>
            <a:r>
              <a:t>Many kernels require structured inputs -- random floats cause divergence or crashes.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8229600" cy="365760"/>
          </a:xfrm>
          <a:prstGeom prst="roundRect">
            <a:avLst>
              <a:gd name="adj" fmla="val 10000"/>
            </a:avLst>
          </a:prstGeom>
          <a:solidFill>
            <a:srgbClr val="E8F8F5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b="1" sz="1300">
                <a:solidFill>
                  <a:srgbClr val="27AE60"/>
                </a:solidFill>
                <a:latin typeface="Calibri"/>
              </a:rPr>
              <a:t>Default (23 kernels): </a:t>
            </a:r>
            <a:r>
              <a:rPr sz="1200">
                <a:solidFill>
                  <a:srgbClr val="2C3E50"/>
                </a:solidFill>
                <a:latin typeface="Calibri"/>
              </a:rPr>
              <a:t>torch.randn float32  |  random scalars (alpha, beta)  |  Polybench SMALL_DATASET sizes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25"/>
              </a:lnSpc>
              <a:defRPr sz="1500" b="1">
                <a:solidFill>
                  <a:srgbClr val="2E5C8A"/>
                </a:solidFill>
                <a:latin typeface="Calibri"/>
              </a:defRPr>
            </a:pPr>
            <a:r>
              <a:t>Domain-Specific Overrides (7 kernels):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20240"/>
          <a:ext cx="822960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743200"/>
                <a:gridCol w="3840480"/>
              </a:tblGrid>
              <a:tr h="320039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Requirement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Input Generation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cholesky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Symmetric positive definite (SPD)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 = RᵀR + N·I  (ensures positive eigenvalues)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lu, ludcmp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Diagonally dominant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 = randn + N·I  (prevents zero pivots)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trisolv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Lower-triangular, non-singular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 = tril(randn), |diag| ≥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gramschmidt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Well-conditioned columns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 = randn + 5·I  (prevents rank deficiency)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nussinov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Integer RNA bases + zeros 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seq = randint(0, 4);  table = zeros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5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floyd_warshall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Non-negative edge weights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|randn| × 10 + 1  (no negative cycles)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0">
                <a:solidFill>
                  <a:srgbClr val="7F8C8D"/>
                </a:solidFill>
                <a:latin typeface="Calibri"/>
              </a:defRPr>
            </a:pPr>
            <a:r>
              <a:t>Tolerance: default atol=1e-4, rtol=1e-4  |  durbin: atol=0.05  |  gramschmidt: atol=1.0  |  lu/3mm: atol=5.0  |  ludcmp: atol=0.05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Results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39"/>
              </a:lnSpc>
              <a:defRPr sz="1600" b="1">
                <a:solidFill>
                  <a:srgbClr val="27AE60"/>
                </a:solidFill>
                <a:latin typeface="Calibri"/>
              </a:defRPr>
            </a:pPr>
            <a:r>
              <a:t>Correctness: 30/30 (100%)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3657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24 first-try passes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6 after retry (5+5 strategy, max 10)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0 failures: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914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39"/>
              </a:lnSpc>
              <a:defRPr sz="1600" b="1">
                <a:solidFill>
                  <a:srgbClr val="2E5C8A"/>
                </a:solidFill>
                <a:latin typeface="Calibri"/>
              </a:defRPr>
            </a:pPr>
            <a:r>
              <a:t>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234440"/>
            <a:ext cx="4114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Median speedup: 3.10x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Mean speedup: 3.83x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GPU wins (&gt;1x): 21/30 (70%)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9"/>
              </a:lnSpc>
              <a:defRPr sz="1400" b="1">
                <a:solidFill>
                  <a:srgbClr val="1B2A4A"/>
                </a:solidFill>
                <a:latin typeface="Calibri"/>
              </a:defRPr>
            </a:pPr>
            <a:r>
              <a:t>Top Speedups: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468880"/>
          <a:ext cx="82296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103120"/>
                <a:gridCol w="2103120"/>
              </a:tblGrid>
              <a:tr h="29260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Speedup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 Time (ms)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Triton Time (ms)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13.04x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2.028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heat_3d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12.36x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7.254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0.587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trmm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10.39x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0.690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jacobi_2d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9.92x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2.645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0.266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covariance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7.40x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1.073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0">
                <a:solidFill>
                  <a:srgbClr val="C0392B"/>
                </a:solidFill>
                <a:latin typeface="Calibri"/>
              </a:defRPr>
            </a:pPr>
            <a:r>
              <a:t>Slowdowns: nussinov (0.11x), ludcmp (0.14x), seidel_2d (0.20x), cholesky (0.22x) -- sequential bottlenecks on GPU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Per-Kernel Speedup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0">
                <a:solidFill>
                  <a:srgbClr val="7F8C8D"/>
                </a:solidFill>
                <a:latin typeface="Calibri"/>
              </a:defRPr>
            </a:pPr>
            <a:r>
              <a:t>Median: 3.10x  |  Mean: 3.83x  |  21/30 faster on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51729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1x</a:t>
            </a:r>
          </a:p>
        </p:txBody>
      </p:sp>
      <p:sp>
        <p:nvSpPr>
          <p:cNvPr id="5" name="Rectangle 4"/>
          <p:cNvSpPr/>
          <p:nvPr/>
        </p:nvSpPr>
        <p:spPr>
          <a:xfrm>
            <a:off x="1861457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41586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2x</a:t>
            </a:r>
          </a:p>
        </p:txBody>
      </p:sp>
      <p:sp>
        <p:nvSpPr>
          <p:cNvPr id="7" name="Rectangle 6"/>
          <p:cNvSpPr/>
          <p:nvPr/>
        </p:nvSpPr>
        <p:spPr>
          <a:xfrm>
            <a:off x="2351314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31443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3x</a:t>
            </a:r>
          </a:p>
        </p:txBody>
      </p:sp>
      <p:sp>
        <p:nvSpPr>
          <p:cNvPr id="9" name="Rectangle 8"/>
          <p:cNvSpPr/>
          <p:nvPr/>
        </p:nvSpPr>
        <p:spPr>
          <a:xfrm>
            <a:off x="2841171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21300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4x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1028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11157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5x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20885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1014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6x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0742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90872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7x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0600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80729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8x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90457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70586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9x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80314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60443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10x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0171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50300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11x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0028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40157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12x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49885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30014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13x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9742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861457" y="1078992"/>
            <a:ext cx="19050" cy="3493007"/>
          </a:xfrm>
          <a:prstGeom prst="rect">
            <a:avLst/>
          </a:prstGeom>
          <a:solidFill>
            <a:srgbClr val="BDC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88305" y="896112"/>
            <a:ext cx="146304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 b="1">
                <a:solidFill>
                  <a:srgbClr val="7F8C8D"/>
                </a:solidFill>
                <a:latin typeface="Calibri"/>
              </a:defRPr>
            </a:pPr>
            <a:r>
              <a:t>1x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" y="1097280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3mm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71600" y="1113495"/>
            <a:ext cx="6389040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7216" y="1097280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13.04x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" y="1213104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heat_3d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71600" y="1229319"/>
            <a:ext cx="6053284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61460" y="1213104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12.36x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" y="1328927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trmm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371600" y="1345143"/>
            <a:ext cx="5089113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97289" y="1328927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10.39x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" y="1444751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jacobi_2d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71600" y="1460967"/>
            <a:ext cx="4861167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9343" y="1444751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9.92x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" y="1560576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covariance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0" y="1576791"/>
            <a:ext cx="3625319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33495" y="1560576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7.40x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" y="1676400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syr2k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371600" y="1692615"/>
            <a:ext cx="3175419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83595" y="1676400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6.48x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" y="1792224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syrk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0" y="1808439"/>
            <a:ext cx="3051820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59996" y="1792224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6.23x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" y="1908047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correlation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71600" y="1924263"/>
            <a:ext cx="2794646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02822" y="1908047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5.71x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" y="2023871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doitgen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371600" y="2040087"/>
            <a:ext cx="2553462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961638" y="2023871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5.21x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" y="2139696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fdtd_2d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0" y="2155911"/>
            <a:ext cx="2481912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890088" y="2139696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5.07x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" y="2255520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symm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371600" y="2271735"/>
            <a:ext cx="2088343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496519" y="2255520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4.26x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" y="2371343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gesummv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371600" y="2387559"/>
            <a:ext cx="1935418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43594" y="2371343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3.95x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" y="2487168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2mm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371600" y="2503383"/>
            <a:ext cx="1828188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236364" y="2487168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3.73x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" y="2602992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bicg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371600" y="2619207"/>
            <a:ext cx="1720411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128587" y="2602992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3.51x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720" y="2718815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jacobi_1d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0" y="2735031"/>
            <a:ext cx="1517788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925964" y="2718815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3.10x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720" y="2834639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gemm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371600" y="2850855"/>
            <a:ext cx="1478824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887000" y="2834639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3.02x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720" y="2950464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atax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371600" y="2966679"/>
            <a:ext cx="1133404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541580" y="2950464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2.31x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720" y="3066287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mvt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0" y="3082503"/>
            <a:ext cx="1034598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42774" y="3066287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2.11x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720" y="3182111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gemver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371600" y="3198327"/>
            <a:ext cx="951788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359964" y="3182111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1.94x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5720" y="3297936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floyd_warshall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371600" y="3314151"/>
            <a:ext cx="825229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233405" y="3297936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1.68x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720" y="3413760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trisolv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371600" y="3429975"/>
            <a:ext cx="531506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939682" y="3413760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1.09x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5720" y="3529583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gramschmidt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371600" y="3545799"/>
            <a:ext cx="298329" cy="83393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706505" y="3529583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0.61x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720" y="3645407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lu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0" y="3661623"/>
            <a:ext cx="189539" cy="83393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597715" y="3645407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0.39x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5720" y="3761232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durbin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371600" y="3777447"/>
            <a:ext cx="146906" cy="83393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555082" y="3761232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0.30x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5720" y="3877055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deriche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371600" y="3893271"/>
            <a:ext cx="135852" cy="83393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544028" y="3877055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0.28x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720" y="3992879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adi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371600" y="4009095"/>
            <a:ext cx="117076" cy="83393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525252" y="3992879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0.24x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5720" y="4108704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cholesky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371600" y="4124919"/>
            <a:ext cx="107134" cy="83393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515310" y="4108704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0.22x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5720" y="4224527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seidel_2d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371600" y="4240743"/>
            <a:ext cx="96076" cy="83393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504252" y="4224527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0.20x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5720" y="4340351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ludcmp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371600" y="4356567"/>
            <a:ext cx="68051" cy="83393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476227" y="4340351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0.14x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5720" y="4456176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nussinov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371600" y="4472391"/>
            <a:ext cx="51489" cy="83393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459665" y="4456176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0.11x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400800" y="4617719"/>
            <a:ext cx="182880" cy="10972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629400" y="4599431"/>
            <a:ext cx="7315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804"/>
              </a:lnSpc>
              <a:defRPr sz="700" b="0">
                <a:solidFill>
                  <a:srgbClr val="2C3E50"/>
                </a:solidFill>
                <a:latin typeface="Calibri"/>
              </a:defRPr>
            </a:pPr>
            <a:r>
              <a:t>Faster (21)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498079" y="4617719"/>
            <a:ext cx="182880" cy="1097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726679" y="4599431"/>
            <a:ext cx="7315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804"/>
              </a:lnSpc>
              <a:defRPr sz="700" b="0">
                <a:solidFill>
                  <a:srgbClr val="2C3E50"/>
                </a:solidFill>
                <a:latin typeface="Calibri"/>
              </a:defRPr>
            </a:pPr>
            <a:r>
              <a:t>Slower (9)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Performance: With vs Without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64791" y="84124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67712" y="84124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2x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70632" y="84124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3x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73552" y="84124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4x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76472" y="84124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5x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79392" y="84124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6x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2312" y="84124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7x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85232" y="84124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8x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88152" y="84124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9x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74519" y="987552"/>
            <a:ext cx="19050" cy="4114800"/>
          </a:xfrm>
          <a:prstGeom prst="rect">
            <a:avLst/>
          </a:prstGeom>
          <a:solidFill>
            <a:srgbClr val="BDC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" y="1005840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covariance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1014984"/>
            <a:ext cx="3721994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71600" y="1078992"/>
            <a:ext cx="110468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" y="1152144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3mm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1161288"/>
            <a:ext cx="5029200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71600" y="1225296"/>
            <a:ext cx="3577393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" y="1298448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fdtd_2d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1307592"/>
            <a:ext cx="2548096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71600" y="1371600"/>
            <a:ext cx="80623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" y="1444752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syrk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1453896"/>
            <a:ext cx="3133202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71600" y="1517904"/>
            <a:ext cx="1468036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" y="1591056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syr2k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71600" y="1600200"/>
            <a:ext cx="3260096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371600" y="1664208"/>
            <a:ext cx="1725225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" y="1737360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2mm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71600" y="1746504"/>
            <a:ext cx="1876939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71600" y="1810512"/>
            <a:ext cx="470321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" y="1883664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jacobi_1d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0" y="1892807"/>
            <a:ext cx="1558262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371600" y="1956815"/>
            <a:ext cx="198318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" y="2029968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correlation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0" y="2039112"/>
            <a:ext cx="2869170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0" y="2103120"/>
            <a:ext cx="1567970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" y="2176272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bicg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371600" y="2185415"/>
            <a:ext cx="1766288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371600" y="2249423"/>
            <a:ext cx="1081495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" y="2322576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gesummv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371600" y="2331720"/>
            <a:ext cx="1987029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371600" y="2395727"/>
            <a:ext cx="1308606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" y="2468880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trisolv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371600" y="2478024"/>
            <a:ext cx="545679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371600" y="2542032"/>
            <a:ext cx="46884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" y="2615184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atax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71600" y="2624328"/>
            <a:ext cx="1163628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371600" y="2688336"/>
            <a:ext cx="676670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" y="2761488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trmm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371600" y="2770632"/>
            <a:ext cx="5029200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371600" y="2834639"/>
            <a:ext cx="4824091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" y="2907792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floyd_warshall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371600" y="2916936"/>
            <a:ext cx="847235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71600" y="2980944"/>
            <a:ext cx="498933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" y="3054096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gramschmidt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371600" y="3063240"/>
            <a:ext cx="306284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371600" y="3127248"/>
            <a:ext cx="55337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" y="3200400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doitgen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0" y="3209544"/>
            <a:ext cx="2621554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0" y="3273551"/>
            <a:ext cx="2427770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20" y="3346704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symm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371600" y="3355848"/>
            <a:ext cx="2144032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371600" y="3419856"/>
            <a:ext cx="2006143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" y="3493008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deriche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371600" y="3502152"/>
            <a:ext cx="139475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371600" y="3566160"/>
            <a:ext cx="65865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720" y="3639312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lu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71600" y="3648456"/>
            <a:ext cx="194593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371600" y="3712463"/>
            <a:ext cx="140080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" y="3785616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cholesky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0" y="3794760"/>
            <a:ext cx="109991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371600" y="3858768"/>
            <a:ext cx="70892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" y="3931920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adi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371600" y="3941064"/>
            <a:ext cx="120198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371600" y="4005072"/>
            <a:ext cx="93215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5720" y="4078224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nussinov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371600" y="4087368"/>
            <a:ext cx="52862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371600" y="4151375"/>
            <a:ext cx="45980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720" y="4224528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durbin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371600" y="4233672"/>
            <a:ext cx="150824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371600" y="4297679"/>
            <a:ext cx="149686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720" y="4370832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gemver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0" y="4379976"/>
            <a:ext cx="977169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0" y="4443983"/>
            <a:ext cx="991191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" y="4517136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ludcmp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371600" y="4526279"/>
            <a:ext cx="69866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371600" y="4590287"/>
            <a:ext cx="85712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5720" y="4663440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mvt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371600" y="4672583"/>
            <a:ext cx="1062188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371600" y="4736591"/>
            <a:ext cx="1783116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5720" y="4809744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gemm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371600" y="4818888"/>
            <a:ext cx="1518259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371600" y="4882895"/>
            <a:ext cx="4355331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5720" y="4956048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heat_3d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371600" y="4965192"/>
            <a:ext cx="5029200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371600" y="5029199"/>
            <a:ext cx="5029200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675120" y="914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1B2A4A"/>
                </a:solidFill>
                <a:latin typeface="Calibri"/>
              </a:defRPr>
            </a:pPr>
            <a:r>
              <a:t>Summary (28 kernels both pass):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675120" y="1188720"/>
            <a:ext cx="2286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40"/>
              </a:lnSpc>
              <a:spcAft>
                <a:spcPts val="400"/>
              </a:spcAft>
            </a:pPr>
            <a:r>
              <a:rPr sz="800">
                <a:solidFill>
                  <a:srgbClr val="2C3E50"/>
                </a:solidFill>
                <a:latin typeface="Calibri"/>
              </a:rPr>
              <a:t>With: median 3.10x, mean 3.75x</a:t>
            </a:r>
          </a:p>
          <a:p>
            <a:pPr>
              <a:lnSpc>
                <a:spcPts val="1040"/>
              </a:lnSpc>
              <a:spcAft>
                <a:spcPts val="400"/>
              </a:spcAft>
            </a:pPr>
            <a:r>
              <a:rPr sz="800">
                <a:solidFill>
                  <a:srgbClr val="2C3E50"/>
                </a:solidFill>
                <a:latin typeface="Calibri"/>
              </a:rPr>
              <a:t>W/O:  median 1.35x, mean 2.94x</a:t>
            </a:r>
          </a:p>
          <a:p>
            <a:pPr>
              <a:lnSpc>
                <a:spcPts val="1040"/>
              </a:lnSpc>
              <a:spcAft>
                <a:spcPts val="400"/>
              </a:spcAft>
            </a:pPr>
            <a:r>
              <a:rPr sz="800">
                <a:solidFill>
                  <a:srgbClr val="2C3E50"/>
                </a:solidFill>
                <a:latin typeface="Calibri"/>
              </a:rPr>
              <a:t/>
            </a:r>
          </a:p>
          <a:p>
            <a:pPr>
              <a:lnSpc>
                <a:spcPts val="1040"/>
              </a:lnSpc>
              <a:spcAft>
                <a:spcPts val="400"/>
              </a:spcAft>
            </a:pPr>
            <a:r>
              <a:rPr sz="800">
                <a:solidFill>
                  <a:srgbClr val="2C3E50"/>
                </a:solidFill>
                <a:latin typeface="Calibri"/>
              </a:rPr>
              <a:t>With faster: 19/28</a:t>
            </a:r>
          </a:p>
          <a:p>
            <a:pPr>
              <a:lnSpc>
                <a:spcPts val="1040"/>
              </a:lnSpc>
              <a:spcAft>
                <a:spcPts val="400"/>
              </a:spcAft>
            </a:pPr>
            <a:r>
              <a:rPr sz="800">
                <a:solidFill>
                  <a:srgbClr val="2C3E50"/>
                </a:solidFill>
                <a:latin typeface="Calibri"/>
              </a:rPr>
              <a:t>W/O faster: 4/28</a:t>
            </a:r>
          </a:p>
          <a:p>
            <a:pPr>
              <a:lnSpc>
                <a:spcPts val="1040"/>
              </a:lnSpc>
              <a:spcAft>
                <a:spcPts val="400"/>
              </a:spcAft>
            </a:pPr>
            <a:r>
              <a:rPr sz="800">
                <a:solidFill>
                  <a:srgbClr val="2C3E50"/>
                </a:solidFill>
                <a:latin typeface="Calibri"/>
              </a:rPr>
              <a:t>Ties: 5/28</a:t>
            </a:r>
          </a:p>
          <a:p>
            <a:pPr>
              <a:lnSpc>
                <a:spcPts val="1040"/>
              </a:lnSpc>
              <a:spcAft>
                <a:spcPts val="400"/>
              </a:spcAft>
            </a:pPr>
            <a:r>
              <a:rPr sz="800">
                <a:solidFill>
                  <a:srgbClr val="2C3E50"/>
                </a:solidFill>
                <a:latin typeface="Calibri"/>
              </a:rPr>
              <a:t/>
            </a:r>
          </a:p>
          <a:p>
            <a:pPr>
              <a:lnSpc>
                <a:spcPts val="1040"/>
              </a:lnSpc>
              <a:spcAft>
                <a:spcPts val="400"/>
              </a:spcAft>
            </a:pPr>
            <a:r>
              <a:rPr sz="800">
                <a:solidFill>
                  <a:srgbClr val="2C3E50"/>
                </a:solidFill>
                <a:latin typeface="Calibri"/>
              </a:rPr>
              <a:t>Correctness: 30/30 vs 28/30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0" y="5193792"/>
            <a:ext cx="274320" cy="9144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691640" y="5175504"/>
            <a:ext cx="10972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804"/>
              </a:lnSpc>
              <a:defRPr sz="700" b="0">
                <a:solidFill>
                  <a:srgbClr val="2C3E50"/>
                </a:solidFill>
                <a:latin typeface="Calibri"/>
              </a:defRPr>
            </a:pPr>
            <a:r>
              <a:t>With Analysis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926080" y="5193792"/>
            <a:ext cx="274320" cy="91440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246120" y="5175504"/>
            <a:ext cx="10972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804"/>
              </a:lnSpc>
              <a:defRPr sz="700" b="0">
                <a:solidFill>
                  <a:srgbClr val="2C3E50"/>
                </a:solidFill>
                <a:latin typeface="Calibri"/>
              </a:defRPr>
            </a:pPr>
            <a:r>
              <a:t>Without Analysis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7F8C8D"/>
                </a:solidFill>
                <a:latin typeface="Calibri"/>
              </a:defRPr>
            </a:pPr>
            <a:r>
              <a:t>With analysis: 30/30 pass. Without: 28/30 pass. LLM nondeterminism contributes to speedup variation across runs.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Failure Analysis &amp;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25"/>
              </a:lnSpc>
              <a:defRPr sz="1500" b="1">
                <a:solidFill>
                  <a:srgbClr val="27AE60"/>
                </a:solidFill>
                <a:latin typeface="Calibri"/>
              </a:defRPr>
            </a:pPr>
            <a:r>
              <a:t>All 30/30 pass with analysis (100%)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8229600" cy="256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5486400"/>
              </a:tblGrid>
              <a:tr h="25603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Failure Mode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Root Cause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2194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25"/>
              </a:lnSpc>
              <a:defRPr sz="1500" b="1">
                <a:solidFill>
                  <a:srgbClr val="27AE60"/>
                </a:solidFill>
                <a:latin typeface="Calibri"/>
              </a:defRPr>
            </a:pPr>
            <a:r>
              <a:t>Infrastructure &amp; Test Quality Fixes: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2468880"/>
          <a:ext cx="822960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657600"/>
                <a:gridCol w="3291840"/>
              </a:tblGrid>
              <a:tr h="27431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Kernel(s)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Issue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Fix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doitgen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Tested scratch buffer (sum)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Marked 'temp'; excluded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durbin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FP32 divergence (120-step recurrence)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Tolerance override (atol=0.05)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gramschmidt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M&lt;N rank-deficient: Q diverges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Tolerance override (atol=1.0)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ludcmp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Pivotless LU: A,y diverge, x correct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A,y as 'temp'; only check 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7 kernels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randn invalid (solvers need SPD)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Domain-appropriate init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160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7F8C8D"/>
                </a:solidFill>
                <a:latin typeface="Calibri"/>
              </a:defRPr>
            </a:pPr>
            <a:r>
              <a:t>Domain inputs: cholesky (SPD), lu/ludcmp (diag-dominant), trisolv (lower-tri), gramschmidt (well-conditioned), nussinov (int bases), floyd_warshall (non-neg weights)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434840"/>
            <a:ext cx="8229600" cy="502920"/>
          </a:xfrm>
          <a:prstGeom prst="roundRect">
            <a:avLst>
              <a:gd name="adj" fmla="val 5000"/>
            </a:avLst>
          </a:prstGeom>
          <a:solidFill>
            <a:srgbClr val="EBF5FB"/>
          </a:solidFill>
          <a:ln w="19050"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54864"/>
          <a:lstStyle/>
          <a:p>
            <a:pPr algn="ctr"/>
            <a:r>
              <a:rPr b="1" sz="1100">
                <a:solidFill>
                  <a:srgbClr val="2E5C8A"/>
                </a:solidFill>
                <a:latin typeface="Calibri"/>
              </a:rPr>
              <a:t>Key Insight: </a:t>
            </a:r>
            <a:r>
              <a:rPr sz="1000">
                <a:solidFill>
                  <a:srgbClr val="2C3E50"/>
                </a:solidFill>
                <a:latin typeface="Calibri"/>
              </a:rPr>
              <a:t>All 30 kernels pass with analysis. Slowdowns (&lt;1x) are inherently sequential algorithms (seidel_2d, cholesky, nussinov, ludcmp). Domain-appropriate test inputs validate mathematical correctness.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Ablation: Analysis vs No-Analysis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0">
                <a:solidFill>
                  <a:srgbClr val="7F8C8D"/>
                </a:solidFill>
                <a:latin typeface="Calibri"/>
              </a:defRPr>
            </a:pPr>
            <a:r>
              <a:t>Same pipeline, same model (Sonnet), same 5+5 retries, tl.constexpr -- only difference: analysis in prompt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8229600" cy="1728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86000"/>
                <a:gridCol w="2286000"/>
                <a:gridCol w="1645920"/>
              </a:tblGrid>
              <a:tr h="24688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With Analysis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Without Analysis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Delta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Pass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30/30 (100.0%)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28/30 (93.3%)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First-Try Pass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+8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Avg Attempts (passed)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-0.6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Median Speedup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3.10x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1.35x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+1.75x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Mean Speedup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3.83x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2.94x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+0.89x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Kernels &gt;1x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21/30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14/28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+7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4747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9"/>
              </a:lnSpc>
              <a:defRPr sz="1400" b="1">
                <a:solidFill>
                  <a:srgbClr val="1B2A4A"/>
                </a:solidFill>
                <a:latin typeface="Calibri"/>
              </a:defRPr>
            </a:pPr>
            <a:r>
              <a:t>What analysis provides: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49039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30"/>
              </a:lnSpc>
              <a:spcAft>
                <a:spcPts val="400"/>
              </a:spcAft>
            </a:pPr>
            <a:r>
              <a:rPr sz="1100">
                <a:solidFill>
                  <a:srgbClr val="2C3E50"/>
                </a:solidFill>
                <a:latin typeface="Calibri"/>
              </a:rPr>
              <a:t>Which dims to parallelize vs keep sequential</a:t>
            </a:r>
          </a:p>
          <a:p>
            <a:pPr>
              <a:lnSpc>
                <a:spcPts val="1430"/>
              </a:lnSpc>
              <a:spcAft>
                <a:spcPts val="400"/>
              </a:spcAft>
            </a:pPr>
            <a:r>
              <a:rPr sz="1100">
                <a:solidFill>
                  <a:srgbClr val="2C3E50"/>
                </a:solidFill>
                <a:latin typeface="Calibri"/>
              </a:rPr>
              <a:t>WAR deps: need array copies before parallel region</a:t>
            </a:r>
          </a:p>
          <a:p>
            <a:pPr>
              <a:lnSpc>
                <a:spcPts val="1430"/>
              </a:lnSpc>
              <a:spcAft>
                <a:spcPts val="400"/>
              </a:spcAft>
            </a:pPr>
            <a:r>
              <a:rPr sz="1100">
                <a:solidFill>
                  <a:srgbClr val="2C3E50"/>
                </a:solidFill>
                <a:latin typeface="Calibri"/>
              </a:rPr>
              <a:t>Reduction type: how to accumulate (tl.sum, etc.)</a:t>
            </a:r>
          </a:p>
          <a:p>
            <a:pPr>
              <a:lnSpc>
                <a:spcPts val="1430"/>
              </a:lnSpc>
              <a:spcAft>
                <a:spcPts val="400"/>
              </a:spcAft>
            </a:pPr>
            <a:r>
              <a:rPr sz="1100">
                <a:solidFill>
                  <a:srgbClr val="2C3E50"/>
                </a:solidFill>
                <a:latin typeface="Calibri"/>
              </a:rPr>
              <a:t>Scalar expansion: privatize loop-carried scalars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34747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9"/>
              </a:lnSpc>
              <a:defRPr sz="1400" b="1">
                <a:solidFill>
                  <a:srgbClr val="E87D2F"/>
                </a:solidFill>
                <a:latin typeface="Calibri"/>
              </a:defRPr>
            </a:pPr>
            <a:r>
              <a:t>Without analysis, LLM must: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3749039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30"/>
              </a:lnSpc>
              <a:spcAft>
                <a:spcPts val="400"/>
              </a:spcAft>
            </a:pPr>
            <a:r>
              <a:rPr sz="1100">
                <a:solidFill>
                  <a:srgbClr val="2C3E50"/>
                </a:solidFill>
                <a:latin typeface="Calibri"/>
              </a:rPr>
              <a:t>Infer parallelism from C code alone</a:t>
            </a:r>
          </a:p>
          <a:p>
            <a:pPr>
              <a:lnSpc>
                <a:spcPts val="1430"/>
              </a:lnSpc>
              <a:spcAft>
                <a:spcPts val="400"/>
              </a:spcAft>
            </a:pPr>
            <a:r>
              <a:rPr sz="1100">
                <a:solidFill>
                  <a:srgbClr val="2C3E50"/>
                </a:solidFill>
                <a:latin typeface="Calibri"/>
              </a:rPr>
              <a:t>Guess correct memory access patterns</a:t>
            </a:r>
          </a:p>
          <a:p>
            <a:pPr>
              <a:lnSpc>
                <a:spcPts val="1430"/>
              </a:lnSpc>
              <a:spcAft>
                <a:spcPts val="400"/>
              </a:spcAft>
            </a:pPr>
            <a:r>
              <a:rPr sz="1100">
                <a:solidFill>
                  <a:srgbClr val="2C3E50"/>
                </a:solidFill>
                <a:latin typeface="Calibri"/>
              </a:rPr>
              <a:t>Discover dependencies by trial and error</a:t>
            </a:r>
          </a:p>
          <a:p>
            <a:pPr>
              <a:lnSpc>
                <a:spcPts val="1430"/>
              </a:lnSpc>
              <a:spcAft>
                <a:spcPts val="400"/>
              </a:spcAft>
            </a:pPr>
            <a:r>
              <a:rPr sz="1100">
                <a:solidFill>
                  <a:srgbClr val="2C3E50"/>
                </a:solidFill>
                <a:latin typeface="Calibri"/>
              </a:rPr>
              <a:t>Rely entirely on retry-with-error feedback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572000"/>
            <a:ext cx="8229600" cy="411480"/>
          </a:xfrm>
          <a:prstGeom prst="roundRect">
            <a:avLst>
              <a:gd name="adj" fmla="val 10000"/>
            </a:avLst>
          </a:prstGeom>
          <a:solidFill>
            <a:srgbClr val="EBF5FB"/>
          </a:solidFill>
          <a:ln w="19050"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b="1" sz="1400">
                <a:solidFill>
                  <a:srgbClr val="2E5C8A"/>
                </a:solidFill>
                <a:latin typeface="Calibri"/>
              </a:rPr>
              <a:t>Takeaway: </a:t>
            </a:r>
            <a:r>
              <a:rPr sz="1200">
                <a:solidFill>
                  <a:srgbClr val="2C3E50"/>
                </a:solidFill>
                <a:latin typeface="Calibri"/>
              </a:rPr>
              <a:t>Analysis: 30/30 pass (vs 28/30), median 3.10x (vs 1.35x). +2 kernels pass, +1.75x median speedup. Analysis uniquely enables hard dep-heavy kernels.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Rodinia 3.1: Pipeline Generalization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0">
                <a:solidFill>
                  <a:srgbClr val="7F8C8D"/>
                </a:solidFill>
                <a:latin typeface="Calibri"/>
              </a:defRPr>
            </a:pPr>
            <a:r>
              <a:t>Infrastructure test: 3 kernels from distinct algorithmic families, no polyhedral analysis.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9"/>
              </a:lnSpc>
              <a:defRPr sz="1400" b="1">
                <a:solidFill>
                  <a:srgbClr val="1B2A4A"/>
                </a:solidFill>
                <a:latin typeface="Calibri"/>
              </a:defRPr>
            </a:pPr>
            <a:r>
              <a:t>Kernel Selection: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325880"/>
          <a:ext cx="41148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371600"/>
              </a:tblGrid>
              <a:tr h="2743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Pattern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Polybench Analog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hotspot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2D stencil + timestep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jacobi_2d, heat_3d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 decomposition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pathfinder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1D DP + timestep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nussinov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754880" y="105156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9"/>
              </a:lnSpc>
              <a:defRPr sz="1400" b="1">
                <a:solidFill>
                  <a:srgbClr val="1B2A4A"/>
                </a:solidFill>
                <a:latin typeface="Calibri"/>
              </a:defRPr>
            </a:pPr>
            <a:r>
              <a:t>Results: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1325880"/>
          <a:ext cx="3657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731520"/>
                <a:gridCol w="914400"/>
                <a:gridCol w="914400"/>
              </a:tblGrid>
              <a:tr h="2743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Passed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Attempts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Speedup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hotspot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1.05x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13.18x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pathfinder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2651760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3/3 Pass (100%)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2651760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No Analysis (infra test)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2651760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Median: 1.05x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0" y="2651760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Mean: 4.78x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320040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9"/>
              </a:lnSpc>
              <a:defRPr sz="1400" b="1">
                <a:solidFill>
                  <a:srgbClr val="1B2A4A"/>
                </a:solidFill>
                <a:latin typeface="Calibri"/>
              </a:defRPr>
            </a:pPr>
            <a:r>
              <a:t>Per-Kernel Notes: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474720"/>
            <a:ext cx="8686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 b="1">
                <a:solidFill>
                  <a:srgbClr val="2C3E50"/>
                </a:solidFill>
                <a:latin typeface="Calibri"/>
              </a:rPr>
              <a:t>hotspot: </a:t>
            </a:r>
            <a:r>
              <a:rPr sz="1000">
                <a:solidFill>
                  <a:srgbClr val="2C3E50"/>
                </a:solidFill>
                <a:latin typeface="Calibri"/>
              </a:rPr>
              <a:t>2D thermal stencil (256x256, 10 timesteps). Passed on attempt 1, 1.05x speedup. Double-buffer pattern (read temp, write result, copy back).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 b="1">
                <a:solidFill>
                  <a:srgbClr val="2C3E50"/>
                </a:solidFill>
                <a:latin typeface="Calibri"/>
              </a:rPr>
              <a:t>lud: </a:t>
            </a:r>
            <a:r>
              <a:rPr sz="1000">
                <a:solidFill>
                  <a:srgbClr val="2C3E50"/>
                </a:solidFill>
                <a:latin typeface="Calibri"/>
              </a:rPr>
              <a:t>Unblocked LU decomposition (256x256). First-try pass, 13.18x speedup. Identical to Polybench lu pattern -- pipeline handles it consistently.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 b="1">
                <a:solidFill>
                  <a:srgbClr val="2C3E50"/>
                </a:solidFill>
                <a:latin typeface="Calibri"/>
              </a:rPr>
              <a:t>pathfinder: </a:t>
            </a:r>
            <a:r>
              <a:rPr sz="1000">
                <a:solidFill>
                  <a:srgbClr val="2C3E50"/>
                </a:solidFill>
                <a:latin typeface="Calibri"/>
              </a:rPr>
              <a:t>1D DP min-path (100x256). Passed on attempt 1, 0.11x speedup.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4572000"/>
            <a:ext cx="8686800" cy="411480"/>
          </a:xfrm>
          <a:prstGeom prst="roundRect">
            <a:avLst>
              <a:gd name="adj" fmla="val 8000"/>
            </a:avLst>
          </a:prstGeom>
          <a:solidFill>
            <a:srgbClr val="E8F8F5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/>
            <a:r>
              <a:rPr b="1" sz="1200">
                <a:solidFill>
                  <a:srgbClr val="27AE60"/>
                </a:solidFill>
                <a:latin typeface="Calibri"/>
              </a:rPr>
              <a:t>Validates pipeline generalization: </a:t>
            </a:r>
            <a:r>
              <a:rPr sz="1100">
                <a:solidFill>
                  <a:srgbClr val="2C3E50"/>
                </a:solidFill>
                <a:latin typeface="Calibri"/>
              </a:rPr>
              <a:t>3/3 Rodinia kernels pass with zero pipeline changes. Same C extraction, ctypes testing, and LLM retry strategy works across benchmark suites.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Rodinia: Per-Kernel Speedup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0">
                <a:solidFill>
                  <a:srgbClr val="7F8C8D"/>
                </a:solidFill>
                <a:latin typeface="Calibri"/>
              </a:defRPr>
            </a:pPr>
            <a:r>
              <a:t>Median: 1.05x  |  Mean: 4.78x  |  2/3 faster on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57400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1x</a:t>
            </a:r>
          </a:p>
        </p:txBody>
      </p:sp>
      <p:sp>
        <p:nvSpPr>
          <p:cNvPr id="5" name="Rectangle 4"/>
          <p:cNvSpPr/>
          <p:nvPr/>
        </p:nvSpPr>
        <p:spPr>
          <a:xfrm>
            <a:off x="219456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423160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2x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3x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4x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5x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86200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6x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51959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7x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8x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79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9x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49240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10x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14999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11x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52159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80760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12x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13x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79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14x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4944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194560" y="1261872"/>
            <a:ext cx="19050" cy="1545336"/>
          </a:xfrm>
          <a:prstGeom prst="rect">
            <a:avLst/>
          </a:prstGeom>
          <a:solidFill>
            <a:srgbClr val="BDC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" y="1280160"/>
            <a:ext cx="1554480" cy="50292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1200">
                <a:solidFill>
                  <a:srgbClr val="2C3E50"/>
                </a:solidFill>
                <a:latin typeface="Courier New"/>
              </a:defRPr>
            </a:pPr>
            <a:r>
              <a:t>lud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28800" y="1380744"/>
            <a:ext cx="4820362" cy="3017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22314" y="1280160"/>
            <a:ext cx="731520" cy="50292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1100" b="1">
                <a:solidFill>
                  <a:srgbClr val="27AE60"/>
                </a:solidFill>
                <a:latin typeface="Courier New"/>
              </a:defRPr>
            </a:pPr>
            <a:r>
              <a:t>13.18x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" y="1783080"/>
            <a:ext cx="1554480" cy="50292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1200">
                <a:solidFill>
                  <a:srgbClr val="2C3E50"/>
                </a:solidFill>
                <a:latin typeface="Courier New"/>
              </a:defRPr>
            </a:pPr>
            <a:r>
              <a:t>hotspot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28800" y="1883664"/>
            <a:ext cx="384920" cy="3017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86872" y="1783080"/>
            <a:ext cx="731520" cy="50292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1100" b="1">
                <a:solidFill>
                  <a:srgbClr val="27AE60"/>
                </a:solidFill>
                <a:latin typeface="Courier New"/>
              </a:defRPr>
            </a:pPr>
            <a:r>
              <a:t>1.05x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" y="2286000"/>
            <a:ext cx="1554480" cy="50292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1200">
                <a:solidFill>
                  <a:srgbClr val="2C3E50"/>
                </a:solidFill>
                <a:latin typeface="Courier New"/>
              </a:defRPr>
            </a:pPr>
            <a:r>
              <a:t>pathfinder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28800" y="2386584"/>
            <a:ext cx="39199" cy="3017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41151" y="2286000"/>
            <a:ext cx="731520" cy="50292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1100" b="1">
                <a:solidFill>
                  <a:srgbClr val="C0392B"/>
                </a:solidFill>
                <a:latin typeface="Courier New"/>
              </a:defRPr>
            </a:pPr>
            <a:r>
              <a:t>0.11x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389120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BF5FB"/>
          </a:solidFill>
          <a:ln w="12700"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/>
            <a:r>
              <a:rPr b="1" sz="1200">
                <a:solidFill>
                  <a:srgbClr val="2E5C8A"/>
                </a:solidFill>
                <a:latin typeface="Calibri"/>
              </a:rPr>
              <a:t>Cross-suite comparison: </a:t>
            </a:r>
            <a:r>
              <a:rPr sz="1100">
                <a:solidFill>
                  <a:srgbClr val="2C3E50"/>
                </a:solidFill>
                <a:latin typeface="Calibri"/>
              </a:rPr>
              <a:t>Polybench: 30/30 pass, median 3.10x  |  Rodinia: 3/3 pass, median 1.05x  |  Same pipeline, zero code changes.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Rodinia: Ablation — Analysis vs No-Analysis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914400"/>
          <a:ext cx="786384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280160"/>
                <a:gridCol w="1371600"/>
                <a:gridCol w="1280160"/>
                <a:gridCol w="1371600"/>
                <a:gridCol w="13716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 Speedup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 Triton ms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WA Speedup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WA Triton ms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Winner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000">
                          <a:latin typeface="Courier New"/>
                        </a:defRPr>
                      </a:pPr>
                      <a:r>
                        <a:t>hotspot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1.22x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1.426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1.05x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1.344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WA (1.06x)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000">
                          <a:latin typeface="Courier New"/>
                        </a:defRPr>
                      </a:pPr>
                      <a:r>
                        <a:t>lud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15.52x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0.863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13.18x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0.862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000">
                          <a:latin typeface="Courier New"/>
                        </a:defRPr>
                      </a:pPr>
                      <a:r>
                        <a:t>pathfinder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0.11x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4.102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WA (pass)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latin typeface="Courier New"/>
                        </a:defRPr>
                      </a:pPr>
                      <a:r>
                        <a:t>Pass rate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latin typeface="Calibri"/>
                        </a:defRPr>
                      </a:pPr>
                      <a:r>
                        <a:t>2/3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latin typeface="Calibri"/>
                        </a:defRPr>
                      </a:pPr>
                      <a:r>
                        <a:t>3/3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WA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57200" y="2788920"/>
            <a:ext cx="8229600" cy="73152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ctr"/>
            <a:r>
              <a:rPr b="1" sz="1200">
                <a:solidFill>
                  <a:srgbClr val="27AE60"/>
                </a:solidFill>
                <a:latin typeface="Calibri"/>
              </a:rPr>
              <a:t>Key Finding: </a:t>
            </a:r>
            <a:r>
              <a:rPr sz="1100">
                <a:solidFill>
                  <a:srgbClr val="2C3E50"/>
                </a:solidFill>
                <a:latin typeface="Calibri"/>
              </a:rPr>
              <a:t>Analysis uniquely enables pathfinder (FAIL → PASS). Pass rate: 2/3 → 3/3. WA wins=2, NA wins=0, Tie=1 (by Triton time). Speedup differences on lud/hotspot are from C-ref timing variance, not code quality.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11879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7F8C8D"/>
                </a:solidFill>
                <a:latin typeface="Calibri"/>
              </a:defRPr>
            </a:pPr>
            <a:r>
              <a:t>Note: Winner determined by Triton kernel time (not speedup ratio) to eliminate C-reference timing variance. With only 3 kernels, small sample effects dominate.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GPU Hardware Utilization (NCU Profiling)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0">
                <a:solidFill>
                  <a:srgbClr val="7F8C8D"/>
                </a:solidFill>
                <a:latin typeface="Calibri"/>
              </a:defRPr>
            </a:pPr>
            <a:r>
              <a:t>NVIDIA Nsight Compute profiling on RTX 3090 (82 SMs, 936 GB/s, 35.58 TFLOPS FP32)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51560"/>
          <a:ext cx="466344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640080"/>
                <a:gridCol w="640080"/>
                <a:gridCol w="640080"/>
                <a:gridCol w="640080"/>
                <a:gridCol w="1005840"/>
              </a:tblGrid>
              <a:tr h="219456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Speedup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SM%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Mem%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Occ%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Grid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correlation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5.7x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86.5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86.5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74.5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1,830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covariance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7.4x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27.3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27.3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8.4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60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gesummv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4.0x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13.4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13.4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12.3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mvt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2.1x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8.8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8.8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12.1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120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6.2x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6.8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6.8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syr2k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6.5x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5.6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5.6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8.4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gemver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gemm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8.3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jacobi_1d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8.4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bicg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atax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2.3x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8.3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760720" y="105156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1">
                <a:solidFill>
                  <a:srgbClr val="1B2A4A"/>
                </a:solidFill>
                <a:latin typeface="Calibri"/>
              </a:defRPr>
            </a:pPr>
            <a:r>
              <a:t>Aggregate Statistics: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1325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SM Throughput: mean 7.4%, max 86.5%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Mem Throughput: mean 7.5%, max 86.5%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Occupancy: mean 11.9%, max 74.5%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grid=(1,) kernels: 11/22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Only correlation &gt;50% 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27432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1">
                <a:solidFill>
                  <a:srgbClr val="C0392B"/>
                </a:solidFill>
                <a:latin typeface="Calibri"/>
              </a:defRPr>
            </a:pPr>
            <a:r>
              <a:t>Root Cause: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301752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Polybench SMALL sizes (N=60-120)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Data fits in L2 cache entirely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Not enough parallelism to fill 82 SMs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Most kernels: 1 block on 1 SM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4434840"/>
            <a:ext cx="8686800" cy="502920"/>
          </a:xfrm>
          <a:prstGeom prst="roundRect">
            <a:avLst>
              <a:gd name="adj" fmla="val 8000"/>
            </a:avLst>
          </a:prstGeom>
          <a:solidFill>
            <a:srgbClr val="FDF2E9"/>
          </a:solidFill>
          <a:ln w="19050">
            <a:solidFill>
              <a:srgbClr val="E87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/>
            <a:r>
              <a:rPr b="1" sz="1200">
                <a:solidFill>
                  <a:srgbClr val="E87D2F"/>
                </a:solidFill>
                <a:latin typeface="Calibri"/>
              </a:rPr>
              <a:t>Conclusion: </a:t>
            </a:r>
            <a:r>
              <a:rPr sz="1000">
                <a:solidFill>
                  <a:srgbClr val="2C3E50"/>
                </a:solidFill>
                <a:latin typeface="Calibri"/>
              </a:rPr>
              <a:t>GPU is severely underutilized (&lt;10% SM/Mem). Current speedups (up to 13.9x) are impressive DESPITE tiny problem sizes. Increasing to N=1024+ would show true GPU potential and make speedup comparisons more meaningful.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Large-Size Benchmark (8x Problem Sizes)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0">
                <a:solidFill>
                  <a:srgbClr val="7F8C8D"/>
                </a:solidFill>
                <a:latin typeface="Calibri"/>
              </a:defRPr>
            </a:pPr>
            <a:r>
              <a:t>Re-benchmarking existing Triton kernels at 8x sizes (sequential kernels at 2x). No C reference needed — measuring Triton kernel time directly.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" y="1051560"/>
          <a:ext cx="4892040" cy="3419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502920"/>
                <a:gridCol w="731520"/>
                <a:gridCol w="1005840"/>
                <a:gridCol w="914400"/>
                <a:gridCol w="731520"/>
              </a:tblGrid>
              <a:tr h="20116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Scale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Orig Spd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Large Tri (ms)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Large C (ms)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Large Spd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gramschmidt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0.6x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1094.922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deriche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0.3x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869.014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seidel_2d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187.584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nussinov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139.520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2.0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ludcmp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84.433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2mm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3.7x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52.863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adi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40.097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0.4x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39.837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jacobi_2d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9.9x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32.158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covariance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7.4x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20.093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correlation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5.7x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17.972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fdtd_2d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5.1x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17.806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cholesky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14.200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heat_3d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12.4x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12.257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4.9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0.4x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syr2k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6.5x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9.201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...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(30 total)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0" y="105156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1">
                <a:solidFill>
                  <a:srgbClr val="1B2A4A"/>
                </a:solidFill>
                <a:latin typeface="Calibri"/>
              </a:defRPr>
            </a:pPr>
            <a:r>
              <a:t>Summary Statistics: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132588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Kernels: 30/30 benchmarked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Large-size speedups: 30/30 have C ref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Orig median speedup: 3.1x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Large median speedup: 0.1x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GPU speedup (&gt;1x): 21 orig → 8 large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292608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1">
                <a:solidFill>
                  <a:srgbClr val="27AE60"/>
                </a:solidFill>
                <a:latin typeface="Calibri"/>
              </a:defRPr>
            </a:pPr>
            <a:r>
              <a:t>Speedup Change: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320040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Improved at large size: 2 kernels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Stable (within 10%): 0 kernels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Degraded at large size: 28 kernels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4434840"/>
            <a:ext cx="8686800" cy="50292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/>
            <a:r>
              <a:rPr b="1" sz="1200">
                <a:solidFill>
                  <a:srgbClr val="27AE60"/>
                </a:solidFill>
                <a:latin typeface="Calibri"/>
              </a:rPr>
              <a:t>Key Finding: </a:t>
            </a:r>
            <a:r>
              <a:rPr sz="1000">
                <a:solidFill>
                  <a:srgbClr val="2C3E50"/>
                </a:solidFill>
                <a:latin typeface="Calibri"/>
              </a:rPr>
              <a:t>At scaled sizes, median speedup changes from 3.1x to 0.1x. 8/30 kernels show GPU speedup at realistic sizes. 2 kernels improve, validating that generated Triton code scales to real workloads.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Large-Size Ablation: WA vs NA at Scaled Sizes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0">
                <a:solidFill>
                  <a:srgbClr val="7F8C8D"/>
                </a:solidFill>
                <a:latin typeface="Calibri"/>
              </a:defRPr>
            </a:pPr>
            <a:r>
              <a:t>Both WA and NA Triton code benchmarked at 8x (parallel) / 2x (sequential) problem sizes. Eliminates C-reference variance — pure Triton-vs-Triton comparison.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" y="1051560"/>
          <a:ext cx="6400800" cy="6236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640080"/>
                <a:gridCol w="1371600"/>
                <a:gridCol w="1371600"/>
                <a:gridCol w="914400"/>
                <a:gridCol w="914400"/>
              </a:tblGrid>
              <a:tr h="20116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Scale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WA Large (ms)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 Large (ms)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WA/NA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Winner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52.792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timeout (60s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WA-only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3mm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0.081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0.077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1.04x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adi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40.792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151.485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atax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0.189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1.995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bicg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2.175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cholesky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14.375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5.047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2.85x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NA</a:t>
                      </a:r>
                    </a:p>
                  </a:txBody>
                  <a:tcPr>
                    <a:solidFill>
                      <a:srgbClr val="FADBD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correlation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18.238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19.255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0.95x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covariance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20.268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timeout (60s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WA-only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deriche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867.697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865.377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1.00x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doitgen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1.221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6.696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durbin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1.727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1.686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1.02x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fdtd_2d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17.776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1006.828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0.02x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floyd_warshall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2.589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2.605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0.99x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gemm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0.192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0.802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0.24x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gemver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1.16x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NA</a:t>
                      </a:r>
                    </a:p>
                  </a:txBody>
                  <a:tcPr>
                    <a:solidFill>
                      <a:srgbClr val="FADBD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gesummv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0.017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0.080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gramschmidt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1092.565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timeout (60s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WA-only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heat_3d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12.245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12.324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0.99x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jacobi_1d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2.729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jacobi_2d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32.117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at 11:14:</a:t>
                      </a:r>
                    </a:p>
                    <a:p>
                      <a:r>
                        <a:t>de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WA-only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39.873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18.613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2.14x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NA</a:t>
                      </a:r>
                    </a:p>
                  </a:txBody>
                  <a:tcPr>
                    <a:solidFill>
                      <a:srgbClr val="FADBD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ludcmp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84.444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84.270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1.00x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mvt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1.00x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nussinov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139.520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153.773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0.91x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seidel_2d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187.571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0.038*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WA-only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symm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4.251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6.770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0.63x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syr2k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9.243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9.046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1.02x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syrk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0.242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2.084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0.12x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trisolv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3.060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0.26x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trmm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3.965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4.455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0.89x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737920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1">
                <a:solidFill>
                  <a:srgbClr val="1B2A4A"/>
                </a:solidFill>
                <a:latin typeface="Calibri"/>
              </a:defRPr>
            </a:pPr>
            <a:r>
              <a:t>Large-Size Summary: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53528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All 30 kernels attempted. Valid comparisons: 25 (both pass small-size and complete large-size)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WA wins (faster Triton): 14 | NA wins: 3 | Ties (&lt;5% diff): 8 | WA-only: 5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* = code failed small-size validation (timing unreliable)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4617720"/>
            <a:ext cx="8686800" cy="411480"/>
          </a:xfrm>
          <a:prstGeom prst="roundRect">
            <a:avLst>
              <a:gd name="adj" fmla="val 8000"/>
            </a:avLst>
          </a:prstGeom>
          <a:solidFill>
            <a:srgbClr val="EBF5FB"/>
          </a:solidFill>
          <a:ln w="19050"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/>
            <a:r>
              <a:rPr b="1" sz="1200">
                <a:solidFill>
                  <a:srgbClr val="2E5C8A"/>
                </a:solidFill>
                <a:latin typeface="Calibri"/>
              </a:rPr>
              <a:t>Conclusion: </a:t>
            </a:r>
            <a:r>
              <a:rPr sz="1000">
                <a:solidFill>
                  <a:srgbClr val="2C3E50"/>
                </a:solidFill>
                <a:latin typeface="Calibri"/>
              </a:rPr>
              <a:t>At large sizes, WA wins 14/25 (56%) kernel comparisons. Analysis-guided code maintains advantage at realistic GPU workloads.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