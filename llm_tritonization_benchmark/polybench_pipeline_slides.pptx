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140"/>
              </a:lnSpc>
              <a:defRPr sz="3600" b="1">
                <a:solidFill>
                  <a:srgbClr val="FFFFFF"/>
                </a:solidFill>
                <a:latin typeface="Calibri"/>
              </a:defRPr>
            </a:pPr>
            <a:r>
              <a:t>Analysis-Guided LLM</a:t>
            </a:r>
            <a:br/>
            <a:r>
              <a:t>Tritonization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defRPr sz="1800" b="0">
                <a:solidFill>
                  <a:srgbClr val="F5F5F5"/>
                </a:solidFill>
                <a:latin typeface="Calibri"/>
              </a:defRPr>
            </a:pPr>
            <a:r>
              <a:t>PET + LLVM Static Analysis  -&gt;  LLM Prompt  -&gt;  GPU Triton Kernels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defRPr sz="1400" b="0">
                <a:solidFill>
                  <a:srgbClr val="7F8C8D"/>
                </a:solidFill>
                <a:latin typeface="Calibri"/>
              </a:defRPr>
            </a:pPr>
            <a:r>
              <a:t>Polybench/C 4.2.1  |  30 HPC Kernels  |  16 Analysis Modules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Pipeline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" y="1097280"/>
            <a:ext cx="1097280" cy="41148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 Kernel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339596" y="1211580"/>
            <a:ext cx="109728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49324" y="1097280"/>
            <a:ext cx="1097280" cy="411480"/>
          </a:xfrm>
          <a:prstGeom prst="roundRect">
            <a:avLst>
              <a:gd name="adj" fmla="val 15000"/>
            </a:avLst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Extract</a:t>
            </a:r>
            <a:br/>
            <a:r>
              <a:t>Scop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60320" y="1211580"/>
            <a:ext cx="109728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70048" y="1097280"/>
            <a:ext cx="1097280" cy="411480"/>
          </a:xfrm>
          <a:prstGeom prst="roundRect">
            <a:avLst>
              <a:gd name="adj" fmla="val 15000"/>
            </a:avLst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PET / LLVM</a:t>
            </a:r>
            <a:br/>
            <a:r>
              <a:t>Analysis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781044" y="1211580"/>
            <a:ext cx="109728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90772" y="1097280"/>
            <a:ext cx="1097280" cy="411480"/>
          </a:xfrm>
          <a:prstGeom prst="roundRect">
            <a:avLst>
              <a:gd name="adj" fmla="val 15000"/>
            </a:avLst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Build</a:t>
            </a:r>
            <a:br/>
            <a:r>
              <a:t>Prompt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001768" y="1211580"/>
            <a:ext cx="109728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11496" y="1097280"/>
            <a:ext cx="1097280" cy="411480"/>
          </a:xfrm>
          <a:prstGeom prst="roundRect">
            <a:avLst>
              <a:gd name="adj" fmla="val 15000"/>
            </a:avLst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Claude</a:t>
            </a:r>
            <a:br/>
            <a:r>
              <a:t>Sonnet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222492" y="1211580"/>
            <a:ext cx="109728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32220" y="1097280"/>
            <a:ext cx="1097280" cy="411480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Triton</a:t>
            </a:r>
            <a:br/>
            <a:r>
              <a:t>Code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443216" y="1211580"/>
            <a:ext cx="109728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52944" y="1097280"/>
            <a:ext cx="1097280" cy="411480"/>
          </a:xfrm>
          <a:prstGeom prst="roundRect">
            <a:avLst>
              <a:gd name="adj" fmla="val 15000"/>
            </a:avLst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Test vs</a:t>
            </a:r>
            <a:br/>
            <a:r>
              <a:t>C Ref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defRPr sz="1000" b="1">
                <a:solidFill>
                  <a:srgbClr val="C0392B"/>
                </a:solidFill>
                <a:latin typeface="Calibri"/>
              </a:defRPr>
            </a:pPr>
            <a:r>
              <a:t>5+5 retry strategy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10312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30 Kernels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210312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16 Analysis Modules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210312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Speedup Retry (&lt;0.1x)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210312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29/30 Pass (97%)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defRPr sz="1400" b="1">
                <a:solidFill>
                  <a:srgbClr val="1B2A4A"/>
                </a:solidFill>
                <a:latin typeface="Calibri"/>
              </a:defRPr>
            </a:pPr>
            <a:r>
              <a:t>16 Analysis Modules (PET + LLVM fallback):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291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WAR Dependencies  |  Parallel Dimensions  |  Reduction Detection  |  Scalar Expansion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Stream Patterns  |  Aliasing  |  Overwrites  |  Indirect Addressing  |  Goto Detection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Loop Distribution  |  Loop Interchange  |  Unrolling  |  Reordering  |  Crossing  |  Convolution  |  Early Exit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Scop Extraction: From Polybench to Kernel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defRPr sz="1300" b="0">
                <a:solidFill>
                  <a:srgbClr val="7F8C8D"/>
                </a:solidFill>
                <a:latin typeface="Calibri"/>
              </a:defRPr>
            </a:pPr>
            <a:r>
              <a:t>Each kernel goes through a multi-stage extraction before analysis and LLM prompting.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1097280"/>
            <a:ext cx="1371600" cy="50292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Raw Polybench</a:t>
            </a:r>
            <a:br/>
            <a:r>
              <a:t>gemm.c (147 lines)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572768" y="1257300"/>
            <a:ext cx="256032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74520" y="1097280"/>
            <a:ext cx="1371600" cy="502920"/>
          </a:xfrm>
          <a:prstGeom prst="roundRect">
            <a:avLst>
              <a:gd name="adj" fmla="val 15000"/>
            </a:avLst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Extract Scop</a:t>
            </a:r>
            <a:br/>
            <a:r>
              <a:t>Region + Arrays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64408" y="1257300"/>
            <a:ext cx="256032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66160" y="1097280"/>
            <a:ext cx="1371600" cy="502920"/>
          </a:xfrm>
          <a:prstGeom prst="roundRect">
            <a:avLst>
              <a:gd name="adj" fmla="val 15000"/>
            </a:avLst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Expand Macros</a:t>
            </a:r>
            <a:br/>
            <a:r>
              <a:t>&amp; Globals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56048" y="1257300"/>
            <a:ext cx="256032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57800" y="1097280"/>
            <a:ext cx="1371600" cy="502920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Standalone</a:t>
            </a:r>
            <a:br/>
            <a:r>
              <a:t>gemm.c (27 lines)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647688" y="1257300"/>
            <a:ext cx="256032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949440" y="1097280"/>
            <a:ext cx="1371600" cy="502920"/>
          </a:xfrm>
          <a:prstGeom prst="roundRect">
            <a:avLst>
              <a:gd name="adj" fmla="val 15000"/>
            </a:avLst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PET + LLVM</a:t>
            </a:r>
            <a:br/>
            <a:r>
              <a:t>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8288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defRPr sz="1400" b="1">
                <a:solidFill>
                  <a:srgbClr val="C0392B"/>
                </a:solidFill>
                <a:latin typeface="Calibri"/>
              </a:defRPr>
            </a:pPr>
            <a:r>
              <a:t>Removed (Polybench infrastructure):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14884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main(), init_array(), print_array()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POLYBENCH_2D/3D array macros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_PB_NI, _PB_NJ, ... bound macros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DATA_TYPE casts, SCALAR_VAL() wrappers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polybench.h timing 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828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defRPr sz="1400" b="1">
                <a:solidFill>
                  <a:srgbClr val="27AE60"/>
                </a:solidFill>
                <a:latin typeface="Calibri"/>
              </a:defRPr>
            </a:pPr>
            <a:r>
              <a:t>Kept / Generated: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14884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#pragma scop region (the computation)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#define NI 60, NJ 70, NK 80 (sizes)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Global arrays: float C[NI][NJ], ...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Global scalars: float alpha = 1.5f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Iteration variables: int i, j, 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49039"/>
            <a:ext cx="8229600" cy="1097280"/>
          </a:xfrm>
          <a:prstGeom prst="roundRect">
            <a:avLst>
              <a:gd name="adj" fmla="val 5000"/>
            </a:avLst>
          </a:prstGeom>
          <a:solidFill>
            <a:srgbClr val="EBF5FB"/>
          </a:solidFill>
          <a:ln w="12700"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/>
            <a:r>
              <a:rPr b="1" sz="1200">
                <a:solidFill>
                  <a:srgbClr val="2E5C8A"/>
                </a:solidFill>
                <a:latin typeface="Calibri"/>
              </a:rPr>
              <a:t>Why global arrays? </a:t>
            </a:r>
            <a:r>
              <a:rPr sz="1100">
                <a:solidFill>
                  <a:srgbClr val="2C3E50"/>
                </a:solidFill>
                <a:latin typeface="Calibri"/>
              </a:rPr>
              <a:t>PET requires standalone files with known array sizes. By using #define constants and global declarations, PET can build the polyhedral model with exact iteration domains (e.g., { S[i,j] : 0 &lt;= i &lt; 60 and 0 &lt;= j &lt; 70 }).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2E5C8A"/>
                </a:solidFill>
                <a:latin typeface="Calibri"/>
              </a:rPr>
              <a:t>30 kernels configured: </a:t>
            </a:r>
            <a:r>
              <a:rPr sz="1100">
                <a:solidFill>
                  <a:srgbClr val="2C3E50"/>
                </a:solidFill>
                <a:latin typeface="Calibri"/>
              </a:rPr>
              <a:t>Each kernel has a config entry specifying: path, dimension sizes, macro mappings, data type, extra globals (scalars), and any math replacements.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GEMM Example: Before &amp; After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defRPr sz="1200" b="1">
                <a:solidFill>
                  <a:srgbClr val="C0392B"/>
                </a:solidFill>
                <a:latin typeface="Calibri"/>
              </a:defRPr>
            </a:pPr>
            <a:r>
              <a:t>Raw Polybench gemm.c (kernel function):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51560"/>
            <a:ext cx="4160520" cy="246888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void kernel_gemm(int ni, int nj, int nk,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DATA_TYPE alpha, DATA_TYPE beta,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DATA_TYPE POLYBENCH_2D(C,NI,NJ,ni,nj),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DATA_TYPE POLYBENCH_2D(A,NI,NK,ni,nk),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DATA_TYPE POLYBENCH_2D(B,NK,NJ,nk,nj))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{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int i, j, k;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#pragma scop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for (i = 0; i &lt; _PB_NI; i++) {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for (j = 0; j &lt; _PB_NJ; j++)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  C[i][j] *= beta;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for (k = 0; k &lt; _PB_NK; k++) {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   for (j = 0; j &lt; _PB_NJ; j++)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     C[i][j] += alpha*A[i][k]*B[k][j];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}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}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#pragma endscop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611880"/>
            <a:ext cx="4160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C0392B"/>
                </a:solidFill>
                <a:latin typeface="Calibri"/>
              </a:rPr>
              <a:t>POLYBENCH_2D: complex macro for arrays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C0392B"/>
                </a:solidFill>
                <a:latin typeface="Calibri"/>
              </a:rPr>
              <a:t>_PB_NI, _PB_NK: indirect bound macros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C0392B"/>
                </a:solidFill>
                <a:latin typeface="Calibri"/>
              </a:rPr>
              <a:t>DATA_TYPE: typedef (float/double)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C0392B"/>
                </a:solidFill>
                <a:latin typeface="Calibri"/>
              </a:rPr>
              <a:t>+ 80 lines of main/init/print boilerplate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77724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defRPr sz="1200" b="1">
                <a:solidFill>
                  <a:srgbClr val="27AE60"/>
                </a:solidFill>
                <a:latin typeface="Calibri"/>
              </a:defRPr>
            </a:pPr>
            <a:r>
              <a:t>Extracted standalone gemm.c: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051560"/>
            <a:ext cx="4160520" cy="338328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#include &lt;math.h&gt;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#define NI 60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#define NJ 70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#define NK 80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float C[NI][NJ];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float A[NI][NK];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float B[NK][NJ];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float alpha = 1.5f;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float beta = 1.2f;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void gemm_kernel() {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int i, j, k;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#pragma scop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for (i = 0; i &lt; NI; i++) {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for (j = 0; j &lt; NJ; j++)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  C[i][j] *= beta;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for (k = 0; k &lt; NK; k++) {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   for (j = 0; j &lt; NJ; j++)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     C[i][j] += alpha*A[i][k]*B[k][j];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}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}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#pragma endscop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462272" y="2103120"/>
            <a:ext cx="256032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320" y="4617720"/>
            <a:ext cx="8686800" cy="365760"/>
          </a:xfrm>
          <a:prstGeom prst="roundRect">
            <a:avLst>
              <a:gd name="adj" fmla="val 10000"/>
            </a:avLst>
          </a:prstGeom>
          <a:solidFill>
            <a:srgbClr val="E8F8F5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b="1" sz="1200">
                <a:solidFill>
                  <a:srgbClr val="27AE60"/>
                </a:solidFill>
                <a:latin typeface="Calibri"/>
              </a:rPr>
              <a:t>147 lines -&gt; 27 lines: </a:t>
            </a:r>
            <a:r>
              <a:rPr sz="1200">
                <a:solidFill>
                  <a:srgbClr val="2C3E50"/>
                </a:solidFill>
                <a:latin typeface="Calibri"/>
              </a:rPr>
              <a:t>Same computation, zero boilerplate. Ready for PET polyhedral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From Kernel to LLM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defRPr sz="1300" b="0">
                <a:solidFill>
                  <a:srgbClr val="7F8C8D"/>
                </a:solidFill>
                <a:latin typeface="Calibri"/>
              </a:defRPr>
            </a:pPr>
            <a:r>
              <a:t>The extracted kernel feeds two paths that merge into the final prompt.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554480"/>
            <a:ext cx="1188720" cy="45720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gemm.c</a:t>
            </a:r>
            <a:br/>
            <a:r>
              <a:t>(extracted)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508760" y="1325880"/>
            <a:ext cx="228600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83080" y="1188720"/>
            <a:ext cx="1463040" cy="457200"/>
          </a:xfrm>
          <a:prstGeom prst="roundRect">
            <a:avLst>
              <a:gd name="adj" fmla="val 15000"/>
            </a:avLst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PET + LLVM</a:t>
            </a:r>
            <a:br/>
            <a:r>
              <a:t>Analysis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91840" y="1325880"/>
            <a:ext cx="228600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66160" y="1188720"/>
            <a:ext cx="1371600" cy="457200"/>
          </a:xfrm>
          <a:prstGeom prst="roundRect">
            <a:avLst>
              <a:gd name="adj" fmla="val 15000"/>
            </a:avLst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WAR, ParDims</a:t>
            </a:r>
            <a:br/>
            <a:r>
              <a:t>Reduction, ...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508760" y="2240280"/>
            <a:ext cx="228600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83080" y="2103120"/>
            <a:ext cx="1463040" cy="457200"/>
          </a:xfrm>
          <a:prstGeom prst="roundRect">
            <a:avLst>
              <a:gd name="adj" fmla="val 15000"/>
            </a:avLst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Function Spec</a:t>
            </a:r>
            <a:br/>
            <a:r>
              <a:t>Database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91840" y="2240280"/>
            <a:ext cx="228600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66160" y="2103120"/>
            <a:ext cx="1371600" cy="457200"/>
          </a:xfrm>
          <a:prstGeom prst="roundRect">
            <a:avLst>
              <a:gd name="adj" fmla="val 15000"/>
            </a:avLst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arrays, scalars</a:t>
            </a:r>
            <a:br/>
            <a:r>
              <a:t>signature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983480" y="1783080"/>
            <a:ext cx="228600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257800" y="1645920"/>
            <a:ext cx="1280160" cy="457200"/>
          </a:xfrm>
          <a:prstGeom prst="roundRect">
            <a:avLst>
              <a:gd name="adj" fmla="val 15000"/>
            </a:avLst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Build</a:t>
            </a:r>
            <a:br/>
            <a:r>
              <a:t>Prompt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583680" y="1783080"/>
            <a:ext cx="228600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0" y="16459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Claude</a:t>
            </a:r>
            <a:br/>
            <a:r>
              <a:t>Sonnet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278892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defRPr sz="1400" b="1">
                <a:solidFill>
                  <a:srgbClr val="1B2A4A"/>
                </a:solidFill>
                <a:latin typeface="Calibri"/>
              </a:defRPr>
            </a:pPr>
            <a:r>
              <a:t>Final Prompt Structure (GEMM, 7 sections):</a:t>
            </a:r>
          </a:p>
        </p:txBody>
      </p:sp>
      <p:sp>
        <p:nvSpPr>
          <p:cNvPr id="18" name="Oval 17"/>
          <p:cNvSpPr/>
          <p:nvPr/>
        </p:nvSpPr>
        <p:spPr>
          <a:xfrm>
            <a:off x="320040" y="3081528"/>
            <a:ext cx="201168" cy="201168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06324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defRPr sz="1000" b="1">
                <a:solidFill>
                  <a:srgbClr val="1B2A4A"/>
                </a:solidFill>
                <a:latin typeface="Calibri"/>
              </a:defRPr>
            </a:pPr>
            <a:r>
              <a:t>C Source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3063240"/>
            <a:ext cx="6675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defRPr sz="900" b="0">
                <a:solidFill>
                  <a:srgbClr val="2C3E50"/>
                </a:solidFill>
                <a:latin typeface="Calibri"/>
              </a:defRPr>
            </a:pPr>
            <a:r>
              <a:t>Full extracted gemm.c (27 lines, with globals + scop)</a:t>
            </a:r>
          </a:p>
        </p:txBody>
      </p:sp>
      <p:sp>
        <p:nvSpPr>
          <p:cNvPr id="21" name="Oval 20"/>
          <p:cNvSpPr/>
          <p:nvPr/>
        </p:nvSpPr>
        <p:spPr>
          <a:xfrm>
            <a:off x="320040" y="3328416"/>
            <a:ext cx="201168" cy="201168"/>
          </a:xfrm>
          <a:prstGeom prst="ellipse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31012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defRPr sz="1000" b="1">
                <a:solidFill>
                  <a:srgbClr val="2E5C8A"/>
                </a:solidFill>
                <a:latin typeface="Calibri"/>
              </a:defRPr>
            </a:pPr>
            <a:r>
              <a:t>Loop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3310128"/>
            <a:ext cx="6675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defRPr sz="900" b="0">
                <a:solidFill>
                  <a:srgbClr val="2C3E50"/>
                </a:solidFill>
                <a:latin typeface="Calibri"/>
              </a:defRPr>
            </a:pPr>
            <a:r>
              <a:t>The #pragma scop region: "this is what you must implement"</a:t>
            </a:r>
          </a:p>
        </p:txBody>
      </p:sp>
      <p:sp>
        <p:nvSpPr>
          <p:cNvPr id="24" name="Oval 23"/>
          <p:cNvSpPr/>
          <p:nvPr/>
        </p:nvSpPr>
        <p:spPr>
          <a:xfrm>
            <a:off x="320040" y="3575304"/>
            <a:ext cx="201168" cy="201168"/>
          </a:xfrm>
          <a:prstGeom prst="ellipse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557016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defRPr sz="1000" b="1">
                <a:solidFill>
                  <a:srgbClr val="3A7CBD"/>
                </a:solidFill>
                <a:latin typeface="Calibri"/>
              </a:defRPr>
            </a:pPr>
            <a:r>
              <a:t>Analysis 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3557016"/>
            <a:ext cx="6675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defRPr sz="900" b="0">
                <a:solidFill>
                  <a:srgbClr val="2C3E50"/>
                </a:solidFill>
                <a:latin typeface="Calibri"/>
              </a:defRPr>
            </a:pPr>
            <a:r>
              <a:t>WAR: none | ParDims: i,j parallel, k reduction | Reduction: dot product</a:t>
            </a:r>
          </a:p>
        </p:txBody>
      </p:sp>
      <p:sp>
        <p:nvSpPr>
          <p:cNvPr id="27" name="Oval 26"/>
          <p:cNvSpPr/>
          <p:nvPr/>
        </p:nvSpPr>
        <p:spPr>
          <a:xfrm>
            <a:off x="320040" y="3822192"/>
            <a:ext cx="201168" cy="201168"/>
          </a:xfrm>
          <a:prstGeom prst="ellipse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803904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defRPr sz="1000" b="1">
                <a:solidFill>
                  <a:srgbClr val="2E5C8A"/>
                </a:solidFill>
                <a:latin typeface="Calibri"/>
              </a:defRPr>
            </a:pPr>
            <a:r>
              <a:t>Array Info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3803904"/>
            <a:ext cx="6675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defRPr sz="900" b="0">
                <a:solidFill>
                  <a:srgbClr val="2C3E50"/>
                </a:solidFill>
                <a:latin typeface="Calibri"/>
              </a:defRPr>
            </a:pPr>
            <a:r>
              <a:t>C: read-write | A: read-only | B: read-only</a:t>
            </a:r>
          </a:p>
        </p:txBody>
      </p:sp>
      <p:sp>
        <p:nvSpPr>
          <p:cNvPr id="30" name="Oval 29"/>
          <p:cNvSpPr/>
          <p:nvPr/>
        </p:nvSpPr>
        <p:spPr>
          <a:xfrm>
            <a:off x="320040" y="4069080"/>
            <a:ext cx="201168" cy="201168"/>
          </a:xfrm>
          <a:prstGeom prst="ellipse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05079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defRPr sz="1000" b="1">
                <a:solidFill>
                  <a:srgbClr val="3A7CBD"/>
                </a:solidFill>
                <a:latin typeface="Calibri"/>
              </a:defRPr>
            </a:pPr>
            <a:r>
              <a:t>Dimensions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4050792"/>
            <a:ext cx="6675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defRPr sz="900" b="0">
                <a:solidFill>
                  <a:srgbClr val="2C3E50"/>
                </a:solidFill>
                <a:latin typeface="Calibri"/>
              </a:defRPr>
            </a:pPr>
            <a:r>
              <a:t>NI=60, NJ=70, NK=80 (compile-time in C -&gt; runtime in Triton)</a:t>
            </a:r>
          </a:p>
        </p:txBody>
      </p:sp>
      <p:sp>
        <p:nvSpPr>
          <p:cNvPr id="33" name="Oval 32"/>
          <p:cNvSpPr/>
          <p:nvPr/>
        </p:nvSpPr>
        <p:spPr>
          <a:xfrm>
            <a:off x="320040" y="4315968"/>
            <a:ext cx="201168" cy="201168"/>
          </a:xfrm>
          <a:prstGeom prst="ellipse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29768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defRPr sz="1000" b="1">
                <a:solidFill>
                  <a:srgbClr val="2E5C8A"/>
                </a:solidFill>
                <a:latin typeface="Calibri"/>
              </a:defRPr>
            </a:pPr>
            <a:r>
              <a:t>Exact Signature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4560" y="4297680"/>
            <a:ext cx="6675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defRPr sz="900" b="0">
                <a:solidFill>
                  <a:srgbClr val="2C3E50"/>
                </a:solidFill>
                <a:latin typeface="Calibri"/>
              </a:defRPr>
            </a:pPr>
            <a:r>
              <a:t>def gemm_triton(C, A, B, alpha, beta, NI, NJ, NK)</a:t>
            </a:r>
          </a:p>
        </p:txBody>
      </p:sp>
      <p:sp>
        <p:nvSpPr>
          <p:cNvPr id="36" name="Oval 35"/>
          <p:cNvSpPr/>
          <p:nvPr/>
        </p:nvSpPr>
        <p:spPr>
          <a:xfrm>
            <a:off x="320040" y="4562856"/>
            <a:ext cx="201168" cy="201168"/>
          </a:xfrm>
          <a:prstGeom prst="ellipse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54456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defRPr sz="1000" b="1">
                <a:solidFill>
                  <a:srgbClr val="E87D2F"/>
                </a:solidFill>
                <a:latin typeface="Calibri"/>
              </a:defRPr>
            </a:pPr>
            <a:r>
              <a:t>Triton Rules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4544568"/>
            <a:ext cx="6675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defRPr sz="900" b="0">
                <a:solidFill>
                  <a:srgbClr val="2C3E50"/>
                </a:solidFill>
                <a:latin typeface="Calibri"/>
              </a:defRPr>
            </a:pPr>
            <a:r>
              <a:t>constexpr block sizes, tl.arange outside loops, masked loads, ...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defRPr sz="1000" b="1">
                <a:solidFill>
                  <a:srgbClr val="2E5C8A"/>
                </a:solidFill>
                <a:latin typeface="Calibri"/>
              </a:defRPr>
            </a:pPr>
            <a:r>
              <a:t>The scop region tells the LLM exactly which computation to convert. Analysis tells it HOW to parallelize safely.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Analysis Impact: All 30 Kernels Compared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defRPr sz="1200" b="0">
                <a:solidFill>
                  <a:srgbClr val="7F8C8D"/>
                </a:solidFill>
                <a:latin typeface="Calibri"/>
              </a:defRPr>
            </a:pPr>
            <a:r>
              <a:t>All kernels receive analysis (ParDims + WAR + ScalarExp + Reduction + GPUStrat).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005840"/>
          <a:ext cx="694944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828800"/>
                <a:gridCol w="1371600"/>
                <a:gridCol w="1371600"/>
                <a:gridCol w="1188720"/>
              </a:tblGrid>
              <a:tr h="25603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Kernel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Modules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With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W/O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Winner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heat_3d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ParDims(N-D)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Y(2) 9.00x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Y(2) 3.35x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W/ (+2.7x)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ludcmp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ScalarExp+GPUStrat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Y(5) 5.65x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Y(2) 0.39x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W/ (+14x)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doitgen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ParDims(N-D)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Y(3) 4.91x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Y(10) 0.06x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W/ (+82x)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covariance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ParDims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Y(6) 4.07x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Y(2) 1.00x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W/ (+4.1x)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trmm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WAR+ParDims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3.81x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N(10)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W/ (pass)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symm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ScalarExp+Red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2.39x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N(10)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W/ (pass)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trisolv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1.77x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Y(2) 0.55x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W/ (+3.2x)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jacobi_1d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ParDims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1.81x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0.13x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W/ (+14x)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durbin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ScalarExp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Y(2) 1.30x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Y(2) 0.21x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W/ (+6.2x)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cholesky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WAR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Y(5) 1.52x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Y(3) 0.12x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W/ (+13x)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seidel_2d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WAR+ParDims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Y(3) 0.12x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N(10)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W/ (pass)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828800" y="4572000"/>
            <a:ext cx="5486400" cy="411480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Analysis wins 12/30  |  +3 pass  |  30/30 vs 27/30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Analysis Win: WAR Clone Pattern (trisolv, trmm)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defRPr sz="1100" b="1">
                <a:solidFill>
                  <a:srgbClr val="2E5C8A"/>
                </a:solidFill>
                <a:latin typeface="Calibri"/>
              </a:defRPr>
            </a:pPr>
            <a:r>
              <a:t>trisolv (1.68x vs FAIL) -- forward substitution: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51560"/>
            <a:ext cx="4114800" cy="109728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for (i = 0; i &lt; N; i++) {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x[i] = b[i];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for (j = 0; j &lt; i; j++)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  x[i] -= L[i][j] * x[j];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x[i] = x[i] / L[i][i];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19456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defRPr sz="1000" b="1">
                <a:solidFill>
                  <a:srgbClr val="1B2A4A"/>
                </a:solidFill>
                <a:latin typeface="Calibri"/>
              </a:defRPr>
            </a:pPr>
            <a:r>
              <a:t>Injected analysis: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377440"/>
            <a:ext cx="4114800" cy="141732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## WAR Dependencies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Arrays needing read-only copies: x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Read x[(j)] may conflict with Write x[(i)]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Pattern: x_copy = x.clone()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## Parallelization Analysis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Triangular bounds: j &lt; i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- Parallelize j, sequential i: VALID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- Parallelize i, sequential j: VALID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840480"/>
            <a:ext cx="1920240" cy="274320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With: Y(1) 1.68x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3840480"/>
            <a:ext cx="2103120" cy="274320"/>
          </a:xfrm>
          <a:prstGeom prst="roundRect">
            <a:avLst>
              <a:gd name="adj" fmla="val 15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Without: FAIL (10 att)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77724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defRPr sz="1100" b="1">
                <a:solidFill>
                  <a:srgbClr val="2E5C8A"/>
                </a:solidFill>
                <a:latin typeface="Calibri"/>
              </a:defRPr>
            </a:pPr>
            <a:r>
              <a:t>trmm (3.90x vs 1.43x) -- triangular matmul: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051560"/>
            <a:ext cx="4206240" cy="109728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for (i = 0; i &lt; M; i++)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for (j = 0; j &lt; N; j++) {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  for (k = i+1; k &lt; M; k++)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    B[i][j] += A[k][i] * B[k][j];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  B[i][j] = alpha * B[i][j];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194560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defRPr sz="1000" b="1">
                <a:solidFill>
                  <a:srgbClr val="1B2A4A"/>
                </a:solidFill>
                <a:latin typeface="Calibri"/>
              </a:defRPr>
            </a:pPr>
            <a:r>
              <a:t>Injected analysis: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2377440"/>
            <a:ext cx="4206240" cy="141732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## WAR Dependencies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B: WAR carried by loops i, k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- Parallelizing j: SAFE (no copy needed)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- Parallelizing i: REQUIRES B_copy = B.clone()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## WAR + Parallelization Recommendation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RECOMMENDED: Parallelize j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-- no WAR copies needed for 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3840480"/>
            <a:ext cx="1920240" cy="274320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With: Y(1) 3.90x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3840480"/>
            <a:ext cx="2194560" cy="274320"/>
          </a:xfrm>
          <a:prstGeom prst="roundRect">
            <a:avLst>
              <a:gd name="adj" fmla="val 15000"/>
            </a:avLst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Without: Y(3) 1.43x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25196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defRPr sz="1000" b="0">
                <a:solidFill>
                  <a:srgbClr val="7F8C8D"/>
                </a:solidFill>
                <a:latin typeface="Calibri"/>
              </a:defRPr>
            </a:pPr>
            <a:r>
              <a:t>WAR analysis tells the LLM exactly which arrays to clone and which dimensions are safe to parallelize.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Analysis Win: WAR + ParDims (lu, seidel_2d)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defRPr sz="1100" b="1">
                <a:solidFill>
                  <a:srgbClr val="2E5C8A"/>
                </a:solidFill>
                <a:latin typeface="Calibri"/>
              </a:defRPr>
            </a:pPr>
            <a:r>
              <a:t>lu (0.35x vs 0.20x) -- LU decomposition: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24128"/>
            <a:ext cx="4114800" cy="137160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for (i = 0; i &lt; N; i++) {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for (j = 0; j &lt; i; j++) {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for (k = 0; k &lt; j; k++)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  A[i][j] -= A[i][k] * A[k][j];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A[i][j] /= A[j][j];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}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for (j = i; j &lt; N; j++)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for (k = 0; k &lt; i; k++)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  A[i][j] -= A[i][k] * A[k][j];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468880"/>
            <a:ext cx="4114800" cy="105156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## WAR Dependencies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Arrays needing copies: A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Read A[(i),(k)] conflicts with Write A[(i),(j)]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Read A[(k),(j)] conflicts with Write A[(i),(j)]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Pattern: A_copy = A.clone()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## ParDims: Triangular j &lt; i, both VALID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3566160"/>
            <a:ext cx="1920240" cy="274320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With: Y(7) 0.35x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3566160"/>
            <a:ext cx="2103120" cy="274320"/>
          </a:xfrm>
          <a:prstGeom prst="roundRect">
            <a:avLst>
              <a:gd name="adj" fmla="val 15000"/>
            </a:avLst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Without: Y(2) 0.20x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77724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defRPr sz="1100" b="1">
                <a:solidFill>
                  <a:srgbClr val="2E5C8A"/>
                </a:solidFill>
                <a:latin typeface="Calibri"/>
              </a:defRPr>
            </a:pPr>
            <a:r>
              <a:t>seidel_2d (0.13x vs FAIL) -- Gauss-Seidel: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024128"/>
            <a:ext cx="4206240" cy="100584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for (t = 0; t &lt; TSTEPS; t++)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for (i = 1; i &lt; N-1; i++)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for (j = 1; j &lt; N-1; j++)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A[i][j] = (A[i-1][j-1]+...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 +A[i+1][j+1]) / 9;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2103120"/>
            <a:ext cx="4206240" cy="141732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## WAR Dependencies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A: 5 read-write conflicts on stencil neighbors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Pattern: A_copy = A.clone()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## Parallelization Analysis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- Parallelize i, seq t: INVALID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Chain dep: read [i-1][j] vs write [i][j]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-&gt; 6 detailed dependency explanations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- Parallelize t, seq i: VALID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3566160"/>
            <a:ext cx="1920240" cy="274320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With: Y(4) 0.13x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3566160"/>
            <a:ext cx="2194560" cy="274320"/>
          </a:xfrm>
          <a:prstGeom prst="roundRect">
            <a:avLst>
              <a:gd name="adj" fmla="val 15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Without: FAIL (10 att)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977639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defRPr sz="900" b="0">
                <a:solidFill>
                  <a:srgbClr val="7F8C8D"/>
                </a:solidFill>
                <a:latin typeface="Calibri"/>
              </a:defRPr>
            </a:pPr>
            <a:r>
              <a:t>For seidel_2d, ParDims explicitly marks i-parallel as INVALID with 6 chain dependency explanations. This steers the LLM to keep i sequential and only parallelize t. Without this, the LLM parallelizes i and produces wrong results.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Analysis Win: Scalar Expansion (deriche, 5.42x vs 0.11x)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defRPr sz="1100" b="1">
                <a:solidFill>
                  <a:srgbClr val="2E5C8A"/>
                </a:solidFill>
                <a:latin typeface="Calibri"/>
              </a:defRPr>
            </a:pPr>
            <a:r>
              <a:t>deriche -- edge detection (IIR filter):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51560"/>
            <a:ext cx="4114800" cy="150876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for (i = 0; i &lt; W; i++) {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ym1 = 0; ym2 = 0; xm1 = 0;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for (j = 0; j &lt; H; j++) {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  yy1[i][j] = a1*imgIn[i][j]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     + a2*xm1 + b1*ym1 + b2*ym2;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  xm1 = imgIn[i][j];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  ym2 = ym1;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  ym1 = yy1[i][j];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}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} // + 5 more similar filter passes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77724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defRPr sz="1100" b="1">
                <a:solidFill>
                  <a:srgbClr val="1B2A4A"/>
                </a:solidFill>
                <a:latin typeface="Calibri"/>
              </a:defRPr>
            </a:pPr>
            <a:r>
              <a:t>Injected analysis: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051560"/>
            <a:ext cx="4206240" cy="274320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## Parallelization Analysis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Loop dims: [i, j]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- Parallelize j, seq i: VALID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- Parallelize i, seq j: VALID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## SCALAR EXPANSION PATTERN DETECTED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6 scalar variables with loop-carried deps: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Variable: xm1 (direct_expansion)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  Simply replace with indexed expression.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Variable: tm1 (direct_expansion)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  Simply replace with indexed expression.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Variable: ym1 (direct_expansion)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  Simply replace with indexed expression.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Variable: xp1 (direct_expansion)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  Simply replace with indexed expression.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Variable: tp1 (direct_expansion)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  Simply replace with indexed expression.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Variable: yp1 (direct_expansion)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  Simply replace with indexed expression.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65176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6 scalars carry values across j iterations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Without analysis: LLM doesn't privatize them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  -&gt; Race conditions, wrong results, 0.11x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With analysis: LLM expands to per-thread arrays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  -&gt; Correct parallel code, 5.42x speedup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794760"/>
            <a:ext cx="1920240" cy="320040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With: Y(8) 5.42x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3794760"/>
            <a:ext cx="2103120" cy="320040"/>
          </a:xfrm>
          <a:prstGeom prst="roundRect">
            <a:avLst>
              <a:gd name="adj" fmla="val 15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Without: Y(3) 0.11x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25196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defRPr sz="1000" b="0">
                <a:solidFill>
                  <a:srgbClr val="7F8C8D"/>
                </a:solidFill>
                <a:latin typeface="Calibri"/>
              </a:defRPr>
            </a:pPr>
            <a:r>
              <a:t>Largest analysis benefit: 49x performance improvement. ScalarExp identifies loop-carried deps the LLM misses.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Analysis Win: Scalar Expansion (durbin, symm)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defRPr sz="1100" b="1">
                <a:solidFill>
                  <a:srgbClr val="2E5C8A"/>
                </a:solidFill>
                <a:latin typeface="Calibri"/>
              </a:defRPr>
            </a:pPr>
            <a:r>
              <a:t>durbin (1.29x vs 0.21x) -- Levinson-Durbin: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defRPr sz="1000" b="1">
                <a:solidFill>
                  <a:srgbClr val="1B2A4A"/>
                </a:solidFill>
                <a:latin typeface="Calibri"/>
              </a:defRPr>
            </a:pPr>
            <a:r>
              <a:t>Injected analysis: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34440"/>
            <a:ext cx="4114800" cy="228600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## Parallelization Analysis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Dims: [k, i], Triangular: i &lt; k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- Parallelize i, seq k: VALID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- Parallelize k, seq i: VALID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## SCALAR EXPANSION DETECTED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Variable: alpha (previous_value)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  alpha carries previous iteration's value.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  Replace with: -(r[k-1]+sum)/beta (for k&gt;0)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  Initial: alpha = -r[0] (for k=0)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  After substitution: FULLY PARALLEL.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  No scan or sequential phase needed!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Variable: sum (direct_expansion)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  Simply replace with indexed expression.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3566160"/>
            <a:ext cx="1920240" cy="274320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With: Y(1) 1.29x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3566160"/>
            <a:ext cx="2103120" cy="274320"/>
          </a:xfrm>
          <a:prstGeom prst="roundRect">
            <a:avLst>
              <a:gd name="adj" fmla="val 15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Without: Y(1) 0.21x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77724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defRPr sz="1100" b="1">
                <a:solidFill>
                  <a:srgbClr val="2E5C8A"/>
                </a:solidFill>
                <a:latin typeface="Calibri"/>
              </a:defRPr>
            </a:pPr>
            <a:r>
              <a:t>symm (2.00x vs 1.16x) -- symmetric matmul: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051560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defRPr sz="1000" b="1">
                <a:solidFill>
                  <a:srgbClr val="1B2A4A"/>
                </a:solidFill>
                <a:latin typeface="Calibri"/>
              </a:defRPr>
            </a:pPr>
            <a:r>
              <a:t>Injected analysis: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234440"/>
            <a:ext cx="4206240" cy="228600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## Parallelization Analysis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Dims: [i, j]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- Parallelize j, seq i: VALID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- Parallelize i, seq j: VALID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## SCALAR EXPANSION DETECTED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Variable: temp2 (direct_expansion)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  Simply replace with indexed expression.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## Reduction Pattern Analysis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Detected: Sum Reduction (+= operator)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Use tl.sum() for parallel reduction: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  vals = tl.load(a_ptr + offsets, mask=mask)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  block_sum = tl.sum(vals, axis=0)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3566160"/>
            <a:ext cx="1920240" cy="274320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With: Y(2) 2.00x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3566160"/>
            <a:ext cx="2194560" cy="274320"/>
          </a:xfrm>
          <a:prstGeom prst="roundRect">
            <a:avLst>
              <a:gd name="adj" fmla="val 15000"/>
            </a:avLst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Without: Y(1) 1.16x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0233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defRPr sz="900" b="0">
                <a:solidFill>
                  <a:srgbClr val="7F8C8D"/>
                </a:solidFill>
                <a:latin typeface="Calibri"/>
              </a:defRPr>
            </a:pPr>
            <a:r>
              <a:t>durbin: Previous-value forwarding eliminates sequential dependency. symm: Three analysis modules combine (ParDims + ScalarExp + Reduction) for correct parallelization.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Analysis Module Impact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defRPr sz="1100" b="0">
                <a:solidFill>
                  <a:srgbClr val="7F8C8D"/>
                </a:solidFill>
                <a:latin typeface="Calibri"/>
              </a:defRPr>
            </a:pPr>
            <a:r>
              <a:t>For each winning kernel: which analysis modules were injected and what they told the LLM.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005840"/>
          <a:ext cx="8778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31520"/>
                <a:gridCol w="731520"/>
                <a:gridCol w="1097280"/>
                <a:gridCol w="512064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Kernel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With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W/O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Modules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Instruction to LLM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deriche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5.42x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0.11x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ScalarExp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6 loop-carried scalars: direct expansion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trmm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3.90x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1.43x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WAR+LLVM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RECOMMENDED: parallelize j (no clone needed)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symm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2.00x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1.16x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ScExp+Red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temp2 expansion + tl.sum() reduction pattern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trisolv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1.68x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FAIL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WAR+Par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x_copy = x.clone(); triangular j &lt; i bounds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durbin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1.29x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ScalarExp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alpha: previous-value forwarding (no scan)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lu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0.35x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0.20x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WAR+Par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A_copy = A.clone(); triangular j &lt; i both VALID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seidel_2d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0.13x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WAR+Par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i-parallel INVALID (6 chain deps); only t VALID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4747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defRPr sz="1200" b="1">
                <a:solidFill>
                  <a:srgbClr val="1B2A4A"/>
                </a:solidFill>
                <a:latin typeface="Calibri"/>
              </a:defRPr>
            </a:pPr>
            <a:r>
              <a:t>Analysis Module Breakdown: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WAR (5 kernels): Clone arrays before parallel region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ParDims (5 kernels): Which dims safe to parallelize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ScalarExp (4 kernels): Eliminate loop-carried scalars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749039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Reduction (1 kernel): Use tl.sum() pattern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LLVM DVs (1 kernel): Per-dim WAR scoping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Most impactful: ScalarExp (deriche +49x)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N-D ParDims Fix: heat_3d 9.0x vs seidel_2d 0.12x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defRPr sz="1200" b="1">
                <a:solidFill>
                  <a:srgbClr val="27AE60"/>
                </a:solidFill>
                <a:latin typeface="Calibri"/>
              </a:defRPr>
            </a:pPr>
            <a:r>
              <a:t>heat_3d -- 3D Jacobi stencil (9.0x speedup):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51560"/>
            <a:ext cx="4114800" cy="150876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for (t = 1; t &lt;= TSTEPS; t++) {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for (i,j,k)  // Loop nest 1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B[i][j][k] = 0.125*(A[i+1][j][k]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  - 2*A[i][j][k] + A[i-1][j][k])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  + ... + A[i][j][k];  // 7-pt stencil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for (i,j,k)  // Loop nest 2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A[i][j][k] = 0.125*(B[i+1][j][k]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  - 2*B[i][j][k] + B[i-1][j][k])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  + ... + B[i][j][k];  // 7-pt stencil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606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defRPr sz="1200" b="1">
                <a:solidFill>
                  <a:srgbClr val="27AE60"/>
                </a:solidFill>
                <a:latin typeface="Calibri"/>
              </a:defRPr>
            </a:pPr>
            <a:r>
              <a:t>N-D ParDims fix (was FAIL, now 9.0x):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88036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Old: dims=['t','i'] (truncated to 2D)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  -&gt; LLM only parallelizes i, fails 10/10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New: dims=['t','i','j','k'] (full N-D)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  -&gt; LLM linearizes i*j*k, passes 9.0x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840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defRPr sz="1200" b="1">
                <a:solidFill>
                  <a:srgbClr val="2E5C8A"/>
                </a:solidFill>
                <a:latin typeface="Calibri"/>
              </a:defRPr>
            </a:pPr>
            <a:r>
              <a:t>Double-buffering: no WAR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1148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Nest 1: reads A, writes B (different arrays)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Nest 2: reads B, writes A (different arrays)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77724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defRPr sz="1200" b="1">
                <a:solidFill>
                  <a:srgbClr val="2E5C8A"/>
                </a:solidFill>
                <a:latin typeface="Calibri"/>
              </a:defRPr>
            </a:pPr>
            <a:r>
              <a:t>seidel_2d -- Gauss-Seidel stencil (0.12x):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051560"/>
            <a:ext cx="4206240" cy="150876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for (t = 0; t &lt;= TSTEPS - 1; t++)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for (i = 1; i &lt;= N - 2; i++)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for (j = 1; j &lt;= N - 2; j++)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  A[i][j] = (A[i-1][j-1] + A[i-1][j]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    + A[i-1][j+1] + A[i][j-1]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    + A[i][j]     + A[i][j+1]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    + A[i+1][j-1] + A[i+1][j]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    + A[i+1][j+1]) / 9.0;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60604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defRPr sz="1200" b="1">
                <a:solidFill>
                  <a:srgbClr val="C0392B"/>
                </a:solidFill>
                <a:latin typeface="Calibri"/>
              </a:defRPr>
            </a:pPr>
            <a:r>
              <a:t>Why it's inherently sequential: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88036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Single loop nest -- reads &amp; writes SAME array A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8 WAR deps: A[i-1][j-1]...A[i+1][j+1]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Gauss-Seidel NEEDS updated neighbor values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Clone -&gt; Jacobi (different algorithm, wrong result)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754880" y="3749039"/>
          <a:ext cx="411480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320039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Kernel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Parallelizable?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heat_3d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Yes (Jacobi)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PASS 9.0x (N-D fix)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seidel_2d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No (Gauss-Seidel)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0.12x (sequential)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274320" y="4572000"/>
            <a:ext cx="8686800" cy="411480"/>
          </a:xfrm>
          <a:prstGeom prst="roundRect">
            <a:avLst>
              <a:gd name="adj" fmla="val 8000"/>
            </a:avLst>
          </a:prstGeom>
          <a:solidFill>
            <a:srgbClr val="FDF2E9"/>
          </a:solidFill>
          <a:ln w="19050">
            <a:solidFill>
              <a:srgbClr val="E87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36576"/>
          <a:lstStyle/>
          <a:p>
            <a:pPr algn="ctr"/>
            <a:r>
              <a:rPr b="1" sz="1200">
                <a:solidFill>
                  <a:srgbClr val="27AE60"/>
                </a:solidFill>
                <a:latin typeface="Calibri"/>
              </a:rPr>
              <a:t>heat_3d: </a:t>
            </a:r>
            <a:r>
              <a:rPr sz="1100">
                <a:solidFill>
                  <a:srgbClr val="2C3E50"/>
                </a:solidFill>
                <a:latin typeface="Calibri"/>
              </a:rPr>
              <a:t>N-D ParDims tells LLM to parallelize all spatial dims -&gt; 9.0x. </a:t>
            </a:r>
            <a:r>
              <a:rPr b="1" sz="1200">
                <a:solidFill>
                  <a:srgbClr val="C0392B"/>
                </a:solidFill>
                <a:latin typeface="Calibri"/>
              </a:rPr>
              <a:t>seidel_2d: </a:t>
            </a:r>
            <a:r>
              <a:rPr sz="1100">
                <a:solidFill>
                  <a:srgbClr val="2C3E50"/>
                </a:solidFill>
                <a:latin typeface="Calibri"/>
              </a:rPr>
              <a:t>inherently sequential -- runs as single GPU thread (0.12x).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Generated Triton Code -- GEMM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defRPr sz="1200" b="1">
                <a:solidFill>
                  <a:srgbClr val="1B2A4A"/>
                </a:solidFill>
                <a:latin typeface="Calibri"/>
              </a:defRPr>
            </a:pPr>
            <a:r>
              <a:t>C Original (6 lines):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4114800" cy="141732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1300"/>
              </a:lnSpc>
              <a:defRPr sz="1000">
                <a:solidFill>
                  <a:srgbClr val="2C3E50"/>
                </a:solidFill>
                <a:latin typeface="Courier New"/>
              </a:defRPr>
            </a:pPr>
            <a:r>
              <a:t>for (i = 0; i &lt; NI; i++) {</a:t>
            </a:r>
          </a:p>
          <a:p>
            <a:pPr>
              <a:lnSpc>
                <a:spcPts val="1300"/>
              </a:lnSpc>
              <a:defRPr sz="1000">
                <a:solidFill>
                  <a:srgbClr val="2C3E50"/>
                </a:solidFill>
                <a:latin typeface="Courier New"/>
              </a:defRPr>
            </a:pPr>
            <a:r>
              <a:t>  for (j = 0; j &lt; NJ; j++)</a:t>
            </a:r>
          </a:p>
          <a:p>
            <a:pPr>
              <a:lnSpc>
                <a:spcPts val="1300"/>
              </a:lnSpc>
              <a:defRPr sz="1000">
                <a:solidFill>
                  <a:srgbClr val="2C3E50"/>
                </a:solidFill>
                <a:latin typeface="Courier New"/>
              </a:defRPr>
            </a:pPr>
            <a:r>
              <a:t>    C[i][j] *= beta;</a:t>
            </a:r>
          </a:p>
          <a:p>
            <a:pPr>
              <a:lnSpc>
                <a:spcPts val="1300"/>
              </a:lnSpc>
              <a:defRPr sz="1000">
                <a:solidFill>
                  <a:srgbClr val="2C3E50"/>
                </a:solidFill>
                <a:latin typeface="Courier New"/>
              </a:defRPr>
            </a:pPr>
            <a:r>
              <a:t>  for (k = 0; k &lt; NK; k++)</a:t>
            </a:r>
          </a:p>
          <a:p>
            <a:pPr>
              <a:lnSpc>
                <a:spcPts val="1300"/>
              </a:lnSpc>
              <a:defRPr sz="1000">
                <a:solidFill>
                  <a:srgbClr val="2C3E50"/>
                </a:solidFill>
                <a:latin typeface="Courier New"/>
              </a:defRPr>
            </a:pPr>
            <a:r>
              <a:t>    for (j = 0; j &lt; NJ; j++)</a:t>
            </a:r>
          </a:p>
          <a:p>
            <a:pPr>
              <a:lnSpc>
                <a:spcPts val="1300"/>
              </a:lnSpc>
              <a:defRPr sz="1000">
                <a:solidFill>
                  <a:srgbClr val="2C3E50"/>
                </a:solidFill>
                <a:latin typeface="Courier New"/>
              </a:defRPr>
            </a:pPr>
            <a:r>
              <a:t>      C[i][j] += alpha*A[i][k]*B[k][j];</a:t>
            </a:r>
          </a:p>
          <a:p>
            <a:pPr>
              <a:lnSpc>
                <a:spcPts val="1300"/>
              </a:lnSpc>
              <a:defRPr sz="1000">
                <a:solidFill>
                  <a:srgbClr val="2C3E50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8229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defRPr sz="1200" b="1">
                <a:solidFill>
                  <a:srgbClr val="27AE60"/>
                </a:solidFill>
                <a:latin typeface="Calibri"/>
              </a:defRPr>
            </a:pPr>
            <a:r>
              <a:t>Generated Triton Kernel: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097280"/>
            <a:ext cx="4297680" cy="320040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@triton.jit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def gemm_kernel(A, B, C, alpha, beta,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              NI, NJ, NK,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              BLOCK_I: tl.constexpr,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              BLOCK_J: tl.constexpr):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pid_i = tl.program_id(0)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pid_j = tl.program_id(1)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i_off = pid_i*BLOCK_I + tl.arange(0,BLOCK_I)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j_off = pid_j*BLOCK_J + tl.arange(0,BLOCK_J)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# C[i][j] *= beta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c_idx = i_off[:,None]*NJ + j_off[None,:]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mask = (i_off[:,None]&lt;NI) &amp; (j_off[None,:]&lt;NJ)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c = tl.load(C+c_idx, mask=mask) * beta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# k-loop accumulation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for k in range(NK):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  a = tl.load(A + i_off*NK+k, mask=i_off&lt;NI)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  b = tl.load(B + k*NJ+j_off, mask=j_off&lt;NJ)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  c += alpha * a[:,None] * b[None,:]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tl.store(C+c_idx, c, mask=mask)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defRPr sz="1300" b="1">
                <a:solidFill>
                  <a:srgbClr val="2E5C8A"/>
                </a:solidFill>
                <a:latin typeface="Calibri"/>
              </a:defRPr>
            </a:pPr>
            <a:r>
              <a:t>Key Triton Patterns: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01752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2D tiling: pid_i, pid_j -&gt; block of C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Masked loads: boundary safety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k-loop: sequential accumulation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Broadcasting: a[:,None] * b[None,:]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Scalar broadcast: alpha, beta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572000"/>
            <a:ext cx="3200400" cy="411480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First-try pass  |  3.00x speedup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Evaluation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defRPr sz="1600" b="1">
                <a:solidFill>
                  <a:srgbClr val="2E5C8A"/>
                </a:solidFill>
                <a:latin typeface="Calibri"/>
              </a:defRPr>
            </a:pPr>
            <a:r>
              <a:t>Correctness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931920" cy="233172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# 1. Compile C kernel to shared library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gcc -O2 -shared -fPIC -o kernel.so kernel.c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# 2. Load .so via ctypes, memmove inputs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lib = ctypes.CDLL("kernel.so")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ctypes.memmove(c_arr, tensor.numpy().ctypes.data, nbytes)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# 3. Run C reference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lib.kernel_function(c_arr, N)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# 4. Run Triton kernel (same inputs)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triton_fn(gpu_tensor, N)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# 5. Compare element-wise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assert |C_ref - Triton| &lt; atol + rtol * |C_ref|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Default: atol=1e-4, rtol=1e-4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Per-kernel overrides for FP32 accumulation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Auto-detect C array type (int/float/double)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777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defRPr sz="1600" b="1">
                <a:solidFill>
                  <a:srgbClr val="2E5C8A"/>
                </a:solidFill>
                <a:latin typeface="Calibri"/>
              </a:defRPr>
            </a:pPr>
            <a:r>
              <a:t>Performance Benchmarking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097280"/>
            <a:ext cx="3931920" cy="274320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# C reference timing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for _ in range(5):   # warmup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lib.kernel_function(c_arr, N)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t0 = time.perf_counter()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for _ in range(50):  # timed runs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lib.kernel_function(c_arr, N)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c_time = (time.perf_counter() - t0) / 50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# Triton GPU timing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for _ in range(5):   # warmup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triton_fn(gpu_tensor, N)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torch.cuda.synchronize()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t0 = time.perf_counter()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for _ in range(50):  # timed runs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triton_fn(gpu_tensor, N)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torch.cuda.synchronize()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triton_time = (time.perf_counter() - t0) / 50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speedup = c_time / triton_time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39319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Speedup &gt;1x = Triton faster than C on CPU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251960"/>
            <a:ext cx="8229600" cy="731520"/>
          </a:xfrm>
          <a:prstGeom prst="roundRect">
            <a:avLst>
              <a:gd name="adj" fmla="val 8000"/>
            </a:avLst>
          </a:prstGeom>
          <a:solidFill>
            <a:srgbClr val="FDF2E9"/>
          </a:solidFill>
          <a:ln w="12700">
            <a:solidFill>
              <a:srgbClr val="E87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/>
          <a:lstStyle/>
          <a:p>
            <a:pPr algn="ctr"/>
            <a:r>
              <a:rPr b="1" sz="1200">
                <a:solidFill>
                  <a:srgbClr val="E87D2F"/>
                </a:solidFill>
                <a:latin typeface="Calibri"/>
              </a:rPr>
              <a:t>5+5 Retry Strategy: </a:t>
            </a:r>
            <a:r>
              <a:rPr sz="1100">
                <a:solidFill>
                  <a:srgbClr val="2C3E50"/>
                </a:solidFill>
                <a:latin typeface="Calibri"/>
              </a:rPr>
              <a:t>Up to 10 attempts. Error feedback injected into next prompt. Context reset at attempt 6 for fresh approach.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Test Input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defRPr sz="1300" b="0">
                <a:solidFill>
                  <a:srgbClr val="7F8C8D"/>
                </a:solidFill>
                <a:latin typeface="Calibri"/>
              </a:defRPr>
            </a:pPr>
            <a:r>
              <a:t>Many kernels require structured inputs -- random floats cause divergence or crashes.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8229600" cy="365760"/>
          </a:xfrm>
          <a:prstGeom prst="roundRect">
            <a:avLst>
              <a:gd name="adj" fmla="val 10000"/>
            </a:avLst>
          </a:prstGeom>
          <a:solidFill>
            <a:srgbClr val="E8F8F5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b="1" sz="1300">
                <a:solidFill>
                  <a:srgbClr val="27AE60"/>
                </a:solidFill>
                <a:latin typeface="Calibri"/>
              </a:rPr>
              <a:t>Default (23 kernels): </a:t>
            </a:r>
            <a:r>
              <a:rPr sz="1200">
                <a:solidFill>
                  <a:srgbClr val="2C3E50"/>
                </a:solidFill>
                <a:latin typeface="Calibri"/>
              </a:rPr>
              <a:t>torch.randn float32  |  random scalars (alpha, beta)  |  Polybench SMALL_DATASET sizes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defRPr sz="1500" b="1">
                <a:solidFill>
                  <a:srgbClr val="2E5C8A"/>
                </a:solidFill>
                <a:latin typeface="Calibri"/>
              </a:defRPr>
            </a:pPr>
            <a:r>
              <a:t>Domain-Specific Overrides (7 kernels):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20240"/>
          <a:ext cx="82296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743200"/>
                <a:gridCol w="3840480"/>
              </a:tblGrid>
              <a:tr h="320039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Kernel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Requirement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Input Generation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cholesky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Symmetric positive definite (SPD)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A = RᵀR + N·I  (ensures positive eigenvalues)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lu, ludcmp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Diagonally dominant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A = randn + N·I  (prevents zero pivots)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trisolv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Lower-triangular, non-singular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L = tril(randn), |diag| ≥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gramschmidt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Well-conditioned columns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A = randn + 5·I  (prevents rank deficiency)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nussinov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Integer RNA bases + zeros 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seq = randint(0, 4);  table = zeros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floyd_warshall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Non-negative edge weights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|randn| × 10 + 1  (no negative cycles)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defRPr sz="1100" b="0">
                <a:solidFill>
                  <a:srgbClr val="7F8C8D"/>
                </a:solidFill>
                <a:latin typeface="Calibri"/>
              </a:defRPr>
            </a:pPr>
            <a:r>
              <a:t>Tolerance: default atol=1e-4, rtol=1e-4  |  durbin: atol=0.05 (FP32 recurrence)  |  gramschmidt: atol=1.0, rtol=2.0 (rank-deficient)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Results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defRPr sz="1600" b="1">
                <a:solidFill>
                  <a:srgbClr val="27AE60"/>
                </a:solidFill>
                <a:latin typeface="Calibri"/>
              </a:defRPr>
            </a:pPr>
            <a:r>
              <a:t>Correctness: 30/30 (100%)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13 first-try passes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17 after retry (5+5 strategy, max 10)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All kernels pass (incl. heat_3d with N-D ParDims fix)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914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defRPr sz="1600" b="1">
                <a:solidFill>
                  <a:srgbClr val="2E5C8A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3444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Median speedup: 1.52x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Mean speedup: 2.01x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GPU wins (&gt;1x): 18/30 (60%)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defRPr sz="1400" b="1">
                <a:solidFill>
                  <a:srgbClr val="1B2A4A"/>
                </a:solidFill>
                <a:latin typeface="Calibri"/>
              </a:defRPr>
            </a:pPr>
            <a:r>
              <a:t>Top Speedups: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468880"/>
          <a:ext cx="8229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103120"/>
                <a:gridCol w="2103120"/>
              </a:tblGrid>
              <a:tr h="29260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Kernel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Speedup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 Time (ms)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Triton Time (ms)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heat_3d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9.00x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4.435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0.497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ludcmp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5.65x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0.569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0.101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doitgen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4.91x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0.377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0.077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3mm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4.26x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0.595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0.140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covariance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4.07x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defRPr sz="1100" b="0">
                <a:solidFill>
                  <a:srgbClr val="C0392B"/>
                </a:solidFill>
                <a:latin typeface="Calibri"/>
              </a:defRPr>
            </a:pPr>
            <a:r>
              <a:t>Slowdowns: nussinov (0.05x), deriche (0.11x), seidel_2d (0.12x), lu (0.15x) -- sequential bottlenecks on GPU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Per-Kernel Speedup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defRPr sz="1000" b="0">
                <a:solidFill>
                  <a:srgbClr val="7F8C8D"/>
                </a:solidFill>
                <a:latin typeface="Calibri"/>
              </a:defRPr>
            </a:pPr>
            <a:r>
              <a:t>Median: 1.52x  |  Mean: 2.01x  |  18/30 faster on GPU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767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1x</a:t>
            </a:r>
          </a:p>
        </p:txBody>
      </p:sp>
      <p:sp>
        <p:nvSpPr>
          <p:cNvPr id="5" name="Rectangle 4"/>
          <p:cNvSpPr/>
          <p:nvPr/>
        </p:nvSpPr>
        <p:spPr>
          <a:xfrm>
            <a:off x="2057400" y="1078992"/>
            <a:ext cx="6350" cy="385876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3347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2x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078992"/>
            <a:ext cx="6350" cy="385876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1927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3x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078992"/>
            <a:ext cx="6350" cy="385876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507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078992"/>
            <a:ext cx="6350" cy="385876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00600" y="1078992"/>
            <a:ext cx="6350" cy="385876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7667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1078992"/>
            <a:ext cx="6350" cy="385876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6247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078992"/>
            <a:ext cx="6350" cy="385876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4827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1078992"/>
            <a:ext cx="6350" cy="385876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3407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43800" y="1078992"/>
            <a:ext cx="6350" cy="385876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057400" y="1078992"/>
            <a:ext cx="19050" cy="3858768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84248" y="896112"/>
            <a:ext cx="146304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7F8C8D"/>
                </a:solidFill>
                <a:latin typeface="Calibri"/>
              </a:defRPr>
            </a:pPr>
            <a:r>
              <a:t>1x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" y="1097280"/>
            <a:ext cx="118872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heat_3d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1115568"/>
            <a:ext cx="6172200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0375" y="1097280"/>
            <a:ext cx="41148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9.00x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" y="1225295"/>
            <a:ext cx="118872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ludcmp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0" y="1243584"/>
            <a:ext cx="3874770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82946" y="1225295"/>
            <a:ext cx="41148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5.65x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" y="1353312"/>
            <a:ext cx="118872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doitgen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71600" y="1371600"/>
            <a:ext cx="3367278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75454" y="1353312"/>
            <a:ext cx="41148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4.91x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" y="1481328"/>
            <a:ext cx="118872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3mm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71600" y="1499616"/>
            <a:ext cx="2921508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29684" y="1481328"/>
            <a:ext cx="41148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4.26x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" y="1609344"/>
            <a:ext cx="118872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covariance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71600" y="1627632"/>
            <a:ext cx="2791206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99382" y="1609344"/>
            <a:ext cx="41148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4.07x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" y="1737360"/>
            <a:ext cx="118872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trmm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71600" y="1755648"/>
            <a:ext cx="2612898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21074" y="1737360"/>
            <a:ext cx="41148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3.81x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" y="1865376"/>
            <a:ext cx="118872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2mm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71600" y="1883664"/>
            <a:ext cx="2544318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52494" y="1865376"/>
            <a:ext cx="41148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3.71x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" y="1993392"/>
            <a:ext cx="118872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syrk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371600" y="2011680"/>
            <a:ext cx="2187702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95878" y="1993392"/>
            <a:ext cx="41148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3.19x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" y="2121408"/>
            <a:ext cx="118872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symm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371600" y="2139696"/>
            <a:ext cx="1639062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47238" y="2121408"/>
            <a:ext cx="41148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2.39x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" y="2249424"/>
            <a:ext cx="118872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gesummv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371600" y="2267712"/>
            <a:ext cx="1364742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72918" y="2249424"/>
            <a:ext cx="41148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1.99x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" y="2377440"/>
            <a:ext cx="118872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mvt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371600" y="2395728"/>
            <a:ext cx="1248156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56332" y="2377440"/>
            <a:ext cx="41148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1.82x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" y="2505456"/>
            <a:ext cx="118872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jacobi_1d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0" y="2523744"/>
            <a:ext cx="1241298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649474" y="2505456"/>
            <a:ext cx="41148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1.81x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" y="2633472"/>
            <a:ext cx="118872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trisolv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71600" y="2651760"/>
            <a:ext cx="1213866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622041" y="2633472"/>
            <a:ext cx="41148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1.77x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" y="2761488"/>
            <a:ext cx="118872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bicg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371600" y="2779776"/>
            <a:ext cx="1124711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532887" y="2761488"/>
            <a:ext cx="41148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1.64x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" y="2889504"/>
            <a:ext cx="118872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cholesky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371600" y="2907792"/>
            <a:ext cx="1042415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450591" y="2889504"/>
            <a:ext cx="41148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1.52x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" y="3017520"/>
            <a:ext cx="118872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adi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0" y="3035808"/>
            <a:ext cx="1035558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443734" y="3017520"/>
            <a:ext cx="41148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1.51x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" y="3145536"/>
            <a:ext cx="118872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atax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371600" y="3163824"/>
            <a:ext cx="1021842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430018" y="3145536"/>
            <a:ext cx="41148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1.49x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720" y="3273552"/>
            <a:ext cx="118872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durbin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371600" y="3291840"/>
            <a:ext cx="891540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299716" y="3273552"/>
            <a:ext cx="41148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1.30x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720" y="3401568"/>
            <a:ext cx="118872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correlation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371600" y="3419856"/>
            <a:ext cx="610362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018538" y="3401568"/>
            <a:ext cx="41148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C0392B"/>
                </a:solidFill>
                <a:latin typeface="Courier New"/>
              </a:defRPr>
            </a:pPr>
            <a:r>
              <a:t>0.89x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720" y="3529584"/>
            <a:ext cx="118872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syr2k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371600" y="3547872"/>
            <a:ext cx="603503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011680" y="3529584"/>
            <a:ext cx="41148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C0392B"/>
                </a:solidFill>
                <a:latin typeface="Courier New"/>
              </a:defRPr>
            </a:pPr>
            <a:r>
              <a:t>0.88x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720" y="3657600"/>
            <a:ext cx="118872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fdtd_2d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371600" y="3675887"/>
            <a:ext cx="548640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956816" y="3657600"/>
            <a:ext cx="41148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C0392B"/>
                </a:solidFill>
                <a:latin typeface="Courier New"/>
              </a:defRPr>
            </a:pPr>
            <a:r>
              <a:t>0.80x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720" y="3785616"/>
            <a:ext cx="118872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gemver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371600" y="3803904"/>
            <a:ext cx="322326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730502" y="3785616"/>
            <a:ext cx="41148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C0392B"/>
                </a:solidFill>
                <a:latin typeface="Courier New"/>
              </a:defRPr>
            </a:pPr>
            <a:r>
              <a:t>0.47x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720" y="3913632"/>
            <a:ext cx="118872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floyd_warshall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371600" y="3931920"/>
            <a:ext cx="240029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648206" y="3913632"/>
            <a:ext cx="41148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C0392B"/>
                </a:solidFill>
                <a:latin typeface="Courier New"/>
              </a:defRPr>
            </a:pPr>
            <a:r>
              <a:t>0.35x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720" y="4041648"/>
            <a:ext cx="118872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gemm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371600" y="4059935"/>
            <a:ext cx="192024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00200" y="4041648"/>
            <a:ext cx="41148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C0392B"/>
                </a:solidFill>
                <a:latin typeface="Courier New"/>
              </a:defRPr>
            </a:pPr>
            <a:r>
              <a:t>0.28x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" y="4169664"/>
            <a:ext cx="118872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gramschmidt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371600" y="4187952"/>
            <a:ext cx="164592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572768" y="4169664"/>
            <a:ext cx="41148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C0392B"/>
                </a:solidFill>
                <a:latin typeface="Courier New"/>
              </a:defRPr>
            </a:pPr>
            <a:r>
              <a:t>0.24x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720" y="4297680"/>
            <a:ext cx="118872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jacobi_2d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371600" y="4315968"/>
            <a:ext cx="137160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545336" y="4297680"/>
            <a:ext cx="41148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C0392B"/>
                </a:solidFill>
                <a:latin typeface="Courier New"/>
              </a:defRPr>
            </a:pPr>
            <a:r>
              <a:t>0.20x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5720" y="4425696"/>
            <a:ext cx="118872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lu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371600" y="4443984"/>
            <a:ext cx="102869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511046" y="4425696"/>
            <a:ext cx="41148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C0392B"/>
                </a:solidFill>
                <a:latin typeface="Courier New"/>
              </a:defRPr>
            </a:pPr>
            <a:r>
              <a:t>0.15x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5720" y="4553712"/>
            <a:ext cx="118872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seidel_2d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371600" y="4572000"/>
            <a:ext cx="82296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490472" y="4553712"/>
            <a:ext cx="41148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C0392B"/>
                </a:solidFill>
                <a:latin typeface="Courier New"/>
              </a:defRPr>
            </a:pPr>
            <a:r>
              <a:t>0.12x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5720" y="4681728"/>
            <a:ext cx="118872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deriche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371600" y="4700016"/>
            <a:ext cx="75437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483614" y="4681728"/>
            <a:ext cx="41148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C0392B"/>
                </a:solidFill>
                <a:latin typeface="Courier New"/>
              </a:defRPr>
            </a:pPr>
            <a:r>
              <a:t>0.11x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720" y="4809744"/>
            <a:ext cx="118872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nussinov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371600" y="4828032"/>
            <a:ext cx="34290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442466" y="4809744"/>
            <a:ext cx="411480" cy="12801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C0392B"/>
                </a:solidFill>
                <a:latin typeface="Courier New"/>
              </a:defRPr>
            </a:pPr>
            <a:r>
              <a:t>0.05x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400800" y="4983480"/>
            <a:ext cx="182880" cy="1097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629400" y="4965192"/>
            <a:ext cx="7315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04"/>
              </a:lnSpc>
              <a:defRPr sz="700" b="0">
                <a:solidFill>
                  <a:srgbClr val="2C3E50"/>
                </a:solidFill>
                <a:latin typeface="Calibri"/>
              </a:defRPr>
            </a:pPr>
            <a:r>
              <a:t>Faster (18)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498079" y="4983480"/>
            <a:ext cx="182880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726679" y="4965192"/>
            <a:ext cx="7315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04"/>
              </a:lnSpc>
              <a:defRPr sz="700" b="0">
                <a:solidFill>
                  <a:srgbClr val="2C3E50"/>
                </a:solidFill>
                <a:latin typeface="Calibri"/>
              </a:defRPr>
            </a:pPr>
            <a:r>
              <a:t>Slower (12)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Performance: With vs Without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64791" y="84124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67712" y="84124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70632" y="84124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73552" y="84124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76472" y="84124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79392" y="84124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2312" y="84124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85232" y="84124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88152" y="84124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74519" y="987552"/>
            <a:ext cx="19050" cy="3968496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" y="1005840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heat_3d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1014984"/>
            <a:ext cx="4527897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0" y="1078992"/>
            <a:ext cx="1684566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" y="1152144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ludcmp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1161288"/>
            <a:ext cx="2842436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71600" y="1225296"/>
            <a:ext cx="197770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" y="1298448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doitgen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1307592"/>
            <a:ext cx="2467668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71600" y="1371600"/>
            <a:ext cx="30093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" y="1444752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covariance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1453896"/>
            <a:ext cx="2049253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71600" y="1517904"/>
            <a:ext cx="503962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" y="1591056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jacobi_1d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1600200"/>
            <a:ext cx="912111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371600" y="1664208"/>
            <a:ext cx="67020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" y="1737360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cholesky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1746504"/>
            <a:ext cx="762512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71600" y="1810512"/>
            <a:ext cx="61439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" y="1883664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trisolv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0" y="1892807"/>
            <a:ext cx="889047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371600" y="1956815"/>
            <a:ext cx="278830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" y="2029968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durbin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71600" y="2039112"/>
            <a:ext cx="653231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371600" y="2103120"/>
            <a:ext cx="106650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" y="2176272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2mm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71600" y="2185415"/>
            <a:ext cx="1864306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371600" y="2249423"/>
            <a:ext cx="1512700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" y="2322576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atax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71600" y="2331720"/>
            <a:ext cx="747416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371600" y="2395727"/>
            <a:ext cx="687345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" y="2468880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nussinov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371600" y="2478024"/>
            <a:ext cx="24761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371600" y="2542032"/>
            <a:ext cx="24865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" y="2615184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deriche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371600" y="2624328"/>
            <a:ext cx="55362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371600" y="2688336"/>
            <a:ext cx="55512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" y="2761488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lu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371600" y="2770632"/>
            <a:ext cx="74999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371600" y="2834639"/>
            <a:ext cx="100710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" y="2907792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gesummv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371600" y="2916936"/>
            <a:ext cx="1000118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71600" y="2980944"/>
            <a:ext cx="1039068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" y="3054096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bicg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0" y="3063240"/>
            <a:ext cx="825452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371600" y="3127248"/>
            <a:ext cx="872479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" y="3200400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3mm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371600" y="3209544"/>
            <a:ext cx="2142049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371600" y="3273551"/>
            <a:ext cx="2191719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" y="3346704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syrk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371600" y="3355848"/>
            <a:ext cx="1605357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371600" y="3419856"/>
            <a:ext cx="1668983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" y="3493008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jacobi_2d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371600" y="3502152"/>
            <a:ext cx="101008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371600" y="3566160"/>
            <a:ext cx="281153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" y="3639312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floyd_warshall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371600" y="3648456"/>
            <a:ext cx="176818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371600" y="3712463"/>
            <a:ext cx="385937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" y="3785616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mvt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371600" y="3794760"/>
            <a:ext cx="91613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371600" y="3858768"/>
            <a:ext cx="1138886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" y="3931920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adi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371600" y="3941064"/>
            <a:ext cx="759078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371600" y="4005072"/>
            <a:ext cx="1063502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5720" y="4078224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gemver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371600" y="4087368"/>
            <a:ext cx="235108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371600" y="4151375"/>
            <a:ext cx="973000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720" y="4224528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fdtd_2d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371600" y="4233672"/>
            <a:ext cx="402858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371600" y="4297679"/>
            <a:ext cx="1214205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5720" y="4370832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gemm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371600" y="4379976"/>
            <a:ext cx="14305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371600" y="4443983"/>
            <a:ext cx="1414871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5720" y="4517136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correlation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371600" y="4526279"/>
            <a:ext cx="44889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371600" y="4590287"/>
            <a:ext cx="1762633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720" y="4663440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syr2k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371600" y="4672583"/>
            <a:ext cx="444153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371600" y="4736591"/>
            <a:ext cx="2132116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5720" y="4809744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gramschmidt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371600" y="4818888"/>
            <a:ext cx="12007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371600" y="4882895"/>
            <a:ext cx="3392698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675120" y="914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defRPr sz="1000" b="1">
                <a:solidFill>
                  <a:srgbClr val="1B2A4A"/>
                </a:solidFill>
                <a:latin typeface="Calibri"/>
              </a:defRPr>
            </a:pPr>
            <a:r>
              <a:t>Summary (27 kernels both pass):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675120" y="118872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40"/>
              </a:lnSpc>
              <a:spcAft>
                <a:spcPts val="400"/>
              </a:spcAft>
            </a:pPr>
            <a:r>
              <a:rPr sz="800">
                <a:solidFill>
                  <a:srgbClr val="2C3E50"/>
                </a:solidFill>
                <a:latin typeface="Calibri"/>
              </a:rPr>
              <a:t>With: median 1.51x, mean 2.00x</a:t>
            </a:r>
          </a:p>
          <a:p>
            <a:pPr>
              <a:lnSpc>
                <a:spcPts val="1040"/>
              </a:lnSpc>
              <a:spcAft>
                <a:spcPts val="400"/>
              </a:spcAft>
            </a:pPr>
            <a:r>
              <a:rPr sz="800">
                <a:solidFill>
                  <a:srgbClr val="2C3E50"/>
                </a:solidFill>
                <a:latin typeface="Calibri"/>
              </a:rPr>
              <a:t>W/O:  median 1.73x, mean 1.83x</a:t>
            </a:r>
          </a:p>
          <a:p>
            <a:pPr>
              <a:lnSpc>
                <a:spcPts val="1040"/>
              </a:lnSpc>
              <a:spcAft>
                <a:spcPts val="400"/>
              </a:spcAft>
            </a:pPr>
            <a:r>
              <a:rPr sz="800">
                <a:solidFill>
                  <a:srgbClr val="2C3E50"/>
                </a:solidFill>
                <a:latin typeface="Calibri"/>
              </a:rPr>
              <a:t/>
            </a:r>
          </a:p>
          <a:p>
            <a:pPr>
              <a:lnSpc>
                <a:spcPts val="1040"/>
              </a:lnSpc>
              <a:spcAft>
                <a:spcPts val="400"/>
              </a:spcAft>
            </a:pPr>
            <a:r>
              <a:rPr sz="800">
                <a:solidFill>
                  <a:srgbClr val="2C3E50"/>
                </a:solidFill>
                <a:latin typeface="Calibri"/>
              </a:rPr>
              <a:t>With faster: 9/27</a:t>
            </a:r>
          </a:p>
          <a:p>
            <a:pPr>
              <a:lnSpc>
                <a:spcPts val="1040"/>
              </a:lnSpc>
              <a:spcAft>
                <a:spcPts val="400"/>
              </a:spcAft>
            </a:pPr>
            <a:r>
              <a:rPr sz="800">
                <a:solidFill>
                  <a:srgbClr val="2C3E50"/>
                </a:solidFill>
                <a:latin typeface="Calibri"/>
              </a:rPr>
              <a:t>W/O faster: 11/27</a:t>
            </a:r>
          </a:p>
          <a:p>
            <a:pPr>
              <a:lnSpc>
                <a:spcPts val="1040"/>
              </a:lnSpc>
              <a:spcAft>
                <a:spcPts val="400"/>
              </a:spcAft>
            </a:pPr>
            <a:r>
              <a:rPr sz="800">
                <a:solidFill>
                  <a:srgbClr val="2C3E50"/>
                </a:solidFill>
                <a:latin typeface="Calibri"/>
              </a:rPr>
              <a:t>Ties: 7/27</a:t>
            </a:r>
          </a:p>
          <a:p>
            <a:pPr>
              <a:lnSpc>
                <a:spcPts val="1040"/>
              </a:lnSpc>
              <a:spcAft>
                <a:spcPts val="400"/>
              </a:spcAft>
            </a:pPr>
            <a:r>
              <a:rPr sz="800">
                <a:solidFill>
                  <a:srgbClr val="2C3E50"/>
                </a:solidFill>
                <a:latin typeface="Calibri"/>
              </a:rPr>
              <a:t/>
            </a:r>
          </a:p>
          <a:p>
            <a:pPr>
              <a:lnSpc>
                <a:spcPts val="1040"/>
              </a:lnSpc>
              <a:spcAft>
                <a:spcPts val="400"/>
              </a:spcAft>
            </a:pPr>
            <a:r>
              <a:rPr sz="800">
                <a:solidFill>
                  <a:srgbClr val="2C3E50"/>
                </a:solidFill>
                <a:latin typeface="Calibri"/>
              </a:rPr>
              <a:t>Correctness: 30/30 vs 27/30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371600" y="5047488"/>
            <a:ext cx="274320" cy="914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691640" y="5029200"/>
            <a:ext cx="1097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04"/>
              </a:lnSpc>
              <a:defRPr sz="700" b="0">
                <a:solidFill>
                  <a:srgbClr val="2C3E50"/>
                </a:solidFill>
                <a:latin typeface="Calibri"/>
              </a:defRPr>
            </a:pPr>
            <a:r>
              <a:t>With Analysis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926080" y="5047488"/>
            <a:ext cx="274320" cy="91440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246120" y="5029200"/>
            <a:ext cx="1097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04"/>
              </a:lnSpc>
              <a:defRPr sz="700" b="0">
                <a:solidFill>
                  <a:srgbClr val="2C3E50"/>
                </a:solidFill>
                <a:latin typeface="Calibri"/>
              </a:defRPr>
            </a:pPr>
            <a:r>
              <a:t>Without Analysis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defRPr sz="900" b="0">
                <a:solidFill>
                  <a:srgbClr val="7F8C8D"/>
                </a:solidFill>
                <a:latin typeface="Calibri"/>
              </a:defRPr>
            </a:pPr>
            <a:r>
              <a:t>Analysis enables +3 passes (trmm, symm, seidel_2d). Biggest gains: doitgen (+82x), ludcmp (+14x), heat_3d (+2.7x).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Failure Analysis &amp;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defRPr sz="1500" b="1">
                <a:solidFill>
                  <a:srgbClr val="27AE60"/>
                </a:solidFill>
                <a:latin typeface="Calibri"/>
              </a:defRPr>
            </a:pPr>
            <a:r>
              <a:t>0 Failures (all 30 pass with analysis):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822960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400800"/>
              </a:tblGrid>
              <a:tr h="320039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Kernel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seidel_2d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Passes but 0.12x: Gauss-Seidel runs sequentially on single GPU thread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deriche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Passes but 0.11x: LLM nondeterminism, previously 5.42x (needs reruns)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defRPr sz="1500" b="1">
                <a:solidFill>
                  <a:srgbClr val="27AE60"/>
                </a:solidFill>
                <a:latin typeface="Calibri"/>
              </a:defRPr>
            </a:pPr>
            <a:r>
              <a:t>Infrastructure &amp; Test Quality Fixes: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468880"/>
          <a:ext cx="822960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657600"/>
                <a:gridCol w="3291840"/>
              </a:tblGrid>
              <a:tr h="27431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Kernel(s)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Issue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Fix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doitgen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Tested scratch buffer (sum)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Marked 'temp'; excluded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durbin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FP32 divergence (120-step recurrence)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Tolerance override (atol=0.05)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gramschmidt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M&lt;N rank-deficient: Q diverges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Tolerance override (atol=1.0)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ludcmp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Pivotless LU: A,y diverge, x correct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A,y as 'temp'; only check 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743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7 kernels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randn invalid (solvers need SPD)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Domain-appropriate init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1605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defRPr sz="900" b="0">
                <a:solidFill>
                  <a:srgbClr val="7F8C8D"/>
                </a:solidFill>
                <a:latin typeface="Calibri"/>
              </a:defRPr>
            </a:pPr>
            <a:r>
              <a:t>Domain inputs: cholesky (SPD), lu/ludcmp (diag-dominant), trisolv (lower-tri), gramschmidt (well-conditioned), nussinov (int bases), floyd_warshall (non-neg weights)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434840"/>
            <a:ext cx="8229600" cy="502920"/>
          </a:xfrm>
          <a:prstGeom prst="roundRect">
            <a:avLst>
              <a:gd name="adj" fmla="val 5000"/>
            </a:avLst>
          </a:prstGeom>
          <a:solidFill>
            <a:srgbClr val="EBF5FB"/>
          </a:solidFill>
          <a:ln w="19050"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54864"/>
          <a:lstStyle/>
          <a:p>
            <a:pPr algn="ctr"/>
            <a:r>
              <a:rPr b="1" sz="1100">
                <a:solidFill>
                  <a:srgbClr val="2E5C8A"/>
                </a:solidFill>
                <a:latin typeface="Calibri"/>
              </a:rPr>
              <a:t>Key Insight: </a:t>
            </a:r>
            <a:r>
              <a:rPr sz="1000">
                <a:solidFill>
                  <a:srgbClr val="2C3E50"/>
                </a:solidFill>
                <a:latin typeface="Calibri"/>
              </a:rPr>
              <a:t>Domain-appropriate test inputs validate mathematical correctness, not just C-vs-Triton bit-match. The sole true failure (seidel_2d) has Gauss-Seidel ordering incompatible with Triton vectorization.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Ablation: Analysis vs No-Analysis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defRPr sz="1300" b="0">
                <a:solidFill>
                  <a:srgbClr val="7F8C8D"/>
                </a:solidFill>
                <a:latin typeface="Calibri"/>
              </a:defRPr>
            </a:pPr>
            <a:r>
              <a:t>Same pipeline, same model (Sonnet), same 5+5 retries -- only difference: analysis in prompt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2286000"/>
                <a:gridCol w="1645920"/>
              </a:tblGrid>
              <a:tr h="3200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With Analysis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Without Analysis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Delta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Pass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30/30 (100.0%)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27/30 (90.0%)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+3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First-Try Pass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+6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Avg Attempts (passed)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-0.5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0175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defRPr sz="1500" b="1">
                <a:solidFill>
                  <a:srgbClr val="1B2A4A"/>
                </a:solidFill>
                <a:latin typeface="Calibri"/>
              </a:defRPr>
            </a:pPr>
            <a:r>
              <a:t>What analysis provides: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3756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Which dims to parallelize vs keep sequential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WAR deps: need array copies before parallel region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Reduction type: how to accumulate (tl.sum, etc.)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Scalar expansion: privatize loop-carried scalars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30175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defRPr sz="1500" b="1">
                <a:solidFill>
                  <a:srgbClr val="E87D2F"/>
                </a:solidFill>
                <a:latin typeface="Calibri"/>
              </a:defRPr>
            </a:pPr>
            <a:r>
              <a:t>Without analysis, LLM must: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333756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Infer parallelism from C code alone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Guess correct memory access patterns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Discover dependencies by trial and error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Rely entirely on retry-with-error feedback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72000"/>
            <a:ext cx="8229600" cy="411480"/>
          </a:xfrm>
          <a:prstGeom prst="roundRect">
            <a:avLst>
              <a:gd name="adj" fmla="val 10000"/>
            </a:avLst>
          </a:prstGeom>
          <a:solidFill>
            <a:srgbClr val="EBF5FB"/>
          </a:solidFill>
          <a:ln w="19050"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b="1" sz="1400">
                <a:solidFill>
                  <a:srgbClr val="2E5C8A"/>
                </a:solidFill>
                <a:latin typeface="Calibri"/>
              </a:rPr>
              <a:t>Takeaway: </a:t>
            </a:r>
            <a:r>
              <a:rPr sz="1300">
                <a:solidFill>
                  <a:srgbClr val="2C3E50"/>
                </a:solidFill>
                <a:latin typeface="Calibri"/>
              </a:rPr>
              <a:t>Static analysis provides structured guidance that reduces trial-and-error, especially for complex kernels with dependencies.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