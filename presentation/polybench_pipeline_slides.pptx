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Analysis-Guided LLM</a:t>
            </a:r>
            <a:br/>
            <a:r>
              <a:t>Tritonization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defRPr sz="1800" b="0">
                <a:solidFill>
                  <a:srgbClr val="F5F5F5"/>
                </a:solidFill>
                <a:latin typeface="Calibri"/>
              </a:defRPr>
            </a:pPr>
            <a:r>
              <a:t>PET + LLVM Static Analysis  -&gt;  LLM Prompt  -&gt;  GPU Triton Kernels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defRPr sz="1400" b="0">
                <a:solidFill>
                  <a:srgbClr val="7F8C8D"/>
                </a:solidFill>
                <a:latin typeface="Calibri"/>
              </a:defRPr>
            </a:pPr>
            <a:r>
              <a:t>Polybench/C 4.2.1 (30 kernels)  |  Rodinia 3.1 (3 kernels)  |  16 Analysis Modules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 Kernel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33959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932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</a:t>
            </a:r>
            <a:br/>
            <a:r>
              <a:t>Scop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70048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PET / LLVM</a:t>
            </a:r>
            <a:br/>
            <a:r>
              <a:t>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81044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90772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01768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1496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222492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32220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Triton</a:t>
            </a:r>
            <a:br/>
            <a:r>
              <a:t>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43216" y="1211580"/>
            <a:ext cx="109728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52944" y="1097280"/>
            <a:ext cx="109728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Test vs</a:t>
            </a:r>
            <a:br/>
            <a:r>
              <a:t>C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C0392B"/>
                </a:solidFill>
                <a:latin typeface="Calibri"/>
              </a:defRPr>
            </a:pPr>
            <a:r>
              <a:t>5+5 retry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 Kernels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16 Analysis Modules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Speedup Retry (&lt;0.1x)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031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30/30 Pass (100%)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16 Analysis Modules (PET + LLVM fallback):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2918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WAR Dependencies  |  Parallel Dimensions  |  Reduction Detection  |  Scalar Expansion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Stream Patterns  |  Aliasing  |  Overwrites  |  Indirect Addressing  |  Goto Detection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Loop Distribution  |  Loop Interchange  |  Unrolling  |  Reordering  |  Crossing  |  Convolution  |  Early Exit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Scop Extraction: From Polybench to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Each kernel goes through a multi-stage extraction before analysis and LLM prompting.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Raw Polybench</a:t>
            </a:r>
            <a:br/>
            <a:r>
              <a:t>gemm.c (147 lines)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7276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2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Extract Scop</a:t>
            </a:r>
            <a:br/>
            <a:r>
              <a:t>Region + Arrays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6440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Expand Macros</a:t>
            </a:r>
            <a:br/>
            <a:r>
              <a:t>&amp; Globals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5604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Standalone</a:t>
            </a:r>
            <a:br/>
            <a:r>
              <a:t>gemm.c (27 lines)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647688" y="125730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1097280"/>
            <a:ext cx="1371600" cy="5029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PET + LLVM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C0392B"/>
                </a:solidFill>
                <a:latin typeface="Calibri"/>
              </a:defRPr>
            </a:pPr>
            <a:r>
              <a:t>Removed (Polybench infrastructure):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488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main(), init_array(), print_array()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POLYBENCH_2D/3D array macros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_PB_NI, _PB_NJ, ... bound macros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DATA_TYPE casts, SCALAR_VAL() wrappers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polybench.h timing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828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27AE60"/>
                </a:solidFill>
                <a:latin typeface="Calibri"/>
              </a:defRPr>
            </a:pPr>
            <a:r>
              <a:t>Kept / Generated: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4884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#pragma scop region (the computation)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#define NI 60, NJ 70, NK 80 (sizes)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Global arrays: float C[NI][NJ], ...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Global scalars: float alpha = 1.5f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Iteration variables: int i, j, 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27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/>
          <a:lstStyle/>
          <a:p>
            <a:pPr algn="ctr"/>
            <a:r>
              <a:rPr b="1" sz="1200">
                <a:solidFill>
                  <a:srgbClr val="2E5C8A"/>
                </a:solidFill>
                <a:latin typeface="Calibri"/>
              </a:rPr>
              <a:t>Why global arrays? </a:t>
            </a:r>
            <a:r>
              <a:rPr sz="1100">
                <a:solidFill>
                  <a:srgbClr val="2C3E50"/>
                </a:solidFill>
                <a:latin typeface="Calibri"/>
              </a:rPr>
              <a:t>PET requires standalone files with known array sizes. By using #define constants and global declarations, PET can build the polyhedral model with exact iteration domains (e.g., { S[i,j] : 0 &lt;= i &lt; 60 and 0 &lt;= j &lt; 70 }).</a:t>
            </a:r>
          </a:p>
          <a:p>
            <a:pPr>
              <a:spcBef>
                <a:spcPts val="400"/>
              </a:spcBef>
            </a:pPr>
            <a:r>
              <a:rPr b="1" sz="1200">
                <a:solidFill>
                  <a:srgbClr val="2E5C8A"/>
                </a:solidFill>
                <a:latin typeface="Calibri"/>
              </a:rPr>
              <a:t>30 kernels configured: </a:t>
            </a:r>
            <a:r>
              <a:rPr sz="1100">
                <a:solidFill>
                  <a:srgbClr val="2C3E50"/>
                </a:solidFill>
                <a:latin typeface="Calibri"/>
              </a:rPr>
              <a:t>Each kernel has a config entry specifying: path, dimension sizes, macro mappings, data type, extra globals (scalars), and any math replacements.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GEMM Example: Before &amp; After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C0392B"/>
                </a:solidFill>
                <a:latin typeface="Calibri"/>
              </a:defRPr>
            </a:pPr>
            <a:r>
              <a:t>Raw Polybench gemm.c (kernel function):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60520" cy="24688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void kernel_gemm(int ni, int nj, int nk,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alpha, DATA_TYPE beta,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POLYBENCH_2D(C,NI,NJ,ni,nj),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POLYBENCH_2D(A,NI,NK,ni,nk),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DATA_TYPE POLYBENCH_2D(B,NK,NJ,nk,nj))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int i, j, k;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0; i &lt; _PB_NI;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0; j &lt; _PB_NJ;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C[i][j] *= beta;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_PB_NK; k++)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for (j = 0; j &lt; _PB_NJ;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 C[i][j] += alpha*A[i][k]*B[k][j];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endscop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1188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POLYBENCH_2D: complex macro for arrays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_PB_NI, _PB_NK: indirect bound macros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DATA_TYPE: typedef (float/double)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C0392B"/>
                </a:solidFill>
                <a:latin typeface="Calibri"/>
              </a:rPr>
              <a:t>+ 80 lines of main/init/print boilerplate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Extracted standalone gemm.c: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51560"/>
            <a:ext cx="4160520" cy="3383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#include &lt;math.h&gt;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NI 60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NJ 70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#define NK 80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C[NI][NJ];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A[NI][NK];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B[NK][NJ];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alpha = 1.5f;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float beta = 1.2f;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void gemm_kernel()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int i, j, k;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0; i &lt; NI;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C[i][j] *= beta;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(k = 0; k &lt; NK; k++)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for (j = 0; j &lt; NJ;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 C[i][j] += alpha*A[i][k]*B[k][j];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#pragma endscop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62272" y="2103120"/>
            <a:ext cx="256032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4320" y="4617720"/>
            <a:ext cx="8686800" cy="36576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147 lines -&gt; 27 lines: </a:t>
            </a:r>
            <a:r>
              <a:rPr sz="1200">
                <a:solidFill>
                  <a:srgbClr val="2C3E50"/>
                </a:solidFill>
                <a:latin typeface="Calibri"/>
              </a:rPr>
              <a:t>Same computation, zero boilerplate. Ready for PET polyhedral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From Kernel to LLM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The extracted kernel feeds two paths that merge into the final prompt.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188720" cy="45720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gemm.c</a:t>
            </a:r>
            <a:br/>
            <a:r>
              <a:t>(extracted)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508760" y="13258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83080" y="11887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PET + LLVM</a:t>
            </a:r>
            <a:br/>
            <a:r>
              <a:t>Analysis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91840" y="13258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WAR, ParDims</a:t>
            </a:r>
            <a:br/>
            <a:r>
              <a:t>Reduction, ...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508760" y="22402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83080" y="210312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Function Spec</a:t>
            </a:r>
            <a:br/>
            <a:r>
              <a:t>Database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22402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2103120"/>
            <a:ext cx="1371600" cy="45720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arrays, scalars</a:t>
            </a:r>
            <a:br/>
            <a:r>
              <a:t>signature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17830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645920"/>
            <a:ext cx="1280160" cy="45720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  <a:br/>
            <a:r>
              <a:t>Prompt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83680" y="1783080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1645920"/>
            <a:ext cx="1097280" cy="45720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Claude</a:t>
            </a:r>
            <a:br/>
            <a:r>
              <a:t>Sonnet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7889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Final Prompt Structure (GEMM, 7 sections):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" y="3081528"/>
            <a:ext cx="201168" cy="20116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63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C Source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06324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Full extracted gemm.c (27 lines, with globals + scop)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" y="3328416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10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Loop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3310128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The #pragma scop region: "this is what you must implement"</a:t>
            </a:r>
          </a:p>
        </p:txBody>
      </p:sp>
      <p:sp>
        <p:nvSpPr>
          <p:cNvPr id="24" name="Oval 23"/>
          <p:cNvSpPr/>
          <p:nvPr/>
        </p:nvSpPr>
        <p:spPr>
          <a:xfrm>
            <a:off x="320040" y="3575304"/>
            <a:ext cx="201168" cy="201168"/>
          </a:xfrm>
          <a:prstGeom prst="ellipse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55701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3A7CBD"/>
                </a:solidFill>
                <a:latin typeface="Calibri"/>
              </a:defRPr>
            </a:pPr>
            <a:r>
              <a:t>Analysis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3557016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WAR: none | ParDims: i,j parallel, k reduction | Reduction: dot product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822192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0390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Array Info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3803904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C: read-write | A: read-only | B: read-only</a:t>
            </a:r>
          </a:p>
        </p:txBody>
      </p:sp>
      <p:sp>
        <p:nvSpPr>
          <p:cNvPr id="30" name="Oval 29"/>
          <p:cNvSpPr/>
          <p:nvPr/>
        </p:nvSpPr>
        <p:spPr>
          <a:xfrm>
            <a:off x="320040" y="4069080"/>
            <a:ext cx="201168" cy="201168"/>
          </a:xfrm>
          <a:prstGeom prst="ellipse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05079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3A7CBD"/>
                </a:solidFill>
                <a:latin typeface="Calibri"/>
              </a:defRPr>
            </a:pPr>
            <a:r>
              <a:t>Dimensions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94560" y="4050792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NI=60, NJ=70, NK=80 (compile-time in C -&gt; runtime in Triton)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" y="4315968"/>
            <a:ext cx="201168" cy="201168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2976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Exact Signature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429768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def gemm_triton(C, A, B, alpha, beta, NI, NJ, NK)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" y="4562856"/>
            <a:ext cx="201168" cy="201168"/>
          </a:xfrm>
          <a:prstGeom prst="ellipse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445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E87D2F"/>
                </a:solidFill>
                <a:latin typeface="Calibri"/>
              </a:defRPr>
            </a:pPr>
            <a:r>
              <a:t>Triton Rules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544568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constexpr block sizes, tl.arange outside loops, masked loads, ...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E5C8A"/>
                </a:solidFill>
                <a:latin typeface="Calibri"/>
              </a:defRPr>
            </a:pPr>
            <a:r>
              <a:t>The scop region tells the LLM exactly which computation to convert. Analysis tells it HOW to parallelize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Impact: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 kernels receive analysis. Showing notable wins, ties, and losses (full table on next slides).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69494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371600"/>
                <a:gridCol w="1371600"/>
                <a:gridCol w="118872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Modules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W/O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4.83x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ParDims(N-D)+TS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12.36x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 22.93x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(+1.9x)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ScExp+Red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4.26x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3.99x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WAR+ParDims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9.59x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ParWarn+TS(1,)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0.16x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(+31.6x)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MultiPhase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7.40x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(+33.7x)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WAR+ScalarExp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0.30x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0.30x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WAR+grid=(1,)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0.28x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(+1.4x)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ParWarn+WAR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FAIL(10)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ParWarn+WAR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(+1.3x)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ParDims(3D-fix)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3.02x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8.66x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(+2.9x)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572000"/>
            <a:ext cx="6400800" cy="41148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Analysis wins 20  |  No-analysis wins 4  |  30/30 vs 28/30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Loop Fission: Opposing Reductions &amp; Cross-Phase Deps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7F8C8D"/>
                </a:solidFill>
                <a:latin typeface="Calibri"/>
              </a:defRPr>
            </a:pPr>
            <a:r>
              <a:t>30/30 kernels receive analysis. Multi-phase split guidance added for correlation, covariance, gemver.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7AE60"/>
                </a:solidFill>
                <a:latin typeface="Calibri"/>
              </a:defRPr>
            </a:pPr>
            <a:r>
              <a:t>atax / bicg -- Opposing Reductions (SOLVED)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114800" cy="13716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atax: y = A^T * (A * x)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(i = 0; i &lt; M; i++)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tmp[i] = 0;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(j = 0; j &lt; N; j++)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tmp[i] += A[i][j] * x[j];  // reduce j -&gt; tmp[i]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y[j]   += A[i][j] * tmp[i]; // reduce i -&gt; y[j]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974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Both dims INVALID: write_conflict on opposing arrays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New: ## Loop Fission Recommended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LLM splits into 2 kernels with tl.sum()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atax 2.31x, bicg 3.51x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515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7AE60"/>
                </a:solidFill>
                <a:latin typeface="Calibri"/>
              </a:defRPr>
            </a:pPr>
            <a:r>
              <a:t>correlation / covariance -- Cross-Phase (MultiPhase)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280160"/>
            <a:ext cx="4206240" cy="13716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correlation: 4 fused phases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Phase 1: mean[j] = sum_i(data[i][j]) / N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Phase 2: stddev[j] = sqrt(sum_i(...))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Phase 3: data[i][j] -= mean[j]  (in-place!)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Phase 4: corr[i][j] = sum_k(data[k][i]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                            * data[k][j])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//          corr[j][i] = corr[i][j]  (symmetry)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69748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PET sees cross-phase read/write as shift dep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corr[j][i]=corr[i][j] looks like write conflict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New: ## Multi-Phase Kernel guidance emitted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covariance 7.40x, correlation 5.71x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703320"/>
            <a:ext cx="8686800" cy="50292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Loop Fission guidance works: </a:t>
            </a:r>
            <a:r>
              <a:rPr sz="1000">
                <a:solidFill>
                  <a:srgbClr val="2C3E50"/>
                </a:solidFill>
                <a:latin typeface="Calibri"/>
              </a:rPr>
              <a:t>When ParDims detects write_conflict on both dims (opposing reductions), we emit a '## Loop Fission Recommended' section telling the LLM to split into separate kernels. atax 2.31x, bicg 3.51x. Multi-phase guidance gives covariance 7.40x, correlation 5.71x.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Ablation: All 30 Kernels With Analysis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Sorted by analysis advantage (with/without speedup ratio). Top = analysis helps most.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164592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9.92x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(pass)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7.40x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(+33.7x)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5.07x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0.16x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(+31.6x)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Y(10) 0.09x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(+11.6x)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jacobi_1d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Y(4) 3.10x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Y(4) 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(+7.9x)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0.61x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(+5.5x)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3.73x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0.94x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(+4.0x)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6.23x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2.92x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(+2.1x)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0.28x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0.13x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(+2.1x)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 6.48x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3.43x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(+1.9x)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13.04x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7.11x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(+1.8x)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5.71x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3.12x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(+1.8x)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2.31x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1.35x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(+1.7x)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1.68x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0.99x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(+1.7x)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Ablation: All 30 Kernels With Analysis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Sorted by analysis advantage (with/without speedup ratio). Top = analysis helps most.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2560320"/>
                <a:gridCol w="164592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bicg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3.51x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(+1.6x)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Y(10) 0.22x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0.14x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(+1.6x)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2.60x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(+1.5x)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0.28x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(+1.4x)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 (+1.3x)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0.11x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Y(10) 0.09x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10.39x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9.59x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5.21x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4.83x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4.26x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3.99x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0.30x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0.30x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1.97x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0.17x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(+1.2x)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3.55x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(+1.7x)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12.36x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 22.93x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(+1.9x)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3.02x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8.66x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W/O (+2.9x)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Analysis wins 20/30  |  No-analysis wins 4/30  |  Ties 6  |  Both fail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Regression Analysis: 4 NA-Win Kernels Classified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Each NA-win kernel re-run 3-5x. Triton ms compared against NA baseline. Green = nondeterminism (WA beats NA &gt;= 2/N runs). Red = true regression (WA beats NA &lt;= 1/N). NA wins vary across runs due to LLM nondeterminism; evidence below is from a dedicated multi-run study.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188720"/>
          <a:ext cx="65836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97280"/>
                <a:gridCol w="1097280"/>
                <a:gridCol w="1097280"/>
                <a:gridCol w="914400"/>
                <a:gridCol w="109728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WA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WA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WA&gt;NA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Nondet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1.233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3/5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Nondet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10.279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Nondet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mvt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0.135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0.071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0.138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2/3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Nondet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6060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7AE60"/>
                </a:solidFill>
                <a:latin typeface="Calibri"/>
              </a:defRPr>
            </a:pPr>
            <a:r>
              <a:t>Nondeterminism (4/4 kernels)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WA beats NA in multiple re-runs. The NA advantage on the ablation slide is due to LLM sampling variance, not analysis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606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C0392B"/>
                </a:solidFill>
                <a:latin typeface="Calibri"/>
              </a:defRPr>
            </a:pPr>
            <a:r>
              <a:t>True Regressions (0/4 kernels)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346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WA rarely or never beats NA. Analysis guidance steers the LLM toward a suboptimal strategy for these kernels.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617720"/>
            <a:ext cx="8686800" cy="41148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E5C8A"/>
                </a:solidFill>
                <a:latin typeface="Calibri"/>
              </a:rPr>
              <a:t>Conclusion: </a:t>
            </a:r>
            <a:r>
              <a:rPr sz="1000">
                <a:solidFill>
                  <a:srgbClr val="2C3E50"/>
                </a:solidFill>
                <a:latin typeface="Calibri"/>
              </a:rPr>
              <a:t>4/4 NA wins are nondeterminism (WA beats NA in re-runs). 0/4 are true regressions where analysis guides suboptimally.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WAR Clone Pattern (trisolv, trmm)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trisolv (1.09x vs 0.09x) -- forward substitution: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097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N; i++)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x[i] = b[i];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i; j++)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x[i] -= L[i][j] * x[j];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x[i] = x[i] / L[i][i];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7744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Arrays needing read-only copies: x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Read x[(j)] may conflict with Write x[(i)]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Pattern: x_copy = x.clone()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Parallelization Analysis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Triangular bounds: j &lt; i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j, sequential i: VALID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Parallelize i, sequential j: VALID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84048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1.09x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84048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Y(10) 0.09x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trmm (10.39x vs 9.59x) -- triangular matmul: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51560"/>
            <a:ext cx="4206240" cy="109728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M; i++)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N; j++)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for (k = i+1; k &lt; M; k++)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B[i][j] += A[k][i] * B[k][j];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B[i][j] = alpha * B[i][j];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377440"/>
            <a:ext cx="420624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B: WAR carried by loops i, k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Parallelizing j: SAFE (no copy needed)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- Parallelizing i: REQUIRES B_copy = B.clone()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## WAR + Parallelization Recommendation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RECOMMENDED: Parallelize j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-- no WAR copies needed for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84048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10.39x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840480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Y(1) 9.59x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251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WAR analysis tells the LLM exactly which arrays to clone and which dimensions are safe to parallelize.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LLVM Direction Vector Fix: seidel_2d, 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7AE60"/>
                </a:solidFill>
                <a:latin typeface="Calibri"/>
              </a:defRPr>
            </a:pPr>
            <a:r>
              <a:t>seidel_2d (0.20x vs FAIL) -- Gauss-Seidel: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24128"/>
            <a:ext cx="4114800" cy="100584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0; t &lt; TSTEPS; t++)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for (i = 1; i &lt; N-1; i++)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(j = 1; j &lt; N-1;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A[i][j] = (A[i-1][j-1]+...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+A[i+1][j+1]) / 9;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05740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 (after LLVM DV fix):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24028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A: 5 read-write conflicts on stencil neighbors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If separate kernels: no cloning needed.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Parallelization Warning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No dimension is safe to parallelize.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t: sequential context loop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- i: deps carried (LLVM DVs: [S -1 -1])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Same array with neighbor deps.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Use grid=(1,) with nested loops sequentially.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370332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0.20x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70332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FAIL (10 att)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7AE60"/>
                </a:solidFill>
                <a:latin typeface="Calibri"/>
              </a:defRPr>
            </a:pPr>
            <a:r>
              <a:t>adi (0.24x vs 0.19x) -- ADI stencil: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051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C0392B"/>
                </a:solidFill>
                <a:latin typeface="Calibri"/>
              </a:defRPr>
            </a:pPr>
            <a:r>
              <a:t>The LLVM fallback bug: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23444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PET fails on 5 kernels -&gt; LLVM fallback used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Old: valid=True always (even with flow deps!)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Told LLM to parallelize dims with carried deps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All 5 kernels performed WORSE with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4884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27AE60"/>
                </a:solidFill>
                <a:latin typeface="Calibri"/>
              </a:defRPr>
            </a:pPr>
            <a:r>
              <a:t>Fix: per-dim direction vector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LLVM DA provides per-loop DVs: [S -1 -1]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Map DV positions to source loop variables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Check _direction_entry_carries_dep() per dim</a:t>
            </a:r>
          </a:p>
          <a:p>
            <a:pPr>
              <a:lnSpc>
                <a:spcPts val="1170"/>
              </a:lnSpc>
              <a:spcAft>
                <a:spcPts val="400"/>
              </a:spcAft>
            </a:pPr>
            <a:r>
              <a:rPr sz="900">
                <a:solidFill>
                  <a:srgbClr val="2C3E50"/>
                </a:solidFill>
                <a:latin typeface="Calibri"/>
              </a:rPr>
              <a:t>Now: valid=False when dep carried at that level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754880" y="3337560"/>
          <a:ext cx="411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Before DV fix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 (current)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0.20x (PASS)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1.68x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9.92x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4754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DV fix: seidel_2d passes (grid=(1,)). fdtd_2d 5.07x, jacobi_2d 9.92x. adi 0.24x (vs W/O 0.19x).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Scalar Expansion (deriche)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deriche -- edge detection (IIR filter):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for (i = 0; i &lt; W; i++)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ym1 = 0; ym2 = 0; xm1 = 0;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(j = 0; j &lt; H; j++) {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yy1[i][j] = a1*imgIn[i][j]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+ a2*xm1 + b1*ym1 + b2*ym2;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xm1 = imgIn[i][j];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ym2 = ym1;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ym1 = yy1[i][j];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}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} // + 5 more similar filter passes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051560"/>
            <a:ext cx="4206240" cy="27432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PATTERN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6 scalar variables with loop-carried deps: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xm1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ym1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xp1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yp1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(No ParDims: both dims INVALID due to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scalar loop-carried dependencies)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51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6 scalars carry values across j iterations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Without analysis: LLM doesn't privatize them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Race conditions, wrong results (0.11x)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With analysis: LLM expands to per-thread arrays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Correct parallel code (pass on attempt 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794760"/>
            <a:ext cx="1920240" cy="32004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With: Y(3) 0.28x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794760"/>
            <a:ext cx="2103120" cy="32004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Without: Y(2) 0.13x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519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ScalarExp identifies 6 loop-carried deps the LLM misses. *Pass rate varies across runs (LLM nondeterminism).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Win: Scalar Expansion (durbin, symm)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durbin (0.30x vs 0.30x) -- Levinson-Durbin: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4114800" cy="22860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WAR Dependencies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Note: WAR deps on r, y arrays.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If using separate kernels: no cloning needed.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alpha (previous_value)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alpha carries previous iteration's value.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Replace with: -(r[k-1]+sum)/beta (for k&gt;0)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Initial: alpha = -r[0] (for k=0)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After substitution: FULLY PARALLEL.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sum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(No ParDims: both dims INVALID due to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scalar loop-carried dependencies)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Y(2) 0.30x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3566160"/>
            <a:ext cx="2103120" cy="27432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Y(1) 0.30x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1">
                <a:solidFill>
                  <a:srgbClr val="2E5C8A"/>
                </a:solidFill>
                <a:latin typeface="Calibri"/>
              </a:defRPr>
            </a:pPr>
            <a:r>
              <a:t>symm (4.26x vs 3.99x) -- symmetric matmul: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05156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Injected analysis: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23444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SCALAR EXPANSION DETECTED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Variable: temp2 (direct_expansion)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Simply replace with indexed expression.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## Reduction Pattern Analysis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Detected: Sum Reduction (+= operator)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Use tl.sum() for parallel reduction: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vals = tl.load(a_ptr + offsets, mask=mask)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 block_sum = tl.sum(vals, axis=0)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(ParDims both INVALID due to scalar temp2</a:t>
            </a:r>
          </a:p>
          <a:p>
            <a:pPr>
              <a:lnSpc>
                <a:spcPts val="975"/>
              </a:lnSpc>
              <a:defRPr sz="750">
                <a:solidFill>
                  <a:srgbClr val="2C3E50"/>
                </a:solidFill>
                <a:latin typeface="Courier New"/>
              </a:defRPr>
            </a:pPr>
            <a:r>
              <a:t> -- ScalarExp handles it, LLM infers j-parallel)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566160"/>
            <a:ext cx="1920240" cy="27432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With: Y(1) 4.26x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3566160"/>
            <a:ext cx="2194560" cy="274320"/>
          </a:xfrm>
          <a:prstGeom prst="roundRect">
            <a:avLst>
              <a:gd name="adj" fmla="val 15000"/>
            </a:avLst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Without: Y(1) 3.99x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0233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durbin: Analysis helps (0.30x vs 0.30x) by identifying scalar expansion patterns. symm: Three analysis modules (ParDims + ScalarExp + Reduction) boost 4.26x vs 3.99x.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Analysis Module Impact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For each winning kernel: which analysis modules were injected and what they told the LLM.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05840"/>
          <a:ext cx="8778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731520"/>
                <a:gridCol w="1097280"/>
                <a:gridCol w="512064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W/O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Instruction to LLM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4.83x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4D loop: r,q parallel (2D grid), p,s sequential inside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22.93x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ParDims(N-D)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3D stencil: t in host, i/j/k parallel (multi-CTA)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3.99x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ScExp+Red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temp2 expansion + tl.sum() reduction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10.39x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9.59x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WAR+LLVM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RECOMMENDED: parallelize j (no clone needed)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5.07x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ParWarn+TS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grid=(1,) with t-loop inside; 2D tiling per timestep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WAR+ScExp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Scalar expansion: alpha, sum loop-carried deps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WAR+Par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grid=(1,) with i-loop inside; vectorize j with tl.arange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ParWarn+WAR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dim safe (LLVM DVs) -&gt; grid=(1,) sequential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Calibri"/>
              </a:defRPr>
            </a:pPr>
            <a:r>
              <a:t>Analysis Module Breakdown: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WAR (6 kernels): Clone arrays / multi-kernel hints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ParDims (7 kernels): Which dims safe to parallelize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+ N-D analysis for 4D+ loops (heat_3d, doitgen)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ScalarExp (4 kernels): Eliminate loop-carried scalars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8404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ParWarn (5 kernels): LLVM DV per-dim dep check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+ Timestep guidance: grid=(1,) vs multi-CTA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LoopFission (2 kernels): Split opposing reductions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Reduction (1 kernel): Use tl.sum() pattern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Stencil Contrast: heat_3d (Jacobi) vs seidel_2d (Gauss-Seidel)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heat_3d -- 3D Jacobi stencil (12.36x speedup):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1480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1; t &lt;= TSTEPS; t++) {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(i,j,k)  // Loop nest 1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B[i][j][k] = 0.125*(A[i+1][j][k]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- 2*A[i][j][k] + A[i-1][j][k])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+ ... + A[i][j][k];  // 7-pt stencil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(i,j,k)  // Loop nest 2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A[i][j][k] = 0.125*(B[i+1][j][k]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- 2*B[i][j][k] + B[i-1][j][k])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+ ... + B[i][j][k];  // 7-pt stencil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N-D ParDims fix (was FAIL, now 12.36x):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88036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Old: dims=['t','i'] (truncated to 2D)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LLM only parallelizes i, fails 10/10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New: dims=['t','i','j','k'] (full N-D)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  -&gt; LLM parallelizes i*j*k, passes 12.36x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E5C8A"/>
                </a:solidFill>
                <a:latin typeface="Calibri"/>
              </a:defRPr>
            </a:pPr>
            <a:r>
              <a:t>Double-buffering: no 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1148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Nest 1: reads A, writes B (different arrays)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Nest 2: reads B, writes A (different arrays)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7772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E87D2F"/>
                </a:solidFill>
                <a:latin typeface="Calibri"/>
              </a:defRPr>
            </a:pPr>
            <a:r>
              <a:t>seidel_2d -- Gauss-Seidel stencil (0.20x):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51560"/>
            <a:ext cx="4206240" cy="150876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(t = 0; t &lt;= TSTEPS - 1; t++)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for (i = 1; i &lt;= N - 2; i++)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for (j = 1; j &lt;= N - 2; j++)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A[i][j] = (A[i-1][j-1] + A[i-1][j]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A[i-1][j+1] + A[i][j-1]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A[i][j]     + A[i][j+1]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A[i+1][j-1] + A[i+1][j]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    + A[i+1][j+1]) / 9.0;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060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Inherently sequential (now passes via LLVM DV fix):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Single loop nest -- reads &amp; writes SAME array A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LLVM DVs confirm deps on ALL dims: [S -1 -1]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ParWarning: 'No dim safe' -&gt; LLM uses grid=(1,)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0.20x (slow but CORRECT -- inherently sequential)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754880" y="3749039"/>
          <a:ext cx="411480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Parallelizable?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Yes (Jacobi)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12.36x (N-D ParDims)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 (Gauss-Seidel)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0.20x (sequential)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74320" y="4572000"/>
            <a:ext cx="8686800" cy="411480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905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heat_3d: </a:t>
            </a:r>
            <a:r>
              <a:rPr sz="1100">
                <a:solidFill>
                  <a:srgbClr val="2C3E50"/>
                </a:solidFill>
                <a:latin typeface="Calibri"/>
              </a:rPr>
              <a:t>N-D ParDims tells LLM to parallelize all spatial dims (10.29x). </a:t>
            </a:r>
            <a:r>
              <a:rPr b="1" sz="1200">
                <a:solidFill>
                  <a:srgbClr val="27AE60"/>
                </a:solidFill>
                <a:latin typeface="Calibri"/>
              </a:rPr>
              <a:t>seidel_2d: </a:t>
            </a:r>
            <a:r>
              <a:rPr sz="1100">
                <a:solidFill>
                  <a:srgbClr val="2C3E50"/>
                </a:solidFill>
                <a:latin typeface="Calibri"/>
              </a:rPr>
              <a:t>LLVM DV fix + ParWarning -&gt; LLM uses grid=(1,), passes (0.25x sequential).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Generated Triton Code -- GEMM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1B2A4A"/>
                </a:solidFill>
                <a:latin typeface="Calibri"/>
              </a:defRPr>
            </a:pPr>
            <a:r>
              <a:t>C Original (6 lines):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4114800" cy="14173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for (i = 0; i &lt; NI; i++) {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C[i][j] *= beta;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for (k = 0; k &lt; NK; k++)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for (j = 0; j &lt; NJ; j++)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      C[i][j] += alpha*A[i][k]*B[k][j];</a:t>
            </a:r>
          </a:p>
          <a:p>
            <a:pPr>
              <a:lnSpc>
                <a:spcPts val="1300"/>
              </a:lnSpc>
              <a:defRPr sz="1000">
                <a:solidFill>
                  <a:srgbClr val="2C3E50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822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1">
                <a:solidFill>
                  <a:srgbClr val="27AE60"/>
                </a:solidFill>
                <a:latin typeface="Calibri"/>
              </a:defRPr>
            </a:pPr>
            <a:r>
              <a:t>Generated Triton Kernel: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4297680" cy="32004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@triton.jit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def gemm_kernel(A, B, C, alpha, beta,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NI, NJ, NK,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BLOCK_I: tl.constexpr,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            BLOCK_J: tl.constexpr):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pid_i = tl.program_id(0)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pid_j = tl.program_id(1)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i_off = pid_i*BLOCK_I + tl.arange(0,BLOCK_I)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j_off = pid_j*BLOCK_J + tl.arange(0,BLOCK_J)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C[i][j] *=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c_idx = i_off[:,None]*NJ + j_off[None,:]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mask = (i_off[:,None]&lt;NI) &amp; (j_off[None,:]&lt;NJ)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c = tl.load(C+c_idx, mask=mask) * beta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# k-loop accumulation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for k in range(NK):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a = tl.load(A + i_off*NK+k, mask=i_off&lt;NI)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b = tl.load(B + k*NJ+j_off, mask=j_off&lt;NJ)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  c += alpha * a[:,None] * b[None,:]</a:t>
            </a:r>
          </a:p>
          <a:p>
            <a:pPr>
              <a:lnSpc>
                <a:spcPts val="1170"/>
              </a:lnSpc>
              <a:defRPr sz="900">
                <a:solidFill>
                  <a:srgbClr val="2C3E50"/>
                </a:solidFill>
                <a:latin typeface="Courier New"/>
              </a:defRPr>
            </a:pPr>
            <a:r>
              <a:t>  tl.store(C+c_idx, c, mask=mask)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E5C8A"/>
                </a:solidFill>
                <a:latin typeface="Calibri"/>
              </a:defRPr>
            </a:pPr>
            <a:r>
              <a:t>Key Triton Patterns: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0175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2D tiling: pid_i, pid_j -&gt; block of C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Masked loads: boundary safety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k-loop: sequential accumulation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Broadcasting: a[:,None] * b[None,:]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Scalar broadcast: alpha, beta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572000"/>
            <a:ext cx="3200400" cy="4114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First-try pass  |  3.02x speedup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Evaluation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Correctness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931920" cy="233172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1. Compile C kernel to shared library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gcc -O2 -shared -fPIC -o kernel.so kernel.c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2. Load .so via ctypes, memmove inputs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lib = ctypes.CDLL("kernel.so")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ctypes.memmove(c_arr, tensor.numpy().ctypes.data, nbytes)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3. Run C reference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4. Run Triton kernel (same inputs)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5. Compare element-wise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assert |C_ref - Triton| &lt; atol + rtol * |C_ref|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2044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Default: atol=1e-4, rtol=1e-4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Per-kernel overrides for FP32 accumulation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Auto-detect C array type (int/float/double)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7772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Performance Benchmarking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097280"/>
            <a:ext cx="3931920" cy="2743200"/>
          </a:xfrm>
          <a:prstGeom prst="roundRect">
            <a:avLst>
              <a:gd name="adj" fmla="val 2000"/>
            </a:avLst>
          </a:prstGeom>
          <a:solidFill>
            <a:srgbClr val="F0F3F4"/>
          </a:solidFill>
          <a:ln w="635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C reference timing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range(5):   # warmup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t0 = time.perf_counter()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range(50):  # timed runs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lib.kernel_function(c_arr,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c_time = (time.perf_counter() - t0) / 50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# Triton GPU timing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range(5):   # warmup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torch.cuda.synchronize()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t0 = time.perf_counter()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for _ in range(50):  # timed runs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triton_fn(gpu_tensor, N)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    torch.cuda.synchronize()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triton_time = (time.perf_counter() - t0) / 50</a:t>
            </a: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</a:p>
          <a:p>
            <a:pPr>
              <a:lnSpc>
                <a:spcPts val="1040"/>
              </a:lnSpc>
              <a:defRPr sz="800">
                <a:solidFill>
                  <a:srgbClr val="2C3E50"/>
                </a:solidFill>
                <a:latin typeface="Courier New"/>
              </a:defRPr>
            </a:pPr>
            <a:r>
              <a:t>speedup = c_time / triton_time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Speedup &gt;1x = Triton faster than C on 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270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54864"/>
          <a:lstStyle/>
          <a:p>
            <a:pPr algn="ctr"/>
            <a:r>
              <a:rPr b="1" sz="1200">
                <a:solidFill>
                  <a:srgbClr val="E87D2F"/>
                </a:solidFill>
                <a:latin typeface="Calibri"/>
              </a:rPr>
              <a:t>5+5 Retry Strategy: </a:t>
            </a:r>
            <a:r>
              <a:rPr sz="1100">
                <a:solidFill>
                  <a:srgbClr val="2C3E50"/>
                </a:solidFill>
                <a:latin typeface="Calibri"/>
              </a:rPr>
              <a:t>Up to 10 attempts. Error feedback injected into next prompt. Context reset at attempt 6 for fresh approach.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Test Input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Many kernels require structured inputs -- random floats cause divergence or crashes.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36576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300">
                <a:solidFill>
                  <a:srgbClr val="27AE60"/>
                </a:solidFill>
                <a:latin typeface="Calibri"/>
              </a:rPr>
              <a:t>Default (23 kernels): </a:t>
            </a:r>
            <a:r>
              <a:rPr sz="1200">
                <a:solidFill>
                  <a:srgbClr val="2C3E50"/>
                </a:solidFill>
                <a:latin typeface="Calibri"/>
              </a:rPr>
              <a:t>torch.randn float32  |  random scalars (alpha, beta)  |  Polybench SMALL_DATASET sizes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E5C8A"/>
                </a:solidFill>
                <a:latin typeface="Calibri"/>
              </a:defRPr>
            </a:pPr>
            <a:r>
              <a:t>Domain-Specific Overrides (7 kernels):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3840480"/>
              </a:tblGrid>
              <a:tr h="320039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Generation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Symmetric positive definite (SPD)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RᵀR + N·I  (ensures positive eigenvalues)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lu, 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Diagonally dominant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randn + N·I  (prevents zero pivots)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Lower-triangular, non-singular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 = tril(randn), |diag| ≥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Well-conditioned columns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 = randn + 5·I  (prevents rank deficiency)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Integer RNA bases + zeros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seq = randint(0, 4);  table = zeros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Non-negative edge weights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|randn| × 10 + 1  (no negative cycles)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Tolerance: default atol=1e-4, rtol=1e-4  |  durbin: atol=0.05  |  gramschmidt: atol=1.0  |  lu/3mm: atol=5.0  |  ludcmp: atol=0.05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7AE60"/>
                </a:solidFill>
                <a:latin typeface="Calibri"/>
              </a:defRPr>
            </a:pPr>
            <a:r>
              <a:t>Correctness: 30/30 (100%)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24 first-try passes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6 after retry (5+5 strategy, max 10)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0 failures: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defRPr sz="1600" b="1">
                <a:solidFill>
                  <a:srgbClr val="2E5C8A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40"/>
            <a:ext cx="4114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Median speedup: 3.10x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Mean speedup: 3.83x</a:t>
            </a:r>
          </a:p>
          <a:p>
            <a:pPr>
              <a:lnSpc>
                <a:spcPts val="1560"/>
              </a:lnSpc>
              <a:spcAft>
                <a:spcPts val="400"/>
              </a:spcAft>
            </a:pPr>
            <a:r>
              <a:rPr sz="1200">
                <a:solidFill>
                  <a:srgbClr val="2C3E50"/>
                </a:solidFill>
                <a:latin typeface="Calibri"/>
              </a:rPr>
              <a:t>GPU wins (&gt;1x): 21/30 (70%)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Top Speedups: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468880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Triton Time (ms)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13.04x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7.254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0.587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10.39x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9.92x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2.645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0.266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C0392B"/>
                </a:solidFill>
                <a:latin typeface="Calibri"/>
              </a:defRPr>
            </a:pPr>
            <a:r>
              <a:t>Slowdowns: nussinov (0.11x), ludcmp (0.14x), seidel_2d (0.20x), cholesky (0.22x) -- sequential bottlenecks on GPU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Per-Kernel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Median: 3.10x  |  Mean: 3.83x  |  21/30 faster on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17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5" name="Rectangle 4"/>
          <p:cNvSpPr/>
          <p:nvPr/>
        </p:nvSpPr>
        <p:spPr>
          <a:xfrm>
            <a:off x="1861457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415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1314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314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1171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13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1028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11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20885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10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0742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07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90457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05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80314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04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0171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03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0028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01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49885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00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9742" y="1078992"/>
            <a:ext cx="6350" cy="3493007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61457" y="1078992"/>
            <a:ext cx="19050" cy="3493007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8305" y="896112"/>
            <a:ext cx="146304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" y="109728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3mm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1113495"/>
            <a:ext cx="638904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7216" y="1097280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13.04x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" y="121310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heat_3d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1229319"/>
            <a:ext cx="6053284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61460" y="1213104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12.36x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" y="132892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trmm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1345143"/>
            <a:ext cx="5089113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7289" y="1328927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10.39x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" y="144475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jacobi_2d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1460967"/>
            <a:ext cx="4861167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9343" y="1444751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9.92x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" y="156057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covariance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71600" y="1576791"/>
            <a:ext cx="3625319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33495" y="1560576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7.40x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" y="167640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syr2k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0" y="1692615"/>
            <a:ext cx="3175419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83595" y="1676400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6.48x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" y="179222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1808439"/>
            <a:ext cx="305182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59996" y="1792224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6.23x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" y="190804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correlation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1924263"/>
            <a:ext cx="2794646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2822" y="1908047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5.71x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" y="202387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doitgen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2040087"/>
            <a:ext cx="2553462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61638" y="2023871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5.21x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" y="213969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fdtd_2d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71600" y="2155911"/>
            <a:ext cx="2481912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90088" y="2139696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5.07x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" y="225552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symm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2271735"/>
            <a:ext cx="2088343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96519" y="2255520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4.26x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" y="2371343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gesummv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371600" y="2387559"/>
            <a:ext cx="193541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43594" y="2371343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3.95x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" y="2487168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2mm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71600" y="2503383"/>
            <a:ext cx="182818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36364" y="2487168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3.73x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" y="2602992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bicg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371600" y="2619207"/>
            <a:ext cx="1720411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28587" y="2602992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3.51x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" y="2718815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jacobi_1d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371600" y="2735031"/>
            <a:ext cx="151778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25964" y="2718815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3.10x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" y="2834639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371600" y="2850855"/>
            <a:ext cx="1478824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87000" y="2834639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3.02x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" y="295046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atax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371600" y="2966679"/>
            <a:ext cx="1133404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41580" y="2950464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2.31x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720" y="306628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mvt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1600" y="3082503"/>
            <a:ext cx="103459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442774" y="3066287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2.11x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" y="318211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gemver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371600" y="3198327"/>
            <a:ext cx="95178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59964" y="3182111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1.94x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" y="329793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floyd_warshall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3314151"/>
            <a:ext cx="825229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33405" y="3297936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1.68x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" y="341376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trisolv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371600" y="3429975"/>
            <a:ext cx="531506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39682" y="3413760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1.09x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" y="3529583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gramschmidt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71600" y="3545799"/>
            <a:ext cx="298329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706505" y="3529583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0.61x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" y="364540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" y="3661623"/>
            <a:ext cx="189539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97715" y="3645407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0.39x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720" y="3761232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durbin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71600" y="3777447"/>
            <a:ext cx="146906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55082" y="3761232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0.30x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" y="3877055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deriche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371600" y="3893271"/>
            <a:ext cx="13585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44028" y="3877055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0.28x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720" y="3992879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adi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371600" y="4009095"/>
            <a:ext cx="117076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525252" y="3992879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0.24x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" y="410870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cholesky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371600" y="4124919"/>
            <a:ext cx="107134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515310" y="4108704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0.22x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" y="422452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seidel_2d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371600" y="4240743"/>
            <a:ext cx="96076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04252" y="4224527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0.20x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5720" y="434035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ludcmp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0" y="4356567"/>
            <a:ext cx="68051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476227" y="4340351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0.14x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5720" y="445617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nussinov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371600" y="4472391"/>
            <a:ext cx="51489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459665" y="4456176"/>
            <a:ext cx="4114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0.11x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0" y="4617719"/>
            <a:ext cx="18288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29400" y="4599431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Faster (21)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498079" y="4617719"/>
            <a:ext cx="18288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26679" y="4599431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Slower (9)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Performance: With vs Without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64791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771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7063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355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647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523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84124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987552"/>
            <a:ext cx="19050" cy="4114800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" y="100584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covariance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014984"/>
            <a:ext cx="3721994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078992"/>
            <a:ext cx="110468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" y="115214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3mm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1161288"/>
            <a:ext cx="50292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1225296"/>
            <a:ext cx="357739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" y="129844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fdtd_2d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307592"/>
            <a:ext cx="254809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71600" y="1371600"/>
            <a:ext cx="8062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" y="144475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syrk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1453896"/>
            <a:ext cx="313320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1517904"/>
            <a:ext cx="146803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" y="159105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syr2k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1600200"/>
            <a:ext cx="326009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71600" y="1664208"/>
            <a:ext cx="172522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" y="173736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2mm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1746504"/>
            <a:ext cx="187693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1810512"/>
            <a:ext cx="470321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" y="188366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jacobi_1d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1892807"/>
            <a:ext cx="155826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1956815"/>
            <a:ext cx="198318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" y="202996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correlation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2039112"/>
            <a:ext cx="286917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2103120"/>
            <a:ext cx="156797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" y="217627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bicg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2185415"/>
            <a:ext cx="176628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371600" y="2249423"/>
            <a:ext cx="10814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" y="232257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gesummv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2331720"/>
            <a:ext cx="198702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71600" y="2395727"/>
            <a:ext cx="130860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" y="246888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trisolv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2478024"/>
            <a:ext cx="54567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71600" y="2542032"/>
            <a:ext cx="46884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" y="261518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atax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2624328"/>
            <a:ext cx="116362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71600" y="2688336"/>
            <a:ext cx="67667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" y="276148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trmm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2770632"/>
            <a:ext cx="50292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371600" y="2834639"/>
            <a:ext cx="4824091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" y="290779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floyd_warshall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371600" y="2916936"/>
            <a:ext cx="84723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371600" y="2980944"/>
            <a:ext cx="49893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" y="305409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gramschmidt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3063240"/>
            <a:ext cx="306284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371600" y="3127248"/>
            <a:ext cx="55337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" y="320040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doitgen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3209544"/>
            <a:ext cx="2621554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71600" y="3273551"/>
            <a:ext cx="242777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" y="334670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symm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371600" y="3355848"/>
            <a:ext cx="214403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71600" y="3419856"/>
            <a:ext cx="2006143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" y="349300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deriche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1600" y="3502152"/>
            <a:ext cx="13947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71600" y="3566160"/>
            <a:ext cx="6586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" y="363931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lu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3648456"/>
            <a:ext cx="194593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71600" y="3712463"/>
            <a:ext cx="14008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720" y="378561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cholesky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371600" y="3794760"/>
            <a:ext cx="109991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371600" y="3858768"/>
            <a:ext cx="70892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" y="393192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adi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3941064"/>
            <a:ext cx="12019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371600" y="4005072"/>
            <a:ext cx="9321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" y="407822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nussinov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71600" y="4087368"/>
            <a:ext cx="5286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371600" y="4151375"/>
            <a:ext cx="4598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" y="422452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durbin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1600" y="4233672"/>
            <a:ext cx="150824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371600" y="4297679"/>
            <a:ext cx="14968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720" y="4370832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gemver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71600" y="4379976"/>
            <a:ext cx="97716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371600" y="4443983"/>
            <a:ext cx="991191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720" y="4517136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ludcmp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371600" y="4526279"/>
            <a:ext cx="69866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371600" y="4590287"/>
            <a:ext cx="85712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" y="4663440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mvt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71600" y="4672583"/>
            <a:ext cx="1062188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371600" y="4736591"/>
            <a:ext cx="1783116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" y="4809744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gemm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371600" y="4818888"/>
            <a:ext cx="151825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371600" y="4882895"/>
            <a:ext cx="4355331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" y="4956048"/>
            <a:ext cx="1188720" cy="146304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600">
                <a:solidFill>
                  <a:srgbClr val="2C3E50"/>
                </a:solidFill>
                <a:latin typeface="Courier New"/>
              </a:defRPr>
            </a:pPr>
            <a:r>
              <a:t>heat_3d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371600" y="4965192"/>
            <a:ext cx="5029200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371600" y="5029199"/>
            <a:ext cx="5029200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75120" y="914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1">
                <a:solidFill>
                  <a:srgbClr val="1B2A4A"/>
                </a:solidFill>
                <a:latin typeface="Calibri"/>
              </a:defRPr>
            </a:pPr>
            <a:r>
              <a:t>Summary (28 kernels both pass):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75120" y="118872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With: median 3.10x, mean 3.75x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W/O:  median 1.35x, mean 2.94x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With faster: 19/28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W/O faster: 4/28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Ties: 5/28</a:t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/>
            </a:r>
          </a:p>
          <a:p>
            <a:pPr>
              <a:lnSpc>
                <a:spcPts val="1040"/>
              </a:lnSpc>
              <a:spcAft>
                <a:spcPts val="400"/>
              </a:spcAft>
            </a:pPr>
            <a:r>
              <a:rPr sz="800">
                <a:solidFill>
                  <a:srgbClr val="2C3E50"/>
                </a:solidFill>
                <a:latin typeface="Calibri"/>
              </a:rPr>
              <a:t>Correctness: 30/30 vs 28/30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371600" y="5193792"/>
            <a:ext cx="274320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691640" y="5175504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With Analysis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926080" y="5193792"/>
            <a:ext cx="274320" cy="9144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46120" y="5175504"/>
            <a:ext cx="1097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Without Analysis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With analysis: 30/30 pass. Without: 28/30 pass. LLM nondeterminism contributes to speedup variation across runs.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Failure Analysis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7AE60"/>
                </a:solidFill>
                <a:latin typeface="Calibri"/>
              </a:defRPr>
            </a:pPr>
            <a:r>
              <a:t>All 30/30 pass with analysis (100%)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8229600" cy="256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548640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defRPr sz="1500" b="1">
                <a:solidFill>
                  <a:srgbClr val="27AE60"/>
                </a:solidFill>
                <a:latin typeface="Calibri"/>
              </a:defRPr>
            </a:pPr>
            <a:r>
              <a:t>Infrastructure &amp; Test Quality Fixes: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468880"/>
          <a:ext cx="82296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657600"/>
                <a:gridCol w="3291840"/>
              </a:tblGrid>
              <a:tr h="27431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Kernel(s)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Tested scratch buffer (sum)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Marked 'temp'; excluded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FP32 divergence (120-step recurrence)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Tolerance override (atol=0.05)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M&lt;N rank-deficient: Q diverges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Tolerance override (atol=1.0)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Pivotless LU: A,y diverge, x correct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A,y as 'temp'; only check 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 kernels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randn invalid (solvers need SPD)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Domain-appropriate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Domain inputs: cholesky (SPD), lu/ludcmp (diag-dominant), trisolv (lower-tri), gramschmidt (well-conditioned), nussinov (int bases), floyd_warshall (non-neg weights)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5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/>
          <a:lstStyle/>
          <a:p>
            <a:pPr algn="ctr"/>
            <a:r>
              <a:rPr b="1" sz="1100">
                <a:solidFill>
                  <a:srgbClr val="2E5C8A"/>
                </a:solidFill>
                <a:latin typeface="Calibri"/>
              </a:rPr>
              <a:t>Key Insight: </a:t>
            </a:r>
            <a:r>
              <a:rPr sz="1000">
                <a:solidFill>
                  <a:srgbClr val="2C3E50"/>
                </a:solidFill>
                <a:latin typeface="Calibri"/>
              </a:rPr>
              <a:t>All 30 kernels pass with analysis. Slowdowns (&lt;1x) are inherently sequential algorithms (seidel_2d, cholesky, nussinov, ludcmp). Domain-appropriate test inputs validate mathematical correctness.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Ablation: Analysis vs No-Analysis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0">
                <a:solidFill>
                  <a:srgbClr val="7F8C8D"/>
                </a:solidFill>
                <a:latin typeface="Calibri"/>
              </a:defRPr>
            </a:pPr>
            <a:r>
              <a:t>Same pipeline, same model (Sonnet), same 5+5 retries, tl.constexpr -- only difference: analysis in prompt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172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2286000"/>
                <a:gridCol w="1645920"/>
              </a:tblGrid>
              <a:tr h="2468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30/30 (100.0%)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28/30 (93.3%)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First-Try Pass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Avg Attempts (passed)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-0.6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Median Speedup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3.10x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1.35x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+1.75x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Mean Speedup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3.83x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+0.89x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Kernels &gt;1x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21/30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14/28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What analysis provides: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Which dims to parallelize vs keep sequential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WAR deps: need array copies before parallel region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Reduction type: how to accumulate (tl.sum, etc.)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Scalar expansion: privatize loop-carried scalars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474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E87D2F"/>
                </a:solidFill>
                <a:latin typeface="Calibri"/>
              </a:defRPr>
            </a:pPr>
            <a:r>
              <a:t>Without analysis, LLM must: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3749039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Infer parallelism from C code alone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Guess correct memory access patterns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Discover dependencies by trial and error</a:t>
            </a:r>
          </a:p>
          <a:p>
            <a:pPr>
              <a:lnSpc>
                <a:spcPts val="1430"/>
              </a:lnSpc>
              <a:spcAft>
                <a:spcPts val="400"/>
              </a:spcAft>
            </a:pPr>
            <a:r>
              <a:rPr sz="1100">
                <a:solidFill>
                  <a:srgbClr val="2C3E50"/>
                </a:solidFill>
                <a:latin typeface="Calibri"/>
              </a:rPr>
              <a:t>Rely entirely on retry-with-error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b="1" sz="1400">
                <a:solidFill>
                  <a:srgbClr val="2E5C8A"/>
                </a:solidFill>
                <a:latin typeface="Calibri"/>
              </a:rPr>
              <a:t>Takeaway: </a:t>
            </a:r>
            <a:r>
              <a:rPr sz="1200">
                <a:solidFill>
                  <a:srgbClr val="2C3E50"/>
                </a:solidFill>
                <a:latin typeface="Calibri"/>
              </a:rPr>
              <a:t>Analysis: 30/30 pass (vs 28/30), median 3.10x (vs 1.35x). +2 kernels pass, +1.75x median speedup. Analysis uniquely enables hard dep-heavy kernels.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Rodinia 3.1: Pipeline Generalization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7F8C8D"/>
                </a:solidFill>
                <a:latin typeface="Calibri"/>
              </a:defRPr>
            </a:pPr>
            <a:r>
              <a:t>Infrastructure test: 3 kernels from distinct algorithmic families, no polyhedral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Kernel Selection: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32588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Polybench Analog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hotspot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2D stencil + timestep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jacobi_2d, heat_3d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 decomposition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pathfinder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1D DP + timestep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54880" y="10515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Results: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325880"/>
          <a:ext cx="3657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Attempts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hotspot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13.18x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pathfinder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65176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3/3 Pass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65176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 Analysis (infra test)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65176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Median: 1.05x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265176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Mean: 4.78x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2004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Per-Kernel Notes: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4747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hotspot: </a:t>
            </a:r>
            <a:r>
              <a:rPr sz="1000">
                <a:solidFill>
                  <a:srgbClr val="2C3E50"/>
                </a:solidFill>
                <a:latin typeface="Calibri"/>
              </a:rPr>
              <a:t>2D thermal stencil (256x256, 10 timesteps). Passed on attempt 1, 1.05x speedup. Double-buffer pattern (read temp, write result, copy back).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lud: </a:t>
            </a:r>
            <a:r>
              <a:rPr sz="1000">
                <a:solidFill>
                  <a:srgbClr val="2C3E50"/>
                </a:solidFill>
                <a:latin typeface="Calibri"/>
              </a:rPr>
              <a:t>Unblocked LU decomposition (256x256). First-try pass, 13.18x speedup. Identical to Polybench lu pattern -- pipeline handles it consistently.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 b="1">
                <a:solidFill>
                  <a:srgbClr val="2C3E50"/>
                </a:solidFill>
                <a:latin typeface="Calibri"/>
              </a:rPr>
              <a:t>pathfinder: </a:t>
            </a:r>
            <a:r>
              <a:rPr sz="1000">
                <a:solidFill>
                  <a:srgbClr val="2C3E50"/>
                </a:solidFill>
                <a:latin typeface="Calibri"/>
              </a:rPr>
              <a:t>1D DP min-path (100x256). Passed on attempt 1, 0.11x speedup.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572000"/>
            <a:ext cx="8686800" cy="411480"/>
          </a:xfrm>
          <a:prstGeom prst="roundRect">
            <a:avLst>
              <a:gd name="adj" fmla="val 8000"/>
            </a:avLst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Validates pipeline generalization: </a:t>
            </a:r>
            <a:r>
              <a:rPr sz="1100">
                <a:solidFill>
                  <a:srgbClr val="2C3E50"/>
                </a:solidFill>
                <a:latin typeface="Calibri"/>
              </a:rPr>
              <a:t>3/3 Rodinia kernels pass with zero pipeline changes. Same C extraction, ctypes testing, and LLM retry strategy works across benchmark suites.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Rodinia: Per-Kernel Speedup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Median: 1.05x  |  Mean: 4.78x  |  2/3 faster on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9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4924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4999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11x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59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12x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13x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79" y="10515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F8C8D"/>
                </a:solidFill>
                <a:latin typeface="Calibri"/>
              </a:defRPr>
            </a:pPr>
            <a:r>
              <a:t>14x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1261872"/>
            <a:ext cx="6350" cy="154533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4560" y="1261872"/>
            <a:ext cx="19050" cy="1545336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" y="1280160"/>
            <a:ext cx="155448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1200">
                <a:solidFill>
                  <a:srgbClr val="2C3E50"/>
                </a:solidFill>
                <a:latin typeface="Courier New"/>
              </a:defRPr>
            </a:pPr>
            <a:r>
              <a:t>lud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1380744"/>
            <a:ext cx="4820362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2314" y="1280160"/>
            <a:ext cx="73152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ourier New"/>
              </a:defRPr>
            </a:pPr>
            <a:r>
              <a:t>13.18x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" y="1783080"/>
            <a:ext cx="155448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1200">
                <a:solidFill>
                  <a:srgbClr val="2C3E50"/>
                </a:solidFill>
                <a:latin typeface="Courier New"/>
              </a:defRPr>
            </a:pPr>
            <a:r>
              <a:t>hotspot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1883664"/>
            <a:ext cx="384920" cy="3017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872" y="1783080"/>
            <a:ext cx="73152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ourier New"/>
              </a:defRPr>
            </a:pPr>
            <a:r>
              <a:t>1.05x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" y="2286000"/>
            <a:ext cx="155448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1200">
                <a:solidFill>
                  <a:srgbClr val="2C3E50"/>
                </a:solidFill>
                <a:latin typeface="Courier New"/>
              </a:defRPr>
            </a:pPr>
            <a:r>
              <a:t>pathfinder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0" y="2386584"/>
            <a:ext cx="39199" cy="3017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41151" y="2286000"/>
            <a:ext cx="731520" cy="502920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Courier New"/>
              </a:defRPr>
            </a:pPr>
            <a:r>
              <a:t>0.11x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438912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270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E5C8A"/>
                </a:solidFill>
                <a:latin typeface="Calibri"/>
              </a:rPr>
              <a:t>Cross-suite comparison: </a:t>
            </a:r>
            <a:r>
              <a:rPr sz="1100">
                <a:solidFill>
                  <a:srgbClr val="2C3E50"/>
                </a:solidFill>
                <a:latin typeface="Calibri"/>
              </a:rPr>
              <a:t>Polybench: 30/30 pass, median 3.10x  |  Rodinia: 3/3 pass, median 1.05x  |  Same pipeline, zero code changes.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Rodinia: Ablation — Analysis vs No-Analysis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78638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1371600"/>
                <a:gridCol w="128016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 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 Triton ms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 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WA Triton ms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urier New"/>
                        </a:defRPr>
                      </a:pPr>
                      <a:r>
                        <a:t>hotspot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1.22x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1.426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1.05x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1.344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WA (1.06x)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urier New"/>
                        </a:defRPr>
                      </a:pPr>
                      <a:r>
                        <a:t>lud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15.52x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13.18x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0.862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ourier New"/>
                        </a:defRPr>
                      </a:pPr>
                      <a:r>
                        <a:t>pathfinder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0392B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4.102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WA (pass)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Courier New"/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Calibri"/>
                        </a:defRPr>
                      </a:pPr>
                      <a:r>
                        <a:t>2/3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Calibri"/>
                        </a:defRPr>
                      </a:pPr>
                      <a:r>
                        <a:t>3/3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WA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78892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Key Finding: </a:t>
            </a:r>
            <a:r>
              <a:rPr sz="1100">
                <a:solidFill>
                  <a:srgbClr val="2C3E50"/>
                </a:solidFill>
                <a:latin typeface="Calibri"/>
              </a:rPr>
              <a:t>Analysis uniquely enables pathfinder (FAIL → PASS). Pass rate: 2/3 → 3/3. WA wins=2, NA wins=0, Tie=1 (by Triton time). Speedup differences on lud/hotspot are from C-ref timing variance, not code quality.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7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Note: Winner determined by Triton kernel time (not speedup ratio) to eliminate C-reference timing variance. With only 3 kernels, small sample effects dominate.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GPU Hardware Utilization (NCU Profiling)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defRPr sz="1200" b="0">
                <a:solidFill>
                  <a:srgbClr val="7F8C8D"/>
                </a:solidFill>
                <a:latin typeface="Calibri"/>
              </a:defRPr>
            </a:pPr>
            <a:r>
              <a:t>NVIDIA Nsight Compute profiling on RTX 3090 (82 SMs, 936 GB/s, 35.58 TFLOPS FP32)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51560"/>
          <a:ext cx="4663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40080"/>
                <a:gridCol w="640080"/>
                <a:gridCol w="640080"/>
                <a:gridCol w="640080"/>
                <a:gridCol w="1005840"/>
              </a:tblGrid>
              <a:tr h="21945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SM%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Mem%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Occ%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Grid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1,830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27.3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mvt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syr2k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jacobi_1d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bicg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8.3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6072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1B2A4A"/>
                </a:solidFill>
                <a:latin typeface="Calibri"/>
              </a:defRPr>
            </a:pPr>
            <a:r>
              <a:t>Aggregate Statistics: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258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SM Throughput: mean 7.4%, max 86.5%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Mem Throughput: mean 7.5%, max 86.5%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Occupancy: mean 11.9%, max 74.5%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grid=(1,) kernels: 11/22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Only correlation &gt;50% 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43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C0392B"/>
                </a:solidFill>
                <a:latin typeface="Calibri"/>
              </a:defRPr>
            </a:pPr>
            <a:r>
              <a:t>Root Cause: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0175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Polybench SMALL sizes (N=60-120)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Data fits in L2 cache entirely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Not enough parallelism to fill 82 SMs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Most kernels: 1 block on 1 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434840"/>
            <a:ext cx="8686800" cy="502920"/>
          </a:xfrm>
          <a:prstGeom prst="roundRect">
            <a:avLst>
              <a:gd name="adj" fmla="val 8000"/>
            </a:avLst>
          </a:prstGeom>
          <a:solidFill>
            <a:srgbClr val="FDF2E9"/>
          </a:solidFill>
          <a:ln w="19050">
            <a:solidFill>
              <a:srgbClr val="E87D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E87D2F"/>
                </a:solidFill>
                <a:latin typeface="Calibri"/>
              </a:rPr>
              <a:t>Conclusion: </a:t>
            </a:r>
            <a:r>
              <a:rPr sz="1000">
                <a:solidFill>
                  <a:srgbClr val="2C3E50"/>
                </a:solidFill>
                <a:latin typeface="Calibri"/>
              </a:rPr>
              <a:t>GPU is severely underutilized (&lt;10% SM/Mem). Current speedups (up to 13.9x) are impressive DESPITE tiny problem sizes. Increasing to N=1024+ would show true GPU potential and make speedup comparisons more meaningful.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Large-Scale Results: Original vs 8x Problem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Full pipeline re-run at 8x problem sizes (LLM sees scaled dims in prompt, C reference recompiled at scaled sizes). With-analysis mode.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1051560"/>
          <a:ext cx="4572000" cy="3419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48640"/>
                <a:gridCol w="822960"/>
                <a:gridCol w="548640"/>
                <a:gridCol w="822960"/>
                <a:gridCol w="731520"/>
              </a:tblGrid>
              <a:tr h="2011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1x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Spd 1x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Pass 8x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Spd 8x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13.04x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1826.10x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+13901%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3.73x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1514.80x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+40489%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5.21x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1283.26x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+24518%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12.36x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236.36x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+1813%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6.48x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139.94x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+2059%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3.02x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132.40x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+4286%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2.11x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51.94x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+2359%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5.71x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49.64x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+770%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1.68x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47.42x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+2715%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7.40x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46.52x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+529%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40.52x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+1985%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9.92x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36.82x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+271%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29.35x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+643%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0.28x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28.60x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+10212%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6.23x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+262%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...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(30 total)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4517136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7F8C8D"/>
                </a:solidFill>
                <a:latin typeface="Calibri"/>
              </a:defRPr>
            </a:pPr>
            <a:r>
              <a:t>4 kernels passed correctness but Triton benchmark timed out (&gt;60s):</a:t>
            </a:r>
            <a:br/>
            <a:r>
              <a:t>  • adi: serial sweeps (478 divisions × 40 timesteps)</a:t>
            </a:r>
            <a:br/>
            <a:r>
              <a:t>  • cholesky: sequential factorization, grid=(1,)</a:t>
            </a:r>
            <a:br/>
            <a:r>
              <a:t>  • nussinov: 3-deep sequential loop, grid=(1,)</a:t>
            </a:r>
            <a:br/>
            <a:r>
              <a:t>  • seidel_2d: 9-point stencil with cross-iteration deps, grid=(1,)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05156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1B2A4A"/>
                </a:solidFill>
                <a:latin typeface="Calibri"/>
              </a:defRPr>
            </a:pPr>
            <a:r>
              <a:t>Summary Statistics: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2588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Pass rate: 30/30 (1x) → 30/30 (8x)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Benchmarked: 30 (1x) → 26 (8x)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Median speedup: 3.10x → 29.35x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Mean speedup: 3.83x → 213.45x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GPU speedup (&gt;1x): 21 →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926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27AE60"/>
                </a:solidFill>
                <a:latin typeface="Calibri"/>
              </a:defRPr>
            </a:pPr>
            <a:r>
              <a:t>Speedup Change (1x → 8x):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Improved (&gt;10%): 23/26 kernels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Stable (within 10%): 1/26 kernels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Degraded (&gt;10%): 2/26 kernels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34840"/>
            <a:ext cx="8686800" cy="5029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ctr"/>
            <a:r>
              <a:rPr b="1" sz="1200">
                <a:solidFill>
                  <a:srgbClr val="27AE60"/>
                </a:solidFill>
                <a:latin typeface="Calibri"/>
              </a:rPr>
              <a:t>Key Finding: </a:t>
            </a:r>
            <a:r>
              <a:rPr sz="1000">
                <a:solidFill>
                  <a:srgbClr val="2C3E50"/>
                </a:solidFill>
                <a:latin typeface="Calibri"/>
              </a:rPr>
              <a:t>At 8x problem sizes, median speedup jumps from 3.10x to 29.35x. 22/26 kernels show GPU speedup. LLM generates better-optimized Triton code when it sees realistic problem dimensions.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Per-Kernel Speedup at 8x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8x scale | Median: 22.57x  |  Mean: 184.99x  |  22/30 faster on GPU  |  4 estimated (benchmark timeout)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72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25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78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32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85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38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92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5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99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52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5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9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12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65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19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72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26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79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32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86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39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92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46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9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52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006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59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13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66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19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73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26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79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33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486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40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593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46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700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753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06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60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13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66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20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073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127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180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33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87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340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393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447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00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554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607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660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714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767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59x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820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874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927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981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34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087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141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194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67x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247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301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69x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354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407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461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72x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514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568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621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674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728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781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834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888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80x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6941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81x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6995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048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101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155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208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86x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261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87x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315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88x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368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89x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7421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475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91x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7528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92x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582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93x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635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94x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7688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742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96x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795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97x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848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98x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7902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955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100x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009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101x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062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102x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115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103x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8169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104x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222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275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106x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29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107x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8382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8436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489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8542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8596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649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702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8756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8809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116x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8862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117x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8916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118x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8969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119x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9023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120x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9076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121x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9129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183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123x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9236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124x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9289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9343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126x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9396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127x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9450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128x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9503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129x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9556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130x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9610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131x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9663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132x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9716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133x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9770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134x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9823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135x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9876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136x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9930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137x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983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138x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0037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139x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0090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140x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0143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141x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197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142x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0250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143x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0303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144x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0357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145x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0410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146x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0464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147x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0517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148x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0570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149x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0624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150x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0677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151x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730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152x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20784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153x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0837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154x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0891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155x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0944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156x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0997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157x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1051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158x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1104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159x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1157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160x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1211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161x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1264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162x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1317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163x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1371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164x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1424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165x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478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166x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1531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167x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584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168x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1638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169x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1691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170x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1744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171x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1798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172x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1851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173x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1905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174x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1958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175x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2011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176x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2065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177x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2118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178x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2171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179x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2225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180x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2278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181x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2331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182x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2385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183x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2438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184x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2492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185x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2545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186x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2598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187x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22652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188x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2705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189x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2758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190x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2812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191x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22865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192x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2919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193x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2972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194x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3025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195x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3079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196x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3132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197x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3185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198x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3239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199x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3292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200x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3346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201x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3399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202x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3452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203x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3506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204x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3559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205x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3612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206x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3666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207x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3719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208x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3772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209x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3826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210x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3879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211x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3933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212x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23986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213x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4039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214x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4093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215x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24146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216x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4199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217x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4253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218x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4306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219x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24360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220x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4413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221x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4466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222x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24520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223x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4573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224x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4626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225x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4680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226x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4733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227x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24787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228x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24840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229x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4893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230x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4947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231x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5000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232x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5053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233x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107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234x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5160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235x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5213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236x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5267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237x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5320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238x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5374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239x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5427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240x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5480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241x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5534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242x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5587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243x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5640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244x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5694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245x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5747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246x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5801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247x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5854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248x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25907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249x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25961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250x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26014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251x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26067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252x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26121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253x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26174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254x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6227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255x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6281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256x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6334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257x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26388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258x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6441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259x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6494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260x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6548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261x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26601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262x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26654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263x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26708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264x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26761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265x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6815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266x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6868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267x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6921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268x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6975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269x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27028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270x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27081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271x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27135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272x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7188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273x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7242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274x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27295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275x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27348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276x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27402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277x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27455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278x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27508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279x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27562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280x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27615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281x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27668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282x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27722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283x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27775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284x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27829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285x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27882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286x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27935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287x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27989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288x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28042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289x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28095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290x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28149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291x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28202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292x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28256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293x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28309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294x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8362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295x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28416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296x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28469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297x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28522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298x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28576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299x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28629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300x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28682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301x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28736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302x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8789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303x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28843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304x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28896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305x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8949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306x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29003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307x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29056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308x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29109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309x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9163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310x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29216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311x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29270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312x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29323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313x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29376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314x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29430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315x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9483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316x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29536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317x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29590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318x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29643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319x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29697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320x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29750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321x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9803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322x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29857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323x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29910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324x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29963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325x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30017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326x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30070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327x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30123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328x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30177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329x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30230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330x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30284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331x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30337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332x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0390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333x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30444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334x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30497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335x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30550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336x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30604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337x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0657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338x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30711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339x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30764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340x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30817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341x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30871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342x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30924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343x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30977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344x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31031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345x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31084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346x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1137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347x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31191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348x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31244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349x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31298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350x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31351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351x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31404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352x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31458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353x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31511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354x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1564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355x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31618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356x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31671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357x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1725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358x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31778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359x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31831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360x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31885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361x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31938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362x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31991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363x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2045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364x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32098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365x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32152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366x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32205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367x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32258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368x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32312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369x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32365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370x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32418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371x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32472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372x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32525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373x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32578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374x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32632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375x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32685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376x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32739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377x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32792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378x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32845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379x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32899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380x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32952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381x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33005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382x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33059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383x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33112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384x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33166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385x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33219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386x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33272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387x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33326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388x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33379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389x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33432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390x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33486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391x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33539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392x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33592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393x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33646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394x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3699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395x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33753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396x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33806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397x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33859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398x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33913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399x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33966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400x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34019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401x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34073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402x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34126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403x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4180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404x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34233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405x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34286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406x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34340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407x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393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408x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446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409x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4500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410x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4553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411x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34607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412x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34660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413x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34713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414x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34767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415x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34820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416x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34873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417x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34927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418x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34980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419x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35033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420x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35087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421x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35140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422x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35194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423x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35247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424x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35300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425x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35354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426x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35407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427x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35460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428x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35514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429x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35567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430x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35621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431x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35674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432x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35727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433x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35781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434x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35834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435x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35887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436x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35941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437x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35994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438x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36047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439x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36101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440x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36154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441x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36208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442x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36261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443x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36314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444x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36368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445x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36421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446x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36474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447x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36528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448x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36581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449x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36635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450x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36688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451x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36741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452x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36795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453x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36848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454x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36901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455x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36955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456x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37008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457x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37062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458x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37115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459x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37168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460x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37222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461x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37275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462x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37328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463x</a:t>
            </a:r>
          </a:p>
        </p:txBody>
      </p:sp>
      <p:sp>
        <p:nvSpPr>
          <p:cNvPr id="467" name="TextBox 466"/>
          <p:cNvSpPr txBox="1"/>
          <p:nvPr/>
        </p:nvSpPr>
        <p:spPr>
          <a:xfrm>
            <a:off x="37382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464x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37435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465x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37488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466x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37542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467x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37595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468x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37649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469x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37702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470x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37755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471x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37809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472x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37862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473x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37915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474x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37969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475x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38022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476x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38076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477x</a:t>
            </a:r>
          </a:p>
        </p:txBody>
      </p:sp>
      <p:sp>
        <p:nvSpPr>
          <p:cNvPr id="481" name="TextBox 480"/>
          <p:cNvSpPr txBox="1"/>
          <p:nvPr/>
        </p:nvSpPr>
        <p:spPr>
          <a:xfrm>
            <a:off x="38129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478x</a:t>
            </a:r>
          </a:p>
        </p:txBody>
      </p:sp>
      <p:sp>
        <p:nvSpPr>
          <p:cNvPr id="482" name="TextBox 481"/>
          <p:cNvSpPr txBox="1"/>
          <p:nvPr/>
        </p:nvSpPr>
        <p:spPr>
          <a:xfrm>
            <a:off x="38182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479x</a:t>
            </a:r>
          </a:p>
        </p:txBody>
      </p:sp>
      <p:sp>
        <p:nvSpPr>
          <p:cNvPr id="483" name="TextBox 482"/>
          <p:cNvSpPr txBox="1"/>
          <p:nvPr/>
        </p:nvSpPr>
        <p:spPr>
          <a:xfrm>
            <a:off x="38236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480x</a:t>
            </a:r>
          </a:p>
        </p:txBody>
      </p:sp>
      <p:sp>
        <p:nvSpPr>
          <p:cNvPr id="484" name="TextBox 483"/>
          <p:cNvSpPr txBox="1"/>
          <p:nvPr/>
        </p:nvSpPr>
        <p:spPr>
          <a:xfrm>
            <a:off x="38289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481x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38342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482x</a:t>
            </a:r>
          </a:p>
        </p:txBody>
      </p:sp>
      <p:sp>
        <p:nvSpPr>
          <p:cNvPr id="486" name="TextBox 485"/>
          <p:cNvSpPr txBox="1"/>
          <p:nvPr/>
        </p:nvSpPr>
        <p:spPr>
          <a:xfrm>
            <a:off x="38396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483x</a:t>
            </a:r>
          </a:p>
        </p:txBody>
      </p:sp>
      <p:sp>
        <p:nvSpPr>
          <p:cNvPr id="487" name="TextBox 486"/>
          <p:cNvSpPr txBox="1"/>
          <p:nvPr/>
        </p:nvSpPr>
        <p:spPr>
          <a:xfrm>
            <a:off x="38449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484x</a:t>
            </a:r>
          </a:p>
        </p:txBody>
      </p:sp>
      <p:sp>
        <p:nvSpPr>
          <p:cNvPr id="488" name="TextBox 487"/>
          <p:cNvSpPr txBox="1"/>
          <p:nvPr/>
        </p:nvSpPr>
        <p:spPr>
          <a:xfrm>
            <a:off x="38503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485x</a:t>
            </a:r>
          </a:p>
        </p:txBody>
      </p:sp>
      <p:sp>
        <p:nvSpPr>
          <p:cNvPr id="489" name="TextBox 488"/>
          <p:cNvSpPr txBox="1"/>
          <p:nvPr/>
        </p:nvSpPr>
        <p:spPr>
          <a:xfrm>
            <a:off x="38556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486x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38609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487x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38663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488x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38716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489x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38769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490x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38823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491x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38876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492x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38929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493x</a:t>
            </a:r>
          </a:p>
        </p:txBody>
      </p:sp>
      <p:sp>
        <p:nvSpPr>
          <p:cNvPr id="497" name="TextBox 496"/>
          <p:cNvSpPr txBox="1"/>
          <p:nvPr/>
        </p:nvSpPr>
        <p:spPr>
          <a:xfrm>
            <a:off x="38983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494x</a:t>
            </a:r>
          </a:p>
        </p:txBody>
      </p:sp>
      <p:sp>
        <p:nvSpPr>
          <p:cNvPr id="498" name="TextBox 497"/>
          <p:cNvSpPr txBox="1"/>
          <p:nvPr/>
        </p:nvSpPr>
        <p:spPr>
          <a:xfrm>
            <a:off x="39036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495x</a:t>
            </a:r>
          </a:p>
        </p:txBody>
      </p:sp>
      <p:sp>
        <p:nvSpPr>
          <p:cNvPr id="499" name="TextBox 498"/>
          <p:cNvSpPr txBox="1"/>
          <p:nvPr/>
        </p:nvSpPr>
        <p:spPr>
          <a:xfrm>
            <a:off x="39090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496x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39143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497x</a:t>
            </a:r>
          </a:p>
        </p:txBody>
      </p:sp>
      <p:sp>
        <p:nvSpPr>
          <p:cNvPr id="501" name="TextBox 500"/>
          <p:cNvSpPr txBox="1"/>
          <p:nvPr/>
        </p:nvSpPr>
        <p:spPr>
          <a:xfrm>
            <a:off x="39196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498x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39250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499x</a:t>
            </a:r>
          </a:p>
        </p:txBody>
      </p:sp>
      <p:sp>
        <p:nvSpPr>
          <p:cNvPr id="503" name="TextBox 502"/>
          <p:cNvSpPr txBox="1"/>
          <p:nvPr/>
        </p:nvSpPr>
        <p:spPr>
          <a:xfrm>
            <a:off x="39303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500x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39356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501x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39410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502x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39463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503x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39517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504x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39570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505x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9623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506x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9677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507x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39730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508x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39783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509x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39837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510x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39890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511x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39943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512x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39997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513x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40050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514x</a:t>
            </a:r>
          </a:p>
        </p:txBody>
      </p:sp>
      <p:sp>
        <p:nvSpPr>
          <p:cNvPr id="518" name="TextBox 517"/>
          <p:cNvSpPr txBox="1"/>
          <p:nvPr/>
        </p:nvSpPr>
        <p:spPr>
          <a:xfrm>
            <a:off x="40104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515x</a:t>
            </a:r>
          </a:p>
        </p:txBody>
      </p:sp>
      <p:sp>
        <p:nvSpPr>
          <p:cNvPr id="519" name="TextBox 518"/>
          <p:cNvSpPr txBox="1"/>
          <p:nvPr/>
        </p:nvSpPr>
        <p:spPr>
          <a:xfrm>
            <a:off x="40157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516x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40210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517x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40264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518x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40317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519x</a:t>
            </a:r>
          </a:p>
        </p:txBody>
      </p:sp>
      <p:sp>
        <p:nvSpPr>
          <p:cNvPr id="523" name="TextBox 522"/>
          <p:cNvSpPr txBox="1"/>
          <p:nvPr/>
        </p:nvSpPr>
        <p:spPr>
          <a:xfrm>
            <a:off x="40370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520x</a:t>
            </a:r>
          </a:p>
        </p:txBody>
      </p:sp>
      <p:sp>
        <p:nvSpPr>
          <p:cNvPr id="524" name="TextBox 523"/>
          <p:cNvSpPr txBox="1"/>
          <p:nvPr/>
        </p:nvSpPr>
        <p:spPr>
          <a:xfrm>
            <a:off x="40424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521x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40477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522x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40531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523x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40584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524x</a:t>
            </a:r>
          </a:p>
        </p:txBody>
      </p:sp>
      <p:sp>
        <p:nvSpPr>
          <p:cNvPr id="528" name="TextBox 527"/>
          <p:cNvSpPr txBox="1"/>
          <p:nvPr/>
        </p:nvSpPr>
        <p:spPr>
          <a:xfrm>
            <a:off x="40637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525x</a:t>
            </a:r>
          </a:p>
        </p:txBody>
      </p:sp>
      <p:sp>
        <p:nvSpPr>
          <p:cNvPr id="529" name="TextBox 528"/>
          <p:cNvSpPr txBox="1"/>
          <p:nvPr/>
        </p:nvSpPr>
        <p:spPr>
          <a:xfrm>
            <a:off x="40691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526x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40744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527x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40797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528x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40851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529x</a:t>
            </a:r>
          </a:p>
        </p:txBody>
      </p:sp>
      <p:sp>
        <p:nvSpPr>
          <p:cNvPr id="533" name="TextBox 532"/>
          <p:cNvSpPr txBox="1"/>
          <p:nvPr/>
        </p:nvSpPr>
        <p:spPr>
          <a:xfrm>
            <a:off x="40904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530x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0958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531x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41011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532x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41064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533x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41118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534x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1171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535x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41224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536x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41278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537x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41331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538x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41384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539x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41438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540x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41491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541x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41545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542x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41598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543x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41651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544x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41705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545x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41758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546x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41811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547x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1865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548x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41918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549x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41972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550x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42025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551x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42078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552x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42132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553x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42185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554x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42238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555x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42292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556x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42345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557x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42398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558x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42452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559x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42505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560x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42559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561x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42612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562x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42665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563x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42719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564x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42772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565x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42825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566x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42879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567x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42932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568x</a:t>
            </a:r>
          </a:p>
        </p:txBody>
      </p:sp>
      <p:sp>
        <p:nvSpPr>
          <p:cNvPr id="572" name="TextBox 571"/>
          <p:cNvSpPr txBox="1"/>
          <p:nvPr/>
        </p:nvSpPr>
        <p:spPr>
          <a:xfrm>
            <a:off x="42986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569x</a:t>
            </a:r>
          </a:p>
        </p:txBody>
      </p:sp>
      <p:sp>
        <p:nvSpPr>
          <p:cNvPr id="573" name="TextBox 572"/>
          <p:cNvSpPr txBox="1"/>
          <p:nvPr/>
        </p:nvSpPr>
        <p:spPr>
          <a:xfrm>
            <a:off x="43039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570x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43092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571x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43146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572x</a:t>
            </a:r>
          </a:p>
        </p:txBody>
      </p:sp>
      <p:sp>
        <p:nvSpPr>
          <p:cNvPr id="576" name="TextBox 575"/>
          <p:cNvSpPr txBox="1"/>
          <p:nvPr/>
        </p:nvSpPr>
        <p:spPr>
          <a:xfrm>
            <a:off x="43199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573x</a:t>
            </a:r>
          </a:p>
        </p:txBody>
      </p:sp>
      <p:sp>
        <p:nvSpPr>
          <p:cNvPr id="577" name="TextBox 576"/>
          <p:cNvSpPr txBox="1"/>
          <p:nvPr/>
        </p:nvSpPr>
        <p:spPr>
          <a:xfrm>
            <a:off x="43252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574x</a:t>
            </a:r>
          </a:p>
        </p:txBody>
      </p:sp>
      <p:sp>
        <p:nvSpPr>
          <p:cNvPr id="578" name="TextBox 577"/>
          <p:cNvSpPr txBox="1"/>
          <p:nvPr/>
        </p:nvSpPr>
        <p:spPr>
          <a:xfrm>
            <a:off x="43306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575x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43359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576x</a:t>
            </a:r>
          </a:p>
        </p:txBody>
      </p:sp>
      <p:sp>
        <p:nvSpPr>
          <p:cNvPr id="580" name="TextBox 579"/>
          <p:cNvSpPr txBox="1"/>
          <p:nvPr/>
        </p:nvSpPr>
        <p:spPr>
          <a:xfrm>
            <a:off x="43413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577x</a:t>
            </a:r>
          </a:p>
        </p:txBody>
      </p:sp>
      <p:sp>
        <p:nvSpPr>
          <p:cNvPr id="581" name="TextBox 580"/>
          <p:cNvSpPr txBox="1"/>
          <p:nvPr/>
        </p:nvSpPr>
        <p:spPr>
          <a:xfrm>
            <a:off x="43466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578x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43519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579x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43573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580x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43626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581x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43679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582x</a:t>
            </a:r>
          </a:p>
        </p:txBody>
      </p:sp>
      <p:sp>
        <p:nvSpPr>
          <p:cNvPr id="586" name="TextBox 585"/>
          <p:cNvSpPr txBox="1"/>
          <p:nvPr/>
        </p:nvSpPr>
        <p:spPr>
          <a:xfrm>
            <a:off x="43733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583x</a:t>
            </a:r>
          </a:p>
        </p:txBody>
      </p:sp>
      <p:sp>
        <p:nvSpPr>
          <p:cNvPr id="587" name="TextBox 586"/>
          <p:cNvSpPr txBox="1"/>
          <p:nvPr/>
        </p:nvSpPr>
        <p:spPr>
          <a:xfrm>
            <a:off x="43786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584x</a:t>
            </a:r>
          </a:p>
        </p:txBody>
      </p:sp>
      <p:sp>
        <p:nvSpPr>
          <p:cNvPr id="588" name="TextBox 587"/>
          <p:cNvSpPr txBox="1"/>
          <p:nvPr/>
        </p:nvSpPr>
        <p:spPr>
          <a:xfrm>
            <a:off x="43839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585x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43893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586x</a:t>
            </a:r>
          </a:p>
        </p:txBody>
      </p:sp>
      <p:sp>
        <p:nvSpPr>
          <p:cNvPr id="590" name="TextBox 589"/>
          <p:cNvSpPr txBox="1"/>
          <p:nvPr/>
        </p:nvSpPr>
        <p:spPr>
          <a:xfrm>
            <a:off x="43946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587x</a:t>
            </a:r>
          </a:p>
        </p:txBody>
      </p:sp>
      <p:sp>
        <p:nvSpPr>
          <p:cNvPr id="591" name="TextBox 590"/>
          <p:cNvSpPr txBox="1"/>
          <p:nvPr/>
        </p:nvSpPr>
        <p:spPr>
          <a:xfrm>
            <a:off x="44000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588x</a:t>
            </a:r>
          </a:p>
        </p:txBody>
      </p:sp>
      <p:sp>
        <p:nvSpPr>
          <p:cNvPr id="592" name="TextBox 591"/>
          <p:cNvSpPr txBox="1"/>
          <p:nvPr/>
        </p:nvSpPr>
        <p:spPr>
          <a:xfrm>
            <a:off x="44053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589x</a:t>
            </a:r>
          </a:p>
        </p:txBody>
      </p:sp>
      <p:sp>
        <p:nvSpPr>
          <p:cNvPr id="593" name="TextBox 592"/>
          <p:cNvSpPr txBox="1"/>
          <p:nvPr/>
        </p:nvSpPr>
        <p:spPr>
          <a:xfrm>
            <a:off x="44106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590x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44160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591x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44213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592x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44266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593x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44320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594x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44373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595x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44427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596x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44480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597x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44533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598x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44587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599x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44640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600x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44693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601x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44747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602x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44800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603x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44853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604x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44907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605x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44960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606x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45014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607x</a:t>
            </a:r>
          </a:p>
        </p:txBody>
      </p:sp>
      <p:sp>
        <p:nvSpPr>
          <p:cNvPr id="611" name="TextBox 610"/>
          <p:cNvSpPr txBox="1"/>
          <p:nvPr/>
        </p:nvSpPr>
        <p:spPr>
          <a:xfrm>
            <a:off x="45067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608x</a:t>
            </a:r>
          </a:p>
        </p:txBody>
      </p:sp>
      <p:sp>
        <p:nvSpPr>
          <p:cNvPr id="612" name="TextBox 611"/>
          <p:cNvSpPr txBox="1"/>
          <p:nvPr/>
        </p:nvSpPr>
        <p:spPr>
          <a:xfrm>
            <a:off x="45120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609x</a:t>
            </a:r>
          </a:p>
        </p:txBody>
      </p:sp>
      <p:sp>
        <p:nvSpPr>
          <p:cNvPr id="613" name="TextBox 612"/>
          <p:cNvSpPr txBox="1"/>
          <p:nvPr/>
        </p:nvSpPr>
        <p:spPr>
          <a:xfrm>
            <a:off x="45174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610x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45227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611x</a:t>
            </a:r>
          </a:p>
        </p:txBody>
      </p:sp>
      <p:sp>
        <p:nvSpPr>
          <p:cNvPr id="615" name="TextBox 614"/>
          <p:cNvSpPr txBox="1"/>
          <p:nvPr/>
        </p:nvSpPr>
        <p:spPr>
          <a:xfrm>
            <a:off x="45280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612x</a:t>
            </a:r>
          </a:p>
        </p:txBody>
      </p:sp>
      <p:sp>
        <p:nvSpPr>
          <p:cNvPr id="616" name="TextBox 615"/>
          <p:cNvSpPr txBox="1"/>
          <p:nvPr/>
        </p:nvSpPr>
        <p:spPr>
          <a:xfrm>
            <a:off x="45334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613x</a:t>
            </a:r>
          </a:p>
        </p:txBody>
      </p:sp>
      <p:sp>
        <p:nvSpPr>
          <p:cNvPr id="617" name="TextBox 616"/>
          <p:cNvSpPr txBox="1"/>
          <p:nvPr/>
        </p:nvSpPr>
        <p:spPr>
          <a:xfrm>
            <a:off x="45387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614x</a:t>
            </a:r>
          </a:p>
        </p:txBody>
      </p:sp>
      <p:sp>
        <p:nvSpPr>
          <p:cNvPr id="618" name="TextBox 617"/>
          <p:cNvSpPr txBox="1"/>
          <p:nvPr/>
        </p:nvSpPr>
        <p:spPr>
          <a:xfrm>
            <a:off x="45441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615x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45494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616x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45547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617x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45601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618x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45654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619x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45707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620x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45761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621x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45814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622x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868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623x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45921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624x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45974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625x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6028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626x</a:t>
            </a:r>
          </a:p>
        </p:txBody>
      </p:sp>
      <p:sp>
        <p:nvSpPr>
          <p:cNvPr id="630" name="TextBox 629"/>
          <p:cNvSpPr txBox="1"/>
          <p:nvPr/>
        </p:nvSpPr>
        <p:spPr>
          <a:xfrm>
            <a:off x="46081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627x</a:t>
            </a:r>
          </a:p>
        </p:txBody>
      </p:sp>
      <p:sp>
        <p:nvSpPr>
          <p:cNvPr id="631" name="TextBox 630"/>
          <p:cNvSpPr txBox="1"/>
          <p:nvPr/>
        </p:nvSpPr>
        <p:spPr>
          <a:xfrm>
            <a:off x="46134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628x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46188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629x</a:t>
            </a:r>
          </a:p>
        </p:txBody>
      </p:sp>
      <p:sp>
        <p:nvSpPr>
          <p:cNvPr id="633" name="TextBox 632"/>
          <p:cNvSpPr txBox="1"/>
          <p:nvPr/>
        </p:nvSpPr>
        <p:spPr>
          <a:xfrm>
            <a:off x="46241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630x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46294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631x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46348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632x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46401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633x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46455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634x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46508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635x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46561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636x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46615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637x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46668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638x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46721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639x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46775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640x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46828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641x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46882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642x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46935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643x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46988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644x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47042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645x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47095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646x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47148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647x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47202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648x</a:t>
            </a:r>
          </a:p>
        </p:txBody>
      </p:sp>
      <p:sp>
        <p:nvSpPr>
          <p:cNvPr id="652" name="TextBox 651"/>
          <p:cNvSpPr txBox="1"/>
          <p:nvPr/>
        </p:nvSpPr>
        <p:spPr>
          <a:xfrm>
            <a:off x="47255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649x</a:t>
            </a:r>
          </a:p>
        </p:txBody>
      </p:sp>
      <p:sp>
        <p:nvSpPr>
          <p:cNvPr id="653" name="TextBox 652"/>
          <p:cNvSpPr txBox="1"/>
          <p:nvPr/>
        </p:nvSpPr>
        <p:spPr>
          <a:xfrm>
            <a:off x="47308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650x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47362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651x</a:t>
            </a:r>
          </a:p>
        </p:txBody>
      </p:sp>
      <p:sp>
        <p:nvSpPr>
          <p:cNvPr id="655" name="TextBox 654"/>
          <p:cNvSpPr txBox="1"/>
          <p:nvPr/>
        </p:nvSpPr>
        <p:spPr>
          <a:xfrm>
            <a:off x="47415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652x</a:t>
            </a:r>
          </a:p>
        </p:txBody>
      </p:sp>
      <p:sp>
        <p:nvSpPr>
          <p:cNvPr id="656" name="TextBox 655"/>
          <p:cNvSpPr txBox="1"/>
          <p:nvPr/>
        </p:nvSpPr>
        <p:spPr>
          <a:xfrm>
            <a:off x="47469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653x</a:t>
            </a:r>
          </a:p>
        </p:txBody>
      </p:sp>
      <p:sp>
        <p:nvSpPr>
          <p:cNvPr id="657" name="TextBox 656"/>
          <p:cNvSpPr txBox="1"/>
          <p:nvPr/>
        </p:nvSpPr>
        <p:spPr>
          <a:xfrm>
            <a:off x="47522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654x</a:t>
            </a:r>
          </a:p>
        </p:txBody>
      </p:sp>
      <p:sp>
        <p:nvSpPr>
          <p:cNvPr id="658" name="TextBox 657"/>
          <p:cNvSpPr txBox="1"/>
          <p:nvPr/>
        </p:nvSpPr>
        <p:spPr>
          <a:xfrm>
            <a:off x="47575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655x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47629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656x</a:t>
            </a:r>
          </a:p>
        </p:txBody>
      </p:sp>
      <p:sp>
        <p:nvSpPr>
          <p:cNvPr id="660" name="TextBox 659"/>
          <p:cNvSpPr txBox="1"/>
          <p:nvPr/>
        </p:nvSpPr>
        <p:spPr>
          <a:xfrm>
            <a:off x="47682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657x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47735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658x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47789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659x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47842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660x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47896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661x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47949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662x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48002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663x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48056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664x</a:t>
            </a:r>
          </a:p>
        </p:txBody>
      </p:sp>
      <p:sp>
        <p:nvSpPr>
          <p:cNvPr id="668" name="TextBox 667"/>
          <p:cNvSpPr txBox="1"/>
          <p:nvPr/>
        </p:nvSpPr>
        <p:spPr>
          <a:xfrm>
            <a:off x="48109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665x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48162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666x</a:t>
            </a:r>
          </a:p>
        </p:txBody>
      </p:sp>
      <p:sp>
        <p:nvSpPr>
          <p:cNvPr id="670" name="TextBox 669"/>
          <p:cNvSpPr txBox="1"/>
          <p:nvPr/>
        </p:nvSpPr>
        <p:spPr>
          <a:xfrm>
            <a:off x="48216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667x</a:t>
            </a:r>
          </a:p>
        </p:txBody>
      </p:sp>
      <p:sp>
        <p:nvSpPr>
          <p:cNvPr id="671" name="TextBox 670"/>
          <p:cNvSpPr txBox="1"/>
          <p:nvPr/>
        </p:nvSpPr>
        <p:spPr>
          <a:xfrm>
            <a:off x="48269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668x</a:t>
            </a:r>
          </a:p>
        </p:txBody>
      </p:sp>
      <p:sp>
        <p:nvSpPr>
          <p:cNvPr id="672" name="TextBox 671"/>
          <p:cNvSpPr txBox="1"/>
          <p:nvPr/>
        </p:nvSpPr>
        <p:spPr>
          <a:xfrm>
            <a:off x="48323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669x</a:t>
            </a:r>
          </a:p>
        </p:txBody>
      </p:sp>
      <p:sp>
        <p:nvSpPr>
          <p:cNvPr id="673" name="TextBox 672"/>
          <p:cNvSpPr txBox="1"/>
          <p:nvPr/>
        </p:nvSpPr>
        <p:spPr>
          <a:xfrm>
            <a:off x="48376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670x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48429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671x</a:t>
            </a:r>
          </a:p>
        </p:txBody>
      </p:sp>
      <p:sp>
        <p:nvSpPr>
          <p:cNvPr id="675" name="TextBox 674"/>
          <p:cNvSpPr txBox="1"/>
          <p:nvPr/>
        </p:nvSpPr>
        <p:spPr>
          <a:xfrm>
            <a:off x="48483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672x</a:t>
            </a:r>
          </a:p>
        </p:txBody>
      </p:sp>
      <p:sp>
        <p:nvSpPr>
          <p:cNvPr id="676" name="TextBox 675"/>
          <p:cNvSpPr txBox="1"/>
          <p:nvPr/>
        </p:nvSpPr>
        <p:spPr>
          <a:xfrm>
            <a:off x="48536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673x</a:t>
            </a:r>
          </a:p>
        </p:txBody>
      </p:sp>
      <p:sp>
        <p:nvSpPr>
          <p:cNvPr id="677" name="TextBox 676"/>
          <p:cNvSpPr txBox="1"/>
          <p:nvPr/>
        </p:nvSpPr>
        <p:spPr>
          <a:xfrm>
            <a:off x="48589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674x</a:t>
            </a:r>
          </a:p>
        </p:txBody>
      </p:sp>
      <p:sp>
        <p:nvSpPr>
          <p:cNvPr id="678" name="TextBox 677"/>
          <p:cNvSpPr txBox="1"/>
          <p:nvPr/>
        </p:nvSpPr>
        <p:spPr>
          <a:xfrm>
            <a:off x="48643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675x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48696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676x</a:t>
            </a:r>
          </a:p>
        </p:txBody>
      </p:sp>
      <p:sp>
        <p:nvSpPr>
          <p:cNvPr id="680" name="TextBox 679"/>
          <p:cNvSpPr txBox="1"/>
          <p:nvPr/>
        </p:nvSpPr>
        <p:spPr>
          <a:xfrm>
            <a:off x="48749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677x</a:t>
            </a:r>
          </a:p>
        </p:txBody>
      </p:sp>
      <p:sp>
        <p:nvSpPr>
          <p:cNvPr id="681" name="TextBox 680"/>
          <p:cNvSpPr txBox="1"/>
          <p:nvPr/>
        </p:nvSpPr>
        <p:spPr>
          <a:xfrm>
            <a:off x="48803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678x</a:t>
            </a:r>
          </a:p>
        </p:txBody>
      </p:sp>
      <p:sp>
        <p:nvSpPr>
          <p:cNvPr id="682" name="TextBox 681"/>
          <p:cNvSpPr txBox="1"/>
          <p:nvPr/>
        </p:nvSpPr>
        <p:spPr>
          <a:xfrm>
            <a:off x="48856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679x</a:t>
            </a:r>
          </a:p>
        </p:txBody>
      </p:sp>
      <p:sp>
        <p:nvSpPr>
          <p:cNvPr id="683" name="TextBox 682"/>
          <p:cNvSpPr txBox="1"/>
          <p:nvPr/>
        </p:nvSpPr>
        <p:spPr>
          <a:xfrm>
            <a:off x="48910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680x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48963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681x</a:t>
            </a:r>
          </a:p>
        </p:txBody>
      </p:sp>
      <p:sp>
        <p:nvSpPr>
          <p:cNvPr id="685" name="TextBox 684"/>
          <p:cNvSpPr txBox="1"/>
          <p:nvPr/>
        </p:nvSpPr>
        <p:spPr>
          <a:xfrm>
            <a:off x="49016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682x</a:t>
            </a:r>
          </a:p>
        </p:txBody>
      </p:sp>
      <p:sp>
        <p:nvSpPr>
          <p:cNvPr id="686" name="TextBox 685"/>
          <p:cNvSpPr txBox="1"/>
          <p:nvPr/>
        </p:nvSpPr>
        <p:spPr>
          <a:xfrm>
            <a:off x="49070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683x</a:t>
            </a:r>
          </a:p>
        </p:txBody>
      </p:sp>
      <p:sp>
        <p:nvSpPr>
          <p:cNvPr id="687" name="TextBox 686"/>
          <p:cNvSpPr txBox="1"/>
          <p:nvPr/>
        </p:nvSpPr>
        <p:spPr>
          <a:xfrm>
            <a:off x="49123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684x</a:t>
            </a:r>
          </a:p>
        </p:txBody>
      </p:sp>
      <p:sp>
        <p:nvSpPr>
          <p:cNvPr id="688" name="TextBox 687"/>
          <p:cNvSpPr txBox="1"/>
          <p:nvPr/>
        </p:nvSpPr>
        <p:spPr>
          <a:xfrm>
            <a:off x="49176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685x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49230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686x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49283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687x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49337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688x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49390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689x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49443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690x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49497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691x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49550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692x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49603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693x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49657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694x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49710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695x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49763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696x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49817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697x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49870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698x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49924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699x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49977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700x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50030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701x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50084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702x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50137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703x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50190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704x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50244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705x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50297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706x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50351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707x</a:t>
            </a:r>
          </a:p>
        </p:txBody>
      </p:sp>
      <p:sp>
        <p:nvSpPr>
          <p:cNvPr id="711" name="TextBox 710"/>
          <p:cNvSpPr txBox="1"/>
          <p:nvPr/>
        </p:nvSpPr>
        <p:spPr>
          <a:xfrm>
            <a:off x="50404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708x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50457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709x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50511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710x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50564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711x</a:t>
            </a:r>
          </a:p>
        </p:txBody>
      </p:sp>
      <p:sp>
        <p:nvSpPr>
          <p:cNvPr id="715" name="TextBox 714"/>
          <p:cNvSpPr txBox="1"/>
          <p:nvPr/>
        </p:nvSpPr>
        <p:spPr>
          <a:xfrm>
            <a:off x="50617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712x</a:t>
            </a:r>
          </a:p>
        </p:txBody>
      </p:sp>
      <p:sp>
        <p:nvSpPr>
          <p:cNvPr id="716" name="TextBox 715"/>
          <p:cNvSpPr txBox="1"/>
          <p:nvPr/>
        </p:nvSpPr>
        <p:spPr>
          <a:xfrm>
            <a:off x="50671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713x</a:t>
            </a:r>
          </a:p>
        </p:txBody>
      </p:sp>
      <p:sp>
        <p:nvSpPr>
          <p:cNvPr id="717" name="TextBox 716"/>
          <p:cNvSpPr txBox="1"/>
          <p:nvPr/>
        </p:nvSpPr>
        <p:spPr>
          <a:xfrm>
            <a:off x="50724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714x</a:t>
            </a:r>
          </a:p>
        </p:txBody>
      </p:sp>
      <p:sp>
        <p:nvSpPr>
          <p:cNvPr id="718" name="TextBox 717"/>
          <p:cNvSpPr txBox="1"/>
          <p:nvPr/>
        </p:nvSpPr>
        <p:spPr>
          <a:xfrm>
            <a:off x="50778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715x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50831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716x</a:t>
            </a:r>
          </a:p>
        </p:txBody>
      </p:sp>
      <p:sp>
        <p:nvSpPr>
          <p:cNvPr id="720" name="TextBox 719"/>
          <p:cNvSpPr txBox="1"/>
          <p:nvPr/>
        </p:nvSpPr>
        <p:spPr>
          <a:xfrm>
            <a:off x="50884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717x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50938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718x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50991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719x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51044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720x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51098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721x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51151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722x</a:t>
            </a:r>
          </a:p>
        </p:txBody>
      </p:sp>
      <p:sp>
        <p:nvSpPr>
          <p:cNvPr id="726" name="TextBox 725"/>
          <p:cNvSpPr txBox="1"/>
          <p:nvPr/>
        </p:nvSpPr>
        <p:spPr>
          <a:xfrm>
            <a:off x="51204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723x</a:t>
            </a:r>
          </a:p>
        </p:txBody>
      </p:sp>
      <p:sp>
        <p:nvSpPr>
          <p:cNvPr id="727" name="TextBox 726"/>
          <p:cNvSpPr txBox="1"/>
          <p:nvPr/>
        </p:nvSpPr>
        <p:spPr>
          <a:xfrm>
            <a:off x="51258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724x</a:t>
            </a:r>
          </a:p>
        </p:txBody>
      </p:sp>
      <p:sp>
        <p:nvSpPr>
          <p:cNvPr id="728" name="TextBox 727"/>
          <p:cNvSpPr txBox="1"/>
          <p:nvPr/>
        </p:nvSpPr>
        <p:spPr>
          <a:xfrm>
            <a:off x="51311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725x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51365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726x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51418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727x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51471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728x</a:t>
            </a:r>
          </a:p>
        </p:txBody>
      </p:sp>
      <p:sp>
        <p:nvSpPr>
          <p:cNvPr id="732" name="TextBox 731"/>
          <p:cNvSpPr txBox="1"/>
          <p:nvPr/>
        </p:nvSpPr>
        <p:spPr>
          <a:xfrm>
            <a:off x="51525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729x</a:t>
            </a:r>
          </a:p>
        </p:txBody>
      </p:sp>
      <p:sp>
        <p:nvSpPr>
          <p:cNvPr id="733" name="TextBox 732"/>
          <p:cNvSpPr txBox="1"/>
          <p:nvPr/>
        </p:nvSpPr>
        <p:spPr>
          <a:xfrm>
            <a:off x="51578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730x</a:t>
            </a:r>
          </a:p>
        </p:txBody>
      </p:sp>
      <p:sp>
        <p:nvSpPr>
          <p:cNvPr id="734" name="TextBox 733"/>
          <p:cNvSpPr txBox="1"/>
          <p:nvPr/>
        </p:nvSpPr>
        <p:spPr>
          <a:xfrm>
            <a:off x="51631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731x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51685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732x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51738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733x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51792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734x</a:t>
            </a:r>
          </a:p>
        </p:txBody>
      </p:sp>
      <p:sp>
        <p:nvSpPr>
          <p:cNvPr id="738" name="TextBox 737"/>
          <p:cNvSpPr txBox="1"/>
          <p:nvPr/>
        </p:nvSpPr>
        <p:spPr>
          <a:xfrm>
            <a:off x="51845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735x</a:t>
            </a:r>
          </a:p>
        </p:txBody>
      </p:sp>
      <p:sp>
        <p:nvSpPr>
          <p:cNvPr id="739" name="TextBox 738"/>
          <p:cNvSpPr txBox="1"/>
          <p:nvPr/>
        </p:nvSpPr>
        <p:spPr>
          <a:xfrm>
            <a:off x="51898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736x</a:t>
            </a:r>
          </a:p>
        </p:txBody>
      </p:sp>
      <p:sp>
        <p:nvSpPr>
          <p:cNvPr id="740" name="TextBox 739"/>
          <p:cNvSpPr txBox="1"/>
          <p:nvPr/>
        </p:nvSpPr>
        <p:spPr>
          <a:xfrm>
            <a:off x="51952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737x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52005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738x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52058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739x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52112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740x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52165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741x</a:t>
            </a:r>
          </a:p>
        </p:txBody>
      </p:sp>
      <p:sp>
        <p:nvSpPr>
          <p:cNvPr id="745" name="TextBox 744"/>
          <p:cNvSpPr txBox="1"/>
          <p:nvPr/>
        </p:nvSpPr>
        <p:spPr>
          <a:xfrm>
            <a:off x="52219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742x</a:t>
            </a:r>
          </a:p>
        </p:txBody>
      </p:sp>
      <p:sp>
        <p:nvSpPr>
          <p:cNvPr id="746" name="TextBox 745"/>
          <p:cNvSpPr txBox="1"/>
          <p:nvPr/>
        </p:nvSpPr>
        <p:spPr>
          <a:xfrm>
            <a:off x="52272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743x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52325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744x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52379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745x</a:t>
            </a:r>
          </a:p>
        </p:txBody>
      </p:sp>
      <p:sp>
        <p:nvSpPr>
          <p:cNvPr id="749" name="TextBox 748"/>
          <p:cNvSpPr txBox="1"/>
          <p:nvPr/>
        </p:nvSpPr>
        <p:spPr>
          <a:xfrm>
            <a:off x="52432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746x</a:t>
            </a:r>
          </a:p>
        </p:txBody>
      </p:sp>
      <p:sp>
        <p:nvSpPr>
          <p:cNvPr id="750" name="TextBox 749"/>
          <p:cNvSpPr txBox="1"/>
          <p:nvPr/>
        </p:nvSpPr>
        <p:spPr>
          <a:xfrm>
            <a:off x="52485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747x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52539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748x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52592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749x</a:t>
            </a:r>
          </a:p>
        </p:txBody>
      </p:sp>
      <p:sp>
        <p:nvSpPr>
          <p:cNvPr id="753" name="TextBox 752"/>
          <p:cNvSpPr txBox="1"/>
          <p:nvPr/>
        </p:nvSpPr>
        <p:spPr>
          <a:xfrm>
            <a:off x="52645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750x</a:t>
            </a:r>
          </a:p>
        </p:txBody>
      </p:sp>
      <p:sp>
        <p:nvSpPr>
          <p:cNvPr id="754" name="TextBox 753"/>
          <p:cNvSpPr txBox="1"/>
          <p:nvPr/>
        </p:nvSpPr>
        <p:spPr>
          <a:xfrm>
            <a:off x="52699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751x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52752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752x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52806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753x</a:t>
            </a:r>
          </a:p>
        </p:txBody>
      </p:sp>
      <p:sp>
        <p:nvSpPr>
          <p:cNvPr id="757" name="TextBox 756"/>
          <p:cNvSpPr txBox="1"/>
          <p:nvPr/>
        </p:nvSpPr>
        <p:spPr>
          <a:xfrm>
            <a:off x="52859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754x</a:t>
            </a:r>
          </a:p>
        </p:txBody>
      </p:sp>
      <p:sp>
        <p:nvSpPr>
          <p:cNvPr id="758" name="TextBox 757"/>
          <p:cNvSpPr txBox="1"/>
          <p:nvPr/>
        </p:nvSpPr>
        <p:spPr>
          <a:xfrm>
            <a:off x="52912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755x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52966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756x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53019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757x</a:t>
            </a:r>
          </a:p>
        </p:txBody>
      </p:sp>
      <p:sp>
        <p:nvSpPr>
          <p:cNvPr id="761" name="TextBox 760"/>
          <p:cNvSpPr txBox="1"/>
          <p:nvPr/>
        </p:nvSpPr>
        <p:spPr>
          <a:xfrm>
            <a:off x="53072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758x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53126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759x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53179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760x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53233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761x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53286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762x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53339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763x</a:t>
            </a:r>
          </a:p>
        </p:txBody>
      </p:sp>
      <p:sp>
        <p:nvSpPr>
          <p:cNvPr id="767" name="TextBox 766"/>
          <p:cNvSpPr txBox="1"/>
          <p:nvPr/>
        </p:nvSpPr>
        <p:spPr>
          <a:xfrm>
            <a:off x="53393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764x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53446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765x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53499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766x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53553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767x</a:t>
            </a:r>
          </a:p>
        </p:txBody>
      </p:sp>
      <p:sp>
        <p:nvSpPr>
          <p:cNvPr id="771" name="TextBox 770"/>
          <p:cNvSpPr txBox="1"/>
          <p:nvPr/>
        </p:nvSpPr>
        <p:spPr>
          <a:xfrm>
            <a:off x="53606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768x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53659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769x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53713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770x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53766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771x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53820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772x</a:t>
            </a:r>
          </a:p>
        </p:txBody>
      </p:sp>
      <p:sp>
        <p:nvSpPr>
          <p:cNvPr id="776" name="TextBox 775"/>
          <p:cNvSpPr txBox="1"/>
          <p:nvPr/>
        </p:nvSpPr>
        <p:spPr>
          <a:xfrm>
            <a:off x="53873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773x</a:t>
            </a:r>
          </a:p>
        </p:txBody>
      </p:sp>
      <p:sp>
        <p:nvSpPr>
          <p:cNvPr id="777" name="TextBox 776"/>
          <p:cNvSpPr txBox="1"/>
          <p:nvPr/>
        </p:nvSpPr>
        <p:spPr>
          <a:xfrm>
            <a:off x="53926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774x</a:t>
            </a:r>
          </a:p>
        </p:txBody>
      </p:sp>
      <p:sp>
        <p:nvSpPr>
          <p:cNvPr id="778" name="TextBox 777"/>
          <p:cNvSpPr txBox="1"/>
          <p:nvPr/>
        </p:nvSpPr>
        <p:spPr>
          <a:xfrm>
            <a:off x="53980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775x</a:t>
            </a:r>
          </a:p>
        </p:txBody>
      </p:sp>
      <p:sp>
        <p:nvSpPr>
          <p:cNvPr id="779" name="TextBox 778"/>
          <p:cNvSpPr txBox="1"/>
          <p:nvPr/>
        </p:nvSpPr>
        <p:spPr>
          <a:xfrm>
            <a:off x="54033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776x</a:t>
            </a:r>
          </a:p>
        </p:txBody>
      </p:sp>
      <p:sp>
        <p:nvSpPr>
          <p:cNvPr id="780" name="TextBox 779"/>
          <p:cNvSpPr txBox="1"/>
          <p:nvPr/>
        </p:nvSpPr>
        <p:spPr>
          <a:xfrm>
            <a:off x="54086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777x</a:t>
            </a:r>
          </a:p>
        </p:txBody>
      </p:sp>
      <p:sp>
        <p:nvSpPr>
          <p:cNvPr id="781" name="TextBox 780"/>
          <p:cNvSpPr txBox="1"/>
          <p:nvPr/>
        </p:nvSpPr>
        <p:spPr>
          <a:xfrm>
            <a:off x="54140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778x</a:t>
            </a:r>
          </a:p>
        </p:txBody>
      </p:sp>
      <p:sp>
        <p:nvSpPr>
          <p:cNvPr id="782" name="TextBox 781"/>
          <p:cNvSpPr txBox="1"/>
          <p:nvPr/>
        </p:nvSpPr>
        <p:spPr>
          <a:xfrm>
            <a:off x="54193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779x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54247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780x</a:t>
            </a:r>
          </a:p>
        </p:txBody>
      </p:sp>
      <p:sp>
        <p:nvSpPr>
          <p:cNvPr id="784" name="TextBox 783"/>
          <p:cNvSpPr txBox="1"/>
          <p:nvPr/>
        </p:nvSpPr>
        <p:spPr>
          <a:xfrm>
            <a:off x="54300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781x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54353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782x</a:t>
            </a:r>
          </a:p>
        </p:txBody>
      </p:sp>
      <p:sp>
        <p:nvSpPr>
          <p:cNvPr id="786" name="TextBox 785"/>
          <p:cNvSpPr txBox="1"/>
          <p:nvPr/>
        </p:nvSpPr>
        <p:spPr>
          <a:xfrm>
            <a:off x="54407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783x</a:t>
            </a:r>
          </a:p>
        </p:txBody>
      </p:sp>
      <p:sp>
        <p:nvSpPr>
          <p:cNvPr id="787" name="TextBox 786"/>
          <p:cNvSpPr txBox="1"/>
          <p:nvPr/>
        </p:nvSpPr>
        <p:spPr>
          <a:xfrm>
            <a:off x="54460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784x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54513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785x</a:t>
            </a:r>
          </a:p>
        </p:txBody>
      </p:sp>
      <p:sp>
        <p:nvSpPr>
          <p:cNvPr id="789" name="TextBox 788"/>
          <p:cNvSpPr txBox="1"/>
          <p:nvPr/>
        </p:nvSpPr>
        <p:spPr>
          <a:xfrm>
            <a:off x="54567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786x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54620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787x</a:t>
            </a:r>
          </a:p>
        </p:txBody>
      </p:sp>
      <p:sp>
        <p:nvSpPr>
          <p:cNvPr id="791" name="TextBox 790"/>
          <p:cNvSpPr txBox="1"/>
          <p:nvPr/>
        </p:nvSpPr>
        <p:spPr>
          <a:xfrm>
            <a:off x="54674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788x</a:t>
            </a:r>
          </a:p>
        </p:txBody>
      </p:sp>
      <p:sp>
        <p:nvSpPr>
          <p:cNvPr id="792" name="TextBox 791"/>
          <p:cNvSpPr txBox="1"/>
          <p:nvPr/>
        </p:nvSpPr>
        <p:spPr>
          <a:xfrm>
            <a:off x="54727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789x</a:t>
            </a:r>
          </a:p>
        </p:txBody>
      </p:sp>
      <p:sp>
        <p:nvSpPr>
          <p:cNvPr id="793" name="TextBox 792"/>
          <p:cNvSpPr txBox="1"/>
          <p:nvPr/>
        </p:nvSpPr>
        <p:spPr>
          <a:xfrm>
            <a:off x="54780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790x</a:t>
            </a:r>
          </a:p>
        </p:txBody>
      </p:sp>
      <p:sp>
        <p:nvSpPr>
          <p:cNvPr id="794" name="TextBox 793"/>
          <p:cNvSpPr txBox="1"/>
          <p:nvPr/>
        </p:nvSpPr>
        <p:spPr>
          <a:xfrm>
            <a:off x="54834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791x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54887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792x</a:t>
            </a:r>
          </a:p>
        </p:txBody>
      </p:sp>
      <p:sp>
        <p:nvSpPr>
          <p:cNvPr id="796" name="TextBox 795"/>
          <p:cNvSpPr txBox="1"/>
          <p:nvPr/>
        </p:nvSpPr>
        <p:spPr>
          <a:xfrm>
            <a:off x="54940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793x</a:t>
            </a:r>
          </a:p>
        </p:txBody>
      </p:sp>
      <p:sp>
        <p:nvSpPr>
          <p:cNvPr id="797" name="TextBox 796"/>
          <p:cNvSpPr txBox="1"/>
          <p:nvPr/>
        </p:nvSpPr>
        <p:spPr>
          <a:xfrm>
            <a:off x="54994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794x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55047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795x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55100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796x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55154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797x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55207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798x</a:t>
            </a:r>
          </a:p>
        </p:txBody>
      </p:sp>
      <p:sp>
        <p:nvSpPr>
          <p:cNvPr id="802" name="TextBox 801"/>
          <p:cNvSpPr txBox="1"/>
          <p:nvPr/>
        </p:nvSpPr>
        <p:spPr>
          <a:xfrm>
            <a:off x="55261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799x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55314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800x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55367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801x</a:t>
            </a:r>
          </a:p>
        </p:txBody>
      </p:sp>
      <p:sp>
        <p:nvSpPr>
          <p:cNvPr id="805" name="TextBox 804"/>
          <p:cNvSpPr txBox="1"/>
          <p:nvPr/>
        </p:nvSpPr>
        <p:spPr>
          <a:xfrm>
            <a:off x="55421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802x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55474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803x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55527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804x</a:t>
            </a:r>
          </a:p>
        </p:txBody>
      </p:sp>
      <p:sp>
        <p:nvSpPr>
          <p:cNvPr id="808" name="TextBox 807"/>
          <p:cNvSpPr txBox="1"/>
          <p:nvPr/>
        </p:nvSpPr>
        <p:spPr>
          <a:xfrm>
            <a:off x="55581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805x</a:t>
            </a:r>
          </a:p>
        </p:txBody>
      </p:sp>
      <p:sp>
        <p:nvSpPr>
          <p:cNvPr id="809" name="TextBox 808"/>
          <p:cNvSpPr txBox="1"/>
          <p:nvPr/>
        </p:nvSpPr>
        <p:spPr>
          <a:xfrm>
            <a:off x="55634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806x</a:t>
            </a:r>
          </a:p>
        </p:txBody>
      </p:sp>
      <p:sp>
        <p:nvSpPr>
          <p:cNvPr id="810" name="TextBox 809"/>
          <p:cNvSpPr txBox="1"/>
          <p:nvPr/>
        </p:nvSpPr>
        <p:spPr>
          <a:xfrm>
            <a:off x="55688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807x</a:t>
            </a:r>
          </a:p>
        </p:txBody>
      </p:sp>
      <p:sp>
        <p:nvSpPr>
          <p:cNvPr id="811" name="TextBox 810"/>
          <p:cNvSpPr txBox="1"/>
          <p:nvPr/>
        </p:nvSpPr>
        <p:spPr>
          <a:xfrm>
            <a:off x="55741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808x</a:t>
            </a:r>
          </a:p>
        </p:txBody>
      </p:sp>
      <p:sp>
        <p:nvSpPr>
          <p:cNvPr id="812" name="TextBox 811"/>
          <p:cNvSpPr txBox="1"/>
          <p:nvPr/>
        </p:nvSpPr>
        <p:spPr>
          <a:xfrm>
            <a:off x="55794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809x</a:t>
            </a:r>
          </a:p>
        </p:txBody>
      </p:sp>
      <p:sp>
        <p:nvSpPr>
          <p:cNvPr id="813" name="TextBox 812"/>
          <p:cNvSpPr txBox="1"/>
          <p:nvPr/>
        </p:nvSpPr>
        <p:spPr>
          <a:xfrm>
            <a:off x="55848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810x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55901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811x</a:t>
            </a:r>
          </a:p>
        </p:txBody>
      </p:sp>
      <p:sp>
        <p:nvSpPr>
          <p:cNvPr id="815" name="TextBox 814"/>
          <p:cNvSpPr txBox="1"/>
          <p:nvPr/>
        </p:nvSpPr>
        <p:spPr>
          <a:xfrm>
            <a:off x="55954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812x</a:t>
            </a:r>
          </a:p>
        </p:txBody>
      </p:sp>
      <p:sp>
        <p:nvSpPr>
          <p:cNvPr id="816" name="TextBox 815"/>
          <p:cNvSpPr txBox="1"/>
          <p:nvPr/>
        </p:nvSpPr>
        <p:spPr>
          <a:xfrm>
            <a:off x="56008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813x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56061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814x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56114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815x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56168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816x</a:t>
            </a:r>
          </a:p>
        </p:txBody>
      </p:sp>
      <p:sp>
        <p:nvSpPr>
          <p:cNvPr id="820" name="TextBox 819"/>
          <p:cNvSpPr txBox="1"/>
          <p:nvPr/>
        </p:nvSpPr>
        <p:spPr>
          <a:xfrm>
            <a:off x="56221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817x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56275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818x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56328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819x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56381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820x</a:t>
            </a:r>
          </a:p>
        </p:txBody>
      </p:sp>
      <p:sp>
        <p:nvSpPr>
          <p:cNvPr id="824" name="TextBox 823"/>
          <p:cNvSpPr txBox="1"/>
          <p:nvPr/>
        </p:nvSpPr>
        <p:spPr>
          <a:xfrm>
            <a:off x="56435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821x</a:t>
            </a:r>
          </a:p>
        </p:txBody>
      </p:sp>
      <p:sp>
        <p:nvSpPr>
          <p:cNvPr id="825" name="TextBox 824"/>
          <p:cNvSpPr txBox="1"/>
          <p:nvPr/>
        </p:nvSpPr>
        <p:spPr>
          <a:xfrm>
            <a:off x="56488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822x</a:t>
            </a:r>
          </a:p>
        </p:txBody>
      </p:sp>
      <p:sp>
        <p:nvSpPr>
          <p:cNvPr id="826" name="TextBox 825"/>
          <p:cNvSpPr txBox="1"/>
          <p:nvPr/>
        </p:nvSpPr>
        <p:spPr>
          <a:xfrm>
            <a:off x="56541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823x</a:t>
            </a:r>
          </a:p>
        </p:txBody>
      </p:sp>
      <p:sp>
        <p:nvSpPr>
          <p:cNvPr id="827" name="TextBox 826"/>
          <p:cNvSpPr txBox="1"/>
          <p:nvPr/>
        </p:nvSpPr>
        <p:spPr>
          <a:xfrm>
            <a:off x="56595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824x</a:t>
            </a:r>
          </a:p>
        </p:txBody>
      </p:sp>
      <p:sp>
        <p:nvSpPr>
          <p:cNvPr id="828" name="TextBox 827"/>
          <p:cNvSpPr txBox="1"/>
          <p:nvPr/>
        </p:nvSpPr>
        <p:spPr>
          <a:xfrm>
            <a:off x="56648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825x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56702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826x</a:t>
            </a:r>
          </a:p>
        </p:txBody>
      </p:sp>
      <p:sp>
        <p:nvSpPr>
          <p:cNvPr id="830" name="TextBox 829"/>
          <p:cNvSpPr txBox="1"/>
          <p:nvPr/>
        </p:nvSpPr>
        <p:spPr>
          <a:xfrm>
            <a:off x="56755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827x</a:t>
            </a:r>
          </a:p>
        </p:txBody>
      </p:sp>
      <p:sp>
        <p:nvSpPr>
          <p:cNvPr id="831" name="TextBox 830"/>
          <p:cNvSpPr txBox="1"/>
          <p:nvPr/>
        </p:nvSpPr>
        <p:spPr>
          <a:xfrm>
            <a:off x="56808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828x</a:t>
            </a:r>
          </a:p>
        </p:txBody>
      </p:sp>
      <p:sp>
        <p:nvSpPr>
          <p:cNvPr id="832" name="TextBox 831"/>
          <p:cNvSpPr txBox="1"/>
          <p:nvPr/>
        </p:nvSpPr>
        <p:spPr>
          <a:xfrm>
            <a:off x="56862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829x</a:t>
            </a:r>
          </a:p>
        </p:txBody>
      </p:sp>
      <p:sp>
        <p:nvSpPr>
          <p:cNvPr id="833" name="TextBox 832"/>
          <p:cNvSpPr txBox="1"/>
          <p:nvPr/>
        </p:nvSpPr>
        <p:spPr>
          <a:xfrm>
            <a:off x="56915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830x</a:t>
            </a:r>
          </a:p>
        </p:txBody>
      </p:sp>
      <p:sp>
        <p:nvSpPr>
          <p:cNvPr id="834" name="TextBox 833"/>
          <p:cNvSpPr txBox="1"/>
          <p:nvPr/>
        </p:nvSpPr>
        <p:spPr>
          <a:xfrm>
            <a:off x="56968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831x</a:t>
            </a:r>
          </a:p>
        </p:txBody>
      </p:sp>
      <p:sp>
        <p:nvSpPr>
          <p:cNvPr id="835" name="TextBox 834"/>
          <p:cNvSpPr txBox="1"/>
          <p:nvPr/>
        </p:nvSpPr>
        <p:spPr>
          <a:xfrm>
            <a:off x="57022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832x</a:t>
            </a:r>
          </a:p>
        </p:txBody>
      </p:sp>
      <p:sp>
        <p:nvSpPr>
          <p:cNvPr id="836" name="TextBox 835"/>
          <p:cNvSpPr txBox="1"/>
          <p:nvPr/>
        </p:nvSpPr>
        <p:spPr>
          <a:xfrm>
            <a:off x="57075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833x</a:t>
            </a:r>
          </a:p>
        </p:txBody>
      </p:sp>
      <p:sp>
        <p:nvSpPr>
          <p:cNvPr id="837" name="TextBox 836"/>
          <p:cNvSpPr txBox="1"/>
          <p:nvPr/>
        </p:nvSpPr>
        <p:spPr>
          <a:xfrm>
            <a:off x="57129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834x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57182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835x</a:t>
            </a:r>
          </a:p>
        </p:txBody>
      </p:sp>
      <p:sp>
        <p:nvSpPr>
          <p:cNvPr id="839" name="TextBox 838"/>
          <p:cNvSpPr txBox="1"/>
          <p:nvPr/>
        </p:nvSpPr>
        <p:spPr>
          <a:xfrm>
            <a:off x="57235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836x</a:t>
            </a:r>
          </a:p>
        </p:txBody>
      </p:sp>
      <p:sp>
        <p:nvSpPr>
          <p:cNvPr id="840" name="TextBox 839"/>
          <p:cNvSpPr txBox="1"/>
          <p:nvPr/>
        </p:nvSpPr>
        <p:spPr>
          <a:xfrm>
            <a:off x="57289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837x</a:t>
            </a:r>
          </a:p>
        </p:txBody>
      </p:sp>
      <p:sp>
        <p:nvSpPr>
          <p:cNvPr id="841" name="TextBox 840"/>
          <p:cNvSpPr txBox="1"/>
          <p:nvPr/>
        </p:nvSpPr>
        <p:spPr>
          <a:xfrm>
            <a:off x="57342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838x</a:t>
            </a:r>
          </a:p>
        </p:txBody>
      </p:sp>
      <p:sp>
        <p:nvSpPr>
          <p:cNvPr id="842" name="TextBox 841"/>
          <p:cNvSpPr txBox="1"/>
          <p:nvPr/>
        </p:nvSpPr>
        <p:spPr>
          <a:xfrm>
            <a:off x="57395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839x</a:t>
            </a:r>
          </a:p>
        </p:txBody>
      </p:sp>
      <p:sp>
        <p:nvSpPr>
          <p:cNvPr id="843" name="TextBox 842"/>
          <p:cNvSpPr txBox="1"/>
          <p:nvPr/>
        </p:nvSpPr>
        <p:spPr>
          <a:xfrm>
            <a:off x="57449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840x</a:t>
            </a:r>
          </a:p>
        </p:txBody>
      </p:sp>
      <p:sp>
        <p:nvSpPr>
          <p:cNvPr id="844" name="TextBox 843"/>
          <p:cNvSpPr txBox="1"/>
          <p:nvPr/>
        </p:nvSpPr>
        <p:spPr>
          <a:xfrm>
            <a:off x="57502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841x</a:t>
            </a:r>
          </a:p>
        </p:txBody>
      </p:sp>
      <p:sp>
        <p:nvSpPr>
          <p:cNvPr id="845" name="TextBox 844"/>
          <p:cNvSpPr txBox="1"/>
          <p:nvPr/>
        </p:nvSpPr>
        <p:spPr>
          <a:xfrm>
            <a:off x="57555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842x</a:t>
            </a:r>
          </a:p>
        </p:txBody>
      </p:sp>
      <p:sp>
        <p:nvSpPr>
          <p:cNvPr id="846" name="TextBox 845"/>
          <p:cNvSpPr txBox="1"/>
          <p:nvPr/>
        </p:nvSpPr>
        <p:spPr>
          <a:xfrm>
            <a:off x="57609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843x</a:t>
            </a:r>
          </a:p>
        </p:txBody>
      </p:sp>
      <p:sp>
        <p:nvSpPr>
          <p:cNvPr id="847" name="TextBox 846"/>
          <p:cNvSpPr txBox="1"/>
          <p:nvPr/>
        </p:nvSpPr>
        <p:spPr>
          <a:xfrm>
            <a:off x="57662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844x</a:t>
            </a:r>
          </a:p>
        </p:txBody>
      </p:sp>
      <p:sp>
        <p:nvSpPr>
          <p:cNvPr id="848" name="TextBox 847"/>
          <p:cNvSpPr txBox="1"/>
          <p:nvPr/>
        </p:nvSpPr>
        <p:spPr>
          <a:xfrm>
            <a:off x="57716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845x</a:t>
            </a:r>
          </a:p>
        </p:txBody>
      </p:sp>
      <p:sp>
        <p:nvSpPr>
          <p:cNvPr id="849" name="TextBox 848"/>
          <p:cNvSpPr txBox="1"/>
          <p:nvPr/>
        </p:nvSpPr>
        <p:spPr>
          <a:xfrm>
            <a:off x="57769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846x</a:t>
            </a:r>
          </a:p>
        </p:txBody>
      </p:sp>
      <p:sp>
        <p:nvSpPr>
          <p:cNvPr id="850" name="TextBox 849"/>
          <p:cNvSpPr txBox="1"/>
          <p:nvPr/>
        </p:nvSpPr>
        <p:spPr>
          <a:xfrm>
            <a:off x="57822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847x</a:t>
            </a:r>
          </a:p>
        </p:txBody>
      </p:sp>
      <p:sp>
        <p:nvSpPr>
          <p:cNvPr id="851" name="TextBox 850"/>
          <p:cNvSpPr txBox="1"/>
          <p:nvPr/>
        </p:nvSpPr>
        <p:spPr>
          <a:xfrm>
            <a:off x="57876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848x</a:t>
            </a:r>
          </a:p>
        </p:txBody>
      </p:sp>
      <p:sp>
        <p:nvSpPr>
          <p:cNvPr id="852" name="TextBox 851"/>
          <p:cNvSpPr txBox="1"/>
          <p:nvPr/>
        </p:nvSpPr>
        <p:spPr>
          <a:xfrm>
            <a:off x="57929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849x</a:t>
            </a:r>
          </a:p>
        </p:txBody>
      </p:sp>
      <p:sp>
        <p:nvSpPr>
          <p:cNvPr id="853" name="TextBox 852"/>
          <p:cNvSpPr txBox="1"/>
          <p:nvPr/>
        </p:nvSpPr>
        <p:spPr>
          <a:xfrm>
            <a:off x="57982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850x</a:t>
            </a:r>
          </a:p>
        </p:txBody>
      </p:sp>
      <p:sp>
        <p:nvSpPr>
          <p:cNvPr id="854" name="TextBox 853"/>
          <p:cNvSpPr txBox="1"/>
          <p:nvPr/>
        </p:nvSpPr>
        <p:spPr>
          <a:xfrm>
            <a:off x="58036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851x</a:t>
            </a:r>
          </a:p>
        </p:txBody>
      </p:sp>
      <p:sp>
        <p:nvSpPr>
          <p:cNvPr id="855" name="TextBox 854"/>
          <p:cNvSpPr txBox="1"/>
          <p:nvPr/>
        </p:nvSpPr>
        <p:spPr>
          <a:xfrm>
            <a:off x="58089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852x</a:t>
            </a:r>
          </a:p>
        </p:txBody>
      </p:sp>
      <p:sp>
        <p:nvSpPr>
          <p:cNvPr id="856" name="TextBox 855"/>
          <p:cNvSpPr txBox="1"/>
          <p:nvPr/>
        </p:nvSpPr>
        <p:spPr>
          <a:xfrm>
            <a:off x="58143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853x</a:t>
            </a:r>
          </a:p>
        </p:txBody>
      </p:sp>
      <p:sp>
        <p:nvSpPr>
          <p:cNvPr id="857" name="TextBox 856"/>
          <p:cNvSpPr txBox="1"/>
          <p:nvPr/>
        </p:nvSpPr>
        <p:spPr>
          <a:xfrm>
            <a:off x="58196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854x</a:t>
            </a:r>
          </a:p>
        </p:txBody>
      </p:sp>
      <p:sp>
        <p:nvSpPr>
          <p:cNvPr id="858" name="TextBox 857"/>
          <p:cNvSpPr txBox="1"/>
          <p:nvPr/>
        </p:nvSpPr>
        <p:spPr>
          <a:xfrm>
            <a:off x="58249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855x</a:t>
            </a:r>
          </a:p>
        </p:txBody>
      </p:sp>
      <p:sp>
        <p:nvSpPr>
          <p:cNvPr id="859" name="TextBox 858"/>
          <p:cNvSpPr txBox="1"/>
          <p:nvPr/>
        </p:nvSpPr>
        <p:spPr>
          <a:xfrm>
            <a:off x="58303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856x</a:t>
            </a:r>
          </a:p>
        </p:txBody>
      </p:sp>
      <p:sp>
        <p:nvSpPr>
          <p:cNvPr id="860" name="TextBox 859"/>
          <p:cNvSpPr txBox="1"/>
          <p:nvPr/>
        </p:nvSpPr>
        <p:spPr>
          <a:xfrm>
            <a:off x="58356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857x</a:t>
            </a:r>
          </a:p>
        </p:txBody>
      </p:sp>
      <p:sp>
        <p:nvSpPr>
          <p:cNvPr id="861" name="TextBox 860"/>
          <p:cNvSpPr txBox="1"/>
          <p:nvPr/>
        </p:nvSpPr>
        <p:spPr>
          <a:xfrm>
            <a:off x="58409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858x</a:t>
            </a:r>
          </a:p>
        </p:txBody>
      </p:sp>
      <p:sp>
        <p:nvSpPr>
          <p:cNvPr id="862" name="TextBox 861"/>
          <p:cNvSpPr txBox="1"/>
          <p:nvPr/>
        </p:nvSpPr>
        <p:spPr>
          <a:xfrm>
            <a:off x="58463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859x</a:t>
            </a:r>
          </a:p>
        </p:txBody>
      </p:sp>
      <p:sp>
        <p:nvSpPr>
          <p:cNvPr id="863" name="TextBox 862"/>
          <p:cNvSpPr txBox="1"/>
          <p:nvPr/>
        </p:nvSpPr>
        <p:spPr>
          <a:xfrm>
            <a:off x="58516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860x</a:t>
            </a:r>
          </a:p>
        </p:txBody>
      </p:sp>
      <p:sp>
        <p:nvSpPr>
          <p:cNvPr id="864" name="TextBox 863"/>
          <p:cNvSpPr txBox="1"/>
          <p:nvPr/>
        </p:nvSpPr>
        <p:spPr>
          <a:xfrm>
            <a:off x="58569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861x</a:t>
            </a:r>
          </a:p>
        </p:txBody>
      </p:sp>
      <p:sp>
        <p:nvSpPr>
          <p:cNvPr id="865" name="TextBox 864"/>
          <p:cNvSpPr txBox="1"/>
          <p:nvPr/>
        </p:nvSpPr>
        <p:spPr>
          <a:xfrm>
            <a:off x="58623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862x</a:t>
            </a:r>
          </a:p>
        </p:txBody>
      </p:sp>
      <p:sp>
        <p:nvSpPr>
          <p:cNvPr id="866" name="TextBox 865"/>
          <p:cNvSpPr txBox="1"/>
          <p:nvPr/>
        </p:nvSpPr>
        <p:spPr>
          <a:xfrm>
            <a:off x="58676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863x</a:t>
            </a:r>
          </a:p>
        </p:txBody>
      </p:sp>
      <p:sp>
        <p:nvSpPr>
          <p:cNvPr id="867" name="TextBox 866"/>
          <p:cNvSpPr txBox="1"/>
          <p:nvPr/>
        </p:nvSpPr>
        <p:spPr>
          <a:xfrm>
            <a:off x="58730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864x</a:t>
            </a:r>
          </a:p>
        </p:txBody>
      </p:sp>
      <p:sp>
        <p:nvSpPr>
          <p:cNvPr id="868" name="TextBox 867"/>
          <p:cNvSpPr txBox="1"/>
          <p:nvPr/>
        </p:nvSpPr>
        <p:spPr>
          <a:xfrm>
            <a:off x="58783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865x</a:t>
            </a:r>
          </a:p>
        </p:txBody>
      </p:sp>
      <p:sp>
        <p:nvSpPr>
          <p:cNvPr id="869" name="TextBox 868"/>
          <p:cNvSpPr txBox="1"/>
          <p:nvPr/>
        </p:nvSpPr>
        <p:spPr>
          <a:xfrm>
            <a:off x="58836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866x</a:t>
            </a:r>
          </a:p>
        </p:txBody>
      </p:sp>
      <p:sp>
        <p:nvSpPr>
          <p:cNvPr id="870" name="TextBox 869"/>
          <p:cNvSpPr txBox="1"/>
          <p:nvPr/>
        </p:nvSpPr>
        <p:spPr>
          <a:xfrm>
            <a:off x="58890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867x</a:t>
            </a:r>
          </a:p>
        </p:txBody>
      </p:sp>
      <p:sp>
        <p:nvSpPr>
          <p:cNvPr id="871" name="TextBox 870"/>
          <p:cNvSpPr txBox="1"/>
          <p:nvPr/>
        </p:nvSpPr>
        <p:spPr>
          <a:xfrm>
            <a:off x="58943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868x</a:t>
            </a:r>
          </a:p>
        </p:txBody>
      </p:sp>
      <p:sp>
        <p:nvSpPr>
          <p:cNvPr id="872" name="TextBox 871"/>
          <p:cNvSpPr txBox="1"/>
          <p:nvPr/>
        </p:nvSpPr>
        <p:spPr>
          <a:xfrm>
            <a:off x="58996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869x</a:t>
            </a:r>
          </a:p>
        </p:txBody>
      </p:sp>
      <p:sp>
        <p:nvSpPr>
          <p:cNvPr id="873" name="TextBox 872"/>
          <p:cNvSpPr txBox="1"/>
          <p:nvPr/>
        </p:nvSpPr>
        <p:spPr>
          <a:xfrm>
            <a:off x="59050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870x</a:t>
            </a:r>
          </a:p>
        </p:txBody>
      </p:sp>
      <p:sp>
        <p:nvSpPr>
          <p:cNvPr id="874" name="TextBox 873"/>
          <p:cNvSpPr txBox="1"/>
          <p:nvPr/>
        </p:nvSpPr>
        <p:spPr>
          <a:xfrm>
            <a:off x="59103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871x</a:t>
            </a:r>
          </a:p>
        </p:txBody>
      </p:sp>
      <p:sp>
        <p:nvSpPr>
          <p:cNvPr id="875" name="TextBox 874"/>
          <p:cNvSpPr txBox="1"/>
          <p:nvPr/>
        </p:nvSpPr>
        <p:spPr>
          <a:xfrm>
            <a:off x="59157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872x</a:t>
            </a:r>
          </a:p>
        </p:txBody>
      </p:sp>
      <p:sp>
        <p:nvSpPr>
          <p:cNvPr id="876" name="TextBox 875"/>
          <p:cNvSpPr txBox="1"/>
          <p:nvPr/>
        </p:nvSpPr>
        <p:spPr>
          <a:xfrm>
            <a:off x="59210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873x</a:t>
            </a:r>
          </a:p>
        </p:txBody>
      </p:sp>
      <p:sp>
        <p:nvSpPr>
          <p:cNvPr id="877" name="TextBox 876"/>
          <p:cNvSpPr txBox="1"/>
          <p:nvPr/>
        </p:nvSpPr>
        <p:spPr>
          <a:xfrm>
            <a:off x="59263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874x</a:t>
            </a:r>
          </a:p>
        </p:txBody>
      </p:sp>
      <p:sp>
        <p:nvSpPr>
          <p:cNvPr id="878" name="TextBox 877"/>
          <p:cNvSpPr txBox="1"/>
          <p:nvPr/>
        </p:nvSpPr>
        <p:spPr>
          <a:xfrm>
            <a:off x="59317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875x</a:t>
            </a:r>
          </a:p>
        </p:txBody>
      </p:sp>
      <p:sp>
        <p:nvSpPr>
          <p:cNvPr id="879" name="TextBox 878"/>
          <p:cNvSpPr txBox="1"/>
          <p:nvPr/>
        </p:nvSpPr>
        <p:spPr>
          <a:xfrm>
            <a:off x="59370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876x</a:t>
            </a:r>
          </a:p>
        </p:txBody>
      </p:sp>
      <p:sp>
        <p:nvSpPr>
          <p:cNvPr id="880" name="TextBox 879"/>
          <p:cNvSpPr txBox="1"/>
          <p:nvPr/>
        </p:nvSpPr>
        <p:spPr>
          <a:xfrm>
            <a:off x="59423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877x</a:t>
            </a:r>
          </a:p>
        </p:txBody>
      </p:sp>
      <p:sp>
        <p:nvSpPr>
          <p:cNvPr id="881" name="TextBox 880"/>
          <p:cNvSpPr txBox="1"/>
          <p:nvPr/>
        </p:nvSpPr>
        <p:spPr>
          <a:xfrm>
            <a:off x="59477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878x</a:t>
            </a:r>
          </a:p>
        </p:txBody>
      </p:sp>
      <p:sp>
        <p:nvSpPr>
          <p:cNvPr id="882" name="TextBox 881"/>
          <p:cNvSpPr txBox="1"/>
          <p:nvPr/>
        </p:nvSpPr>
        <p:spPr>
          <a:xfrm>
            <a:off x="59530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879x</a:t>
            </a:r>
          </a:p>
        </p:txBody>
      </p:sp>
      <p:sp>
        <p:nvSpPr>
          <p:cNvPr id="883" name="TextBox 882"/>
          <p:cNvSpPr txBox="1"/>
          <p:nvPr/>
        </p:nvSpPr>
        <p:spPr>
          <a:xfrm>
            <a:off x="59584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880x</a:t>
            </a:r>
          </a:p>
        </p:txBody>
      </p:sp>
      <p:sp>
        <p:nvSpPr>
          <p:cNvPr id="884" name="TextBox 883"/>
          <p:cNvSpPr txBox="1"/>
          <p:nvPr/>
        </p:nvSpPr>
        <p:spPr>
          <a:xfrm>
            <a:off x="59637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881x</a:t>
            </a:r>
          </a:p>
        </p:txBody>
      </p:sp>
      <p:sp>
        <p:nvSpPr>
          <p:cNvPr id="885" name="TextBox 884"/>
          <p:cNvSpPr txBox="1"/>
          <p:nvPr/>
        </p:nvSpPr>
        <p:spPr>
          <a:xfrm>
            <a:off x="59690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882x</a:t>
            </a:r>
          </a:p>
        </p:txBody>
      </p:sp>
      <p:sp>
        <p:nvSpPr>
          <p:cNvPr id="886" name="TextBox 885"/>
          <p:cNvSpPr txBox="1"/>
          <p:nvPr/>
        </p:nvSpPr>
        <p:spPr>
          <a:xfrm>
            <a:off x="59744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883x</a:t>
            </a:r>
          </a:p>
        </p:txBody>
      </p:sp>
      <p:sp>
        <p:nvSpPr>
          <p:cNvPr id="887" name="TextBox 886"/>
          <p:cNvSpPr txBox="1"/>
          <p:nvPr/>
        </p:nvSpPr>
        <p:spPr>
          <a:xfrm>
            <a:off x="59797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884x</a:t>
            </a:r>
          </a:p>
        </p:txBody>
      </p:sp>
      <p:sp>
        <p:nvSpPr>
          <p:cNvPr id="888" name="TextBox 887"/>
          <p:cNvSpPr txBox="1"/>
          <p:nvPr/>
        </p:nvSpPr>
        <p:spPr>
          <a:xfrm>
            <a:off x="59850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885x</a:t>
            </a:r>
          </a:p>
        </p:txBody>
      </p:sp>
      <p:sp>
        <p:nvSpPr>
          <p:cNvPr id="889" name="TextBox 888"/>
          <p:cNvSpPr txBox="1"/>
          <p:nvPr/>
        </p:nvSpPr>
        <p:spPr>
          <a:xfrm>
            <a:off x="59904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886x</a:t>
            </a:r>
          </a:p>
        </p:txBody>
      </p:sp>
      <p:sp>
        <p:nvSpPr>
          <p:cNvPr id="890" name="TextBox 889"/>
          <p:cNvSpPr txBox="1"/>
          <p:nvPr/>
        </p:nvSpPr>
        <p:spPr>
          <a:xfrm>
            <a:off x="59957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887x</a:t>
            </a:r>
          </a:p>
        </p:txBody>
      </p:sp>
      <p:sp>
        <p:nvSpPr>
          <p:cNvPr id="891" name="TextBox 890"/>
          <p:cNvSpPr txBox="1"/>
          <p:nvPr/>
        </p:nvSpPr>
        <p:spPr>
          <a:xfrm>
            <a:off x="60010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888x</a:t>
            </a:r>
          </a:p>
        </p:txBody>
      </p:sp>
      <p:sp>
        <p:nvSpPr>
          <p:cNvPr id="892" name="TextBox 891"/>
          <p:cNvSpPr txBox="1"/>
          <p:nvPr/>
        </p:nvSpPr>
        <p:spPr>
          <a:xfrm>
            <a:off x="60064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889x</a:t>
            </a:r>
          </a:p>
        </p:txBody>
      </p:sp>
      <p:sp>
        <p:nvSpPr>
          <p:cNvPr id="893" name="TextBox 892"/>
          <p:cNvSpPr txBox="1"/>
          <p:nvPr/>
        </p:nvSpPr>
        <p:spPr>
          <a:xfrm>
            <a:off x="60117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890x</a:t>
            </a:r>
          </a:p>
        </p:txBody>
      </p:sp>
      <p:sp>
        <p:nvSpPr>
          <p:cNvPr id="894" name="TextBox 893"/>
          <p:cNvSpPr txBox="1"/>
          <p:nvPr/>
        </p:nvSpPr>
        <p:spPr>
          <a:xfrm>
            <a:off x="60171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891x</a:t>
            </a:r>
          </a:p>
        </p:txBody>
      </p:sp>
      <p:sp>
        <p:nvSpPr>
          <p:cNvPr id="895" name="TextBox 894"/>
          <p:cNvSpPr txBox="1"/>
          <p:nvPr/>
        </p:nvSpPr>
        <p:spPr>
          <a:xfrm>
            <a:off x="60224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892x</a:t>
            </a:r>
          </a:p>
        </p:txBody>
      </p:sp>
      <p:sp>
        <p:nvSpPr>
          <p:cNvPr id="896" name="TextBox 895"/>
          <p:cNvSpPr txBox="1"/>
          <p:nvPr/>
        </p:nvSpPr>
        <p:spPr>
          <a:xfrm>
            <a:off x="60277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893x</a:t>
            </a:r>
          </a:p>
        </p:txBody>
      </p:sp>
      <p:sp>
        <p:nvSpPr>
          <p:cNvPr id="897" name="TextBox 896"/>
          <p:cNvSpPr txBox="1"/>
          <p:nvPr/>
        </p:nvSpPr>
        <p:spPr>
          <a:xfrm>
            <a:off x="60331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894x</a:t>
            </a:r>
          </a:p>
        </p:txBody>
      </p:sp>
      <p:sp>
        <p:nvSpPr>
          <p:cNvPr id="898" name="TextBox 897"/>
          <p:cNvSpPr txBox="1"/>
          <p:nvPr/>
        </p:nvSpPr>
        <p:spPr>
          <a:xfrm>
            <a:off x="60384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895x</a:t>
            </a:r>
          </a:p>
        </p:txBody>
      </p:sp>
      <p:sp>
        <p:nvSpPr>
          <p:cNvPr id="899" name="TextBox 898"/>
          <p:cNvSpPr txBox="1"/>
          <p:nvPr/>
        </p:nvSpPr>
        <p:spPr>
          <a:xfrm>
            <a:off x="60437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896x</a:t>
            </a:r>
          </a:p>
        </p:txBody>
      </p:sp>
      <p:sp>
        <p:nvSpPr>
          <p:cNvPr id="900" name="TextBox 899"/>
          <p:cNvSpPr txBox="1"/>
          <p:nvPr/>
        </p:nvSpPr>
        <p:spPr>
          <a:xfrm>
            <a:off x="60491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897x</a:t>
            </a:r>
          </a:p>
        </p:txBody>
      </p:sp>
      <p:sp>
        <p:nvSpPr>
          <p:cNvPr id="901" name="TextBox 900"/>
          <p:cNvSpPr txBox="1"/>
          <p:nvPr/>
        </p:nvSpPr>
        <p:spPr>
          <a:xfrm>
            <a:off x="60544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898x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60598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899x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60651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900x</a:t>
            </a:r>
          </a:p>
        </p:txBody>
      </p:sp>
      <p:sp>
        <p:nvSpPr>
          <p:cNvPr id="904" name="TextBox 903"/>
          <p:cNvSpPr txBox="1"/>
          <p:nvPr/>
        </p:nvSpPr>
        <p:spPr>
          <a:xfrm>
            <a:off x="60704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901x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60758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902x</a:t>
            </a:r>
          </a:p>
        </p:txBody>
      </p:sp>
      <p:sp>
        <p:nvSpPr>
          <p:cNvPr id="906" name="TextBox 905"/>
          <p:cNvSpPr txBox="1"/>
          <p:nvPr/>
        </p:nvSpPr>
        <p:spPr>
          <a:xfrm>
            <a:off x="60811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903x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60864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904x</a:t>
            </a:r>
          </a:p>
        </p:txBody>
      </p:sp>
      <p:sp>
        <p:nvSpPr>
          <p:cNvPr id="908" name="TextBox 907"/>
          <p:cNvSpPr txBox="1"/>
          <p:nvPr/>
        </p:nvSpPr>
        <p:spPr>
          <a:xfrm>
            <a:off x="60918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905x</a:t>
            </a:r>
          </a:p>
        </p:txBody>
      </p:sp>
      <p:sp>
        <p:nvSpPr>
          <p:cNvPr id="909" name="TextBox 908"/>
          <p:cNvSpPr txBox="1"/>
          <p:nvPr/>
        </p:nvSpPr>
        <p:spPr>
          <a:xfrm>
            <a:off x="60971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906x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61024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907x</a:t>
            </a:r>
          </a:p>
        </p:txBody>
      </p:sp>
      <p:sp>
        <p:nvSpPr>
          <p:cNvPr id="911" name="TextBox 910"/>
          <p:cNvSpPr txBox="1"/>
          <p:nvPr/>
        </p:nvSpPr>
        <p:spPr>
          <a:xfrm>
            <a:off x="61078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908x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61131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909x</a:t>
            </a:r>
          </a:p>
        </p:txBody>
      </p:sp>
      <p:sp>
        <p:nvSpPr>
          <p:cNvPr id="913" name="TextBox 912"/>
          <p:cNvSpPr txBox="1"/>
          <p:nvPr/>
        </p:nvSpPr>
        <p:spPr>
          <a:xfrm>
            <a:off x="61185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910x</a:t>
            </a:r>
          </a:p>
        </p:txBody>
      </p:sp>
      <p:sp>
        <p:nvSpPr>
          <p:cNvPr id="914" name="TextBox 913"/>
          <p:cNvSpPr txBox="1"/>
          <p:nvPr/>
        </p:nvSpPr>
        <p:spPr>
          <a:xfrm>
            <a:off x="61238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911x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61291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912x</a:t>
            </a:r>
          </a:p>
        </p:txBody>
      </p:sp>
      <p:sp>
        <p:nvSpPr>
          <p:cNvPr id="916" name="TextBox 915"/>
          <p:cNvSpPr txBox="1"/>
          <p:nvPr/>
        </p:nvSpPr>
        <p:spPr>
          <a:xfrm>
            <a:off x="61345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913x</a:t>
            </a:r>
          </a:p>
        </p:txBody>
      </p:sp>
      <p:sp>
        <p:nvSpPr>
          <p:cNvPr id="917" name="TextBox 916"/>
          <p:cNvSpPr txBox="1"/>
          <p:nvPr/>
        </p:nvSpPr>
        <p:spPr>
          <a:xfrm>
            <a:off x="61398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914x</a:t>
            </a:r>
          </a:p>
        </p:txBody>
      </p:sp>
      <p:sp>
        <p:nvSpPr>
          <p:cNvPr id="918" name="TextBox 917"/>
          <p:cNvSpPr txBox="1"/>
          <p:nvPr/>
        </p:nvSpPr>
        <p:spPr>
          <a:xfrm>
            <a:off x="61451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915x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1505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916x</a:t>
            </a:r>
          </a:p>
        </p:txBody>
      </p:sp>
      <p:sp>
        <p:nvSpPr>
          <p:cNvPr id="920" name="TextBox 919"/>
          <p:cNvSpPr txBox="1"/>
          <p:nvPr/>
        </p:nvSpPr>
        <p:spPr>
          <a:xfrm>
            <a:off x="61558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917x</a:t>
            </a:r>
          </a:p>
        </p:txBody>
      </p:sp>
      <p:sp>
        <p:nvSpPr>
          <p:cNvPr id="921" name="TextBox 920"/>
          <p:cNvSpPr txBox="1"/>
          <p:nvPr/>
        </p:nvSpPr>
        <p:spPr>
          <a:xfrm>
            <a:off x="61612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918x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61665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919x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61718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920x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61772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921x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61825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922x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61878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923x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1932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924x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1985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925x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62039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926x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62092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927x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62145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928x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62199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929x</a:t>
            </a:r>
          </a:p>
        </p:txBody>
      </p:sp>
      <p:sp>
        <p:nvSpPr>
          <p:cNvPr id="933" name="TextBox 932"/>
          <p:cNvSpPr txBox="1"/>
          <p:nvPr/>
        </p:nvSpPr>
        <p:spPr>
          <a:xfrm>
            <a:off x="62252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930x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62305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931x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62359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932x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62412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933x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62465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934x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62519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935x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62572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936x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62626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937x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62679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938x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62732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939x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62786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940x</a:t>
            </a:r>
          </a:p>
        </p:txBody>
      </p:sp>
      <p:sp>
        <p:nvSpPr>
          <p:cNvPr id="944" name="TextBox 943"/>
          <p:cNvSpPr txBox="1"/>
          <p:nvPr/>
        </p:nvSpPr>
        <p:spPr>
          <a:xfrm>
            <a:off x="62839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941x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62892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942x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62946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943x</a:t>
            </a:r>
          </a:p>
        </p:txBody>
      </p:sp>
      <p:sp>
        <p:nvSpPr>
          <p:cNvPr id="947" name="TextBox 946"/>
          <p:cNvSpPr txBox="1"/>
          <p:nvPr/>
        </p:nvSpPr>
        <p:spPr>
          <a:xfrm>
            <a:off x="62999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944x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63053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945x</a:t>
            </a:r>
          </a:p>
        </p:txBody>
      </p:sp>
      <p:sp>
        <p:nvSpPr>
          <p:cNvPr id="949" name="TextBox 948"/>
          <p:cNvSpPr txBox="1"/>
          <p:nvPr/>
        </p:nvSpPr>
        <p:spPr>
          <a:xfrm>
            <a:off x="63106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946x</a:t>
            </a:r>
          </a:p>
        </p:txBody>
      </p:sp>
      <p:sp>
        <p:nvSpPr>
          <p:cNvPr id="950" name="TextBox 949"/>
          <p:cNvSpPr txBox="1"/>
          <p:nvPr/>
        </p:nvSpPr>
        <p:spPr>
          <a:xfrm>
            <a:off x="63159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947x</a:t>
            </a:r>
          </a:p>
        </p:txBody>
      </p:sp>
      <p:sp>
        <p:nvSpPr>
          <p:cNvPr id="951" name="TextBox 950"/>
          <p:cNvSpPr txBox="1"/>
          <p:nvPr/>
        </p:nvSpPr>
        <p:spPr>
          <a:xfrm>
            <a:off x="63213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948x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63266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949x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63319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950x</a:t>
            </a:r>
          </a:p>
        </p:txBody>
      </p:sp>
      <p:sp>
        <p:nvSpPr>
          <p:cNvPr id="954" name="TextBox 953"/>
          <p:cNvSpPr txBox="1"/>
          <p:nvPr/>
        </p:nvSpPr>
        <p:spPr>
          <a:xfrm>
            <a:off x="63373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951x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63426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952x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63479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953x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63533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954x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63586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955x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63640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956x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63693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957x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63746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958x</a:t>
            </a:r>
          </a:p>
        </p:txBody>
      </p:sp>
      <p:sp>
        <p:nvSpPr>
          <p:cNvPr id="962" name="TextBox 961"/>
          <p:cNvSpPr txBox="1"/>
          <p:nvPr/>
        </p:nvSpPr>
        <p:spPr>
          <a:xfrm>
            <a:off x="63800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959x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3853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960x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63906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961x</a:t>
            </a:r>
          </a:p>
        </p:txBody>
      </p:sp>
      <p:sp>
        <p:nvSpPr>
          <p:cNvPr id="965" name="TextBox 964"/>
          <p:cNvSpPr txBox="1"/>
          <p:nvPr/>
        </p:nvSpPr>
        <p:spPr>
          <a:xfrm>
            <a:off x="63960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962x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64013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963x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64067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964x</a:t>
            </a:r>
          </a:p>
        </p:txBody>
      </p:sp>
      <p:sp>
        <p:nvSpPr>
          <p:cNvPr id="968" name="TextBox 967"/>
          <p:cNvSpPr txBox="1"/>
          <p:nvPr/>
        </p:nvSpPr>
        <p:spPr>
          <a:xfrm>
            <a:off x="64120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965x</a:t>
            </a:r>
          </a:p>
        </p:txBody>
      </p:sp>
      <p:sp>
        <p:nvSpPr>
          <p:cNvPr id="969" name="TextBox 968"/>
          <p:cNvSpPr txBox="1"/>
          <p:nvPr/>
        </p:nvSpPr>
        <p:spPr>
          <a:xfrm>
            <a:off x="64173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966x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64227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967x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64280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968x</a:t>
            </a:r>
          </a:p>
        </p:txBody>
      </p:sp>
      <p:sp>
        <p:nvSpPr>
          <p:cNvPr id="972" name="TextBox 971"/>
          <p:cNvSpPr txBox="1"/>
          <p:nvPr/>
        </p:nvSpPr>
        <p:spPr>
          <a:xfrm>
            <a:off x="64333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969x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64387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970x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64440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971x</a:t>
            </a:r>
          </a:p>
        </p:txBody>
      </p:sp>
      <p:sp>
        <p:nvSpPr>
          <p:cNvPr id="975" name="TextBox 974"/>
          <p:cNvSpPr txBox="1"/>
          <p:nvPr/>
        </p:nvSpPr>
        <p:spPr>
          <a:xfrm>
            <a:off x="64494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972x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64547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973x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64600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974x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64654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975x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64707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976x</a:t>
            </a:r>
          </a:p>
        </p:txBody>
      </p:sp>
      <p:sp>
        <p:nvSpPr>
          <p:cNvPr id="980" name="TextBox 979"/>
          <p:cNvSpPr txBox="1"/>
          <p:nvPr/>
        </p:nvSpPr>
        <p:spPr>
          <a:xfrm>
            <a:off x="64760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977x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64814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978x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64867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979x</a:t>
            </a:r>
          </a:p>
        </p:txBody>
      </p:sp>
      <p:sp>
        <p:nvSpPr>
          <p:cNvPr id="983" name="TextBox 982"/>
          <p:cNvSpPr txBox="1"/>
          <p:nvPr/>
        </p:nvSpPr>
        <p:spPr>
          <a:xfrm>
            <a:off x="64920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980x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64974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981x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65027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982x</a:t>
            </a:r>
          </a:p>
        </p:txBody>
      </p:sp>
      <p:sp>
        <p:nvSpPr>
          <p:cNvPr id="986" name="TextBox 985"/>
          <p:cNvSpPr txBox="1"/>
          <p:nvPr/>
        </p:nvSpPr>
        <p:spPr>
          <a:xfrm>
            <a:off x="65081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983x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65134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984x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65187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985x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65241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986x</a:t>
            </a:r>
          </a:p>
        </p:txBody>
      </p:sp>
      <p:sp>
        <p:nvSpPr>
          <p:cNvPr id="990" name="TextBox 989"/>
          <p:cNvSpPr txBox="1"/>
          <p:nvPr/>
        </p:nvSpPr>
        <p:spPr>
          <a:xfrm>
            <a:off x="65294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987x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65347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988x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65401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989x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65454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990x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65508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991x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65561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992x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65614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993x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65668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994x</a:t>
            </a:r>
          </a:p>
        </p:txBody>
      </p:sp>
      <p:sp>
        <p:nvSpPr>
          <p:cNvPr id="998" name="TextBox 997"/>
          <p:cNvSpPr txBox="1"/>
          <p:nvPr/>
        </p:nvSpPr>
        <p:spPr>
          <a:xfrm>
            <a:off x="65721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995x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65774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996x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65828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997x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65881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998x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65935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999x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65988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1000x</a:t>
            </a:r>
          </a:p>
        </p:txBody>
      </p:sp>
      <p:sp>
        <p:nvSpPr>
          <p:cNvPr id="1004" name="TextBox 1003"/>
          <p:cNvSpPr txBox="1"/>
          <p:nvPr/>
        </p:nvSpPr>
        <p:spPr>
          <a:xfrm>
            <a:off x="66041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1001x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6095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1002x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6148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1003x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66201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1004x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66255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1005x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66308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1006x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66361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1007x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66415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1008x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66468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1009x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66522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1010x</a:t>
            </a:r>
          </a:p>
        </p:txBody>
      </p:sp>
      <p:sp>
        <p:nvSpPr>
          <p:cNvPr id="1014" name="TextBox 1013"/>
          <p:cNvSpPr txBox="1"/>
          <p:nvPr/>
        </p:nvSpPr>
        <p:spPr>
          <a:xfrm>
            <a:off x="66575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1011x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66628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1012x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66682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1013x</a:t>
            </a:r>
          </a:p>
        </p:txBody>
      </p:sp>
      <p:sp>
        <p:nvSpPr>
          <p:cNvPr id="1017" name="TextBox 1016"/>
          <p:cNvSpPr txBox="1"/>
          <p:nvPr/>
        </p:nvSpPr>
        <p:spPr>
          <a:xfrm>
            <a:off x="66735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1014x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66788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1015x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66842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1016x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66895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1017x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66949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1018x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67002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1019x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67055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1020x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67109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1021x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67162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1022x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67215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1023x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7269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1024x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67322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1025x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67375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1026x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67429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1027x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67482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1028x</a:t>
            </a:r>
          </a:p>
        </p:txBody>
      </p:sp>
      <p:sp>
        <p:nvSpPr>
          <p:cNvPr id="1032" name="TextBox 1031"/>
          <p:cNvSpPr txBox="1"/>
          <p:nvPr/>
        </p:nvSpPr>
        <p:spPr>
          <a:xfrm>
            <a:off x="67536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1029x</a:t>
            </a:r>
          </a:p>
        </p:txBody>
      </p:sp>
      <p:sp>
        <p:nvSpPr>
          <p:cNvPr id="1033" name="TextBox 1032"/>
          <p:cNvSpPr txBox="1"/>
          <p:nvPr/>
        </p:nvSpPr>
        <p:spPr>
          <a:xfrm>
            <a:off x="67589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1030x</a:t>
            </a:r>
          </a:p>
        </p:txBody>
      </p:sp>
      <p:sp>
        <p:nvSpPr>
          <p:cNvPr id="1034" name="TextBox 1033"/>
          <p:cNvSpPr txBox="1"/>
          <p:nvPr/>
        </p:nvSpPr>
        <p:spPr>
          <a:xfrm>
            <a:off x="67642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1031x</a:t>
            </a:r>
          </a:p>
        </p:txBody>
      </p:sp>
      <p:sp>
        <p:nvSpPr>
          <p:cNvPr id="1035" name="TextBox 1034"/>
          <p:cNvSpPr txBox="1"/>
          <p:nvPr/>
        </p:nvSpPr>
        <p:spPr>
          <a:xfrm>
            <a:off x="67696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1032x</a:t>
            </a:r>
          </a:p>
        </p:txBody>
      </p:sp>
      <p:sp>
        <p:nvSpPr>
          <p:cNvPr id="1036" name="TextBox 1035"/>
          <p:cNvSpPr txBox="1"/>
          <p:nvPr/>
        </p:nvSpPr>
        <p:spPr>
          <a:xfrm>
            <a:off x="67749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1033x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67802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1034x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67856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1035x</a:t>
            </a:r>
          </a:p>
        </p:txBody>
      </p:sp>
      <p:sp>
        <p:nvSpPr>
          <p:cNvPr id="1039" name="TextBox 1038"/>
          <p:cNvSpPr txBox="1"/>
          <p:nvPr/>
        </p:nvSpPr>
        <p:spPr>
          <a:xfrm>
            <a:off x="67909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1036x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67963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1037x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68016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1038x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68069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1039x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68123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1040x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68176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1041x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68229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1042x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68283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1043x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8336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1044x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68390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1045x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68443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1046x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68496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1047x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68550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1048x</a:t>
            </a:r>
          </a:p>
        </p:txBody>
      </p:sp>
      <p:sp>
        <p:nvSpPr>
          <p:cNvPr id="1052" name="TextBox 1051"/>
          <p:cNvSpPr txBox="1"/>
          <p:nvPr/>
        </p:nvSpPr>
        <p:spPr>
          <a:xfrm>
            <a:off x="68603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1049x</a:t>
            </a:r>
          </a:p>
        </p:txBody>
      </p:sp>
      <p:sp>
        <p:nvSpPr>
          <p:cNvPr id="1053" name="TextBox 1052"/>
          <p:cNvSpPr txBox="1"/>
          <p:nvPr/>
        </p:nvSpPr>
        <p:spPr>
          <a:xfrm>
            <a:off x="68656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1050x</a:t>
            </a:r>
          </a:p>
        </p:txBody>
      </p:sp>
      <p:sp>
        <p:nvSpPr>
          <p:cNvPr id="1054" name="TextBox 1053"/>
          <p:cNvSpPr txBox="1"/>
          <p:nvPr/>
        </p:nvSpPr>
        <p:spPr>
          <a:xfrm>
            <a:off x="68710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1051x</a:t>
            </a:r>
          </a:p>
        </p:txBody>
      </p:sp>
      <p:sp>
        <p:nvSpPr>
          <p:cNvPr id="1055" name="TextBox 1054"/>
          <p:cNvSpPr txBox="1"/>
          <p:nvPr/>
        </p:nvSpPr>
        <p:spPr>
          <a:xfrm>
            <a:off x="68763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1052x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68816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1053x</a:t>
            </a:r>
          </a:p>
        </p:txBody>
      </p:sp>
      <p:sp>
        <p:nvSpPr>
          <p:cNvPr id="1057" name="TextBox 1056"/>
          <p:cNvSpPr txBox="1"/>
          <p:nvPr/>
        </p:nvSpPr>
        <p:spPr>
          <a:xfrm>
            <a:off x="68870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1054x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68923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1055x</a:t>
            </a:r>
          </a:p>
        </p:txBody>
      </p:sp>
      <p:sp>
        <p:nvSpPr>
          <p:cNvPr id="1059" name="TextBox 1058"/>
          <p:cNvSpPr txBox="1"/>
          <p:nvPr/>
        </p:nvSpPr>
        <p:spPr>
          <a:xfrm>
            <a:off x="68977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1056x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69030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1057x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69083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1058x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69137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1059x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69190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1060x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69243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1061x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69297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1062x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69350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1063x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69404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1064x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69457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1065x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69510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1066x</a:t>
            </a:r>
          </a:p>
        </p:txBody>
      </p:sp>
      <p:sp>
        <p:nvSpPr>
          <p:cNvPr id="1070" name="TextBox 1069"/>
          <p:cNvSpPr txBox="1"/>
          <p:nvPr/>
        </p:nvSpPr>
        <p:spPr>
          <a:xfrm>
            <a:off x="69564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1067x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69617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1068x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69670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1069x</a:t>
            </a:r>
          </a:p>
        </p:txBody>
      </p:sp>
      <p:sp>
        <p:nvSpPr>
          <p:cNvPr id="1073" name="TextBox 1072"/>
          <p:cNvSpPr txBox="1"/>
          <p:nvPr/>
        </p:nvSpPr>
        <p:spPr>
          <a:xfrm>
            <a:off x="69724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1070x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69777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1071x</a:t>
            </a:r>
          </a:p>
        </p:txBody>
      </p:sp>
      <p:sp>
        <p:nvSpPr>
          <p:cNvPr id="1075" name="TextBox 1074"/>
          <p:cNvSpPr txBox="1"/>
          <p:nvPr/>
        </p:nvSpPr>
        <p:spPr>
          <a:xfrm>
            <a:off x="69830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1072x</a:t>
            </a:r>
          </a:p>
        </p:txBody>
      </p:sp>
      <p:sp>
        <p:nvSpPr>
          <p:cNvPr id="1076" name="TextBox 1075"/>
          <p:cNvSpPr txBox="1"/>
          <p:nvPr/>
        </p:nvSpPr>
        <p:spPr>
          <a:xfrm>
            <a:off x="69884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1073x</a:t>
            </a:r>
          </a:p>
        </p:txBody>
      </p:sp>
      <p:sp>
        <p:nvSpPr>
          <p:cNvPr id="1077" name="TextBox 1076"/>
          <p:cNvSpPr txBox="1"/>
          <p:nvPr/>
        </p:nvSpPr>
        <p:spPr>
          <a:xfrm>
            <a:off x="69937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1074x</a:t>
            </a:r>
          </a:p>
        </p:txBody>
      </p:sp>
      <p:sp>
        <p:nvSpPr>
          <p:cNvPr id="1078" name="TextBox 1077"/>
          <p:cNvSpPr txBox="1"/>
          <p:nvPr/>
        </p:nvSpPr>
        <p:spPr>
          <a:xfrm>
            <a:off x="69991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1075x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70044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1076x</a:t>
            </a:r>
          </a:p>
        </p:txBody>
      </p:sp>
      <p:sp>
        <p:nvSpPr>
          <p:cNvPr id="1080" name="TextBox 1079"/>
          <p:cNvSpPr txBox="1"/>
          <p:nvPr/>
        </p:nvSpPr>
        <p:spPr>
          <a:xfrm>
            <a:off x="70097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1077x</a:t>
            </a:r>
          </a:p>
        </p:txBody>
      </p:sp>
      <p:sp>
        <p:nvSpPr>
          <p:cNvPr id="1081" name="TextBox 1080"/>
          <p:cNvSpPr txBox="1"/>
          <p:nvPr/>
        </p:nvSpPr>
        <p:spPr>
          <a:xfrm>
            <a:off x="70151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1078x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70204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1079x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70257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1080x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70311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1081x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70364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1082x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70418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1083x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70471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1084x</a:t>
            </a:r>
          </a:p>
        </p:txBody>
      </p:sp>
      <p:sp>
        <p:nvSpPr>
          <p:cNvPr id="1088" name="TextBox 1087"/>
          <p:cNvSpPr txBox="1"/>
          <p:nvPr/>
        </p:nvSpPr>
        <p:spPr>
          <a:xfrm>
            <a:off x="70524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1085x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70578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1086x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70631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1087x</a:t>
            </a:r>
          </a:p>
        </p:txBody>
      </p:sp>
      <p:sp>
        <p:nvSpPr>
          <p:cNvPr id="1091" name="TextBox 1090"/>
          <p:cNvSpPr txBox="1"/>
          <p:nvPr/>
        </p:nvSpPr>
        <p:spPr>
          <a:xfrm>
            <a:off x="70684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1088x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70738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1089x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70791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1090x</a:t>
            </a:r>
          </a:p>
        </p:txBody>
      </p:sp>
      <p:sp>
        <p:nvSpPr>
          <p:cNvPr id="1094" name="TextBox 1093"/>
          <p:cNvSpPr txBox="1"/>
          <p:nvPr/>
        </p:nvSpPr>
        <p:spPr>
          <a:xfrm>
            <a:off x="70845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1091x</a:t>
            </a:r>
          </a:p>
        </p:txBody>
      </p:sp>
      <p:sp>
        <p:nvSpPr>
          <p:cNvPr id="1095" name="TextBox 1094"/>
          <p:cNvSpPr txBox="1"/>
          <p:nvPr/>
        </p:nvSpPr>
        <p:spPr>
          <a:xfrm>
            <a:off x="708983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1092x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709517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1093x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710051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1094x</a:t>
            </a:r>
          </a:p>
        </p:txBody>
      </p:sp>
      <p:sp>
        <p:nvSpPr>
          <p:cNvPr id="1098" name="TextBox 1097"/>
          <p:cNvSpPr txBox="1"/>
          <p:nvPr/>
        </p:nvSpPr>
        <p:spPr>
          <a:xfrm>
            <a:off x="710584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1095x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711118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1096x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71165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1097x</a:t>
            </a:r>
          </a:p>
        </p:txBody>
      </p:sp>
      <p:sp>
        <p:nvSpPr>
          <p:cNvPr id="1101" name="TextBox 1100"/>
          <p:cNvSpPr txBox="1"/>
          <p:nvPr/>
        </p:nvSpPr>
        <p:spPr>
          <a:xfrm>
            <a:off x="71218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1098x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71271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1099x</a:t>
            </a:r>
          </a:p>
        </p:txBody>
      </p:sp>
      <p:sp>
        <p:nvSpPr>
          <p:cNvPr id="1103" name="TextBox 1102"/>
          <p:cNvSpPr txBox="1"/>
          <p:nvPr/>
        </p:nvSpPr>
        <p:spPr>
          <a:xfrm>
            <a:off x="71325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1100x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71378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1101x</a:t>
            </a:r>
          </a:p>
        </p:txBody>
      </p:sp>
      <p:sp>
        <p:nvSpPr>
          <p:cNvPr id="1105" name="TextBox 1104"/>
          <p:cNvSpPr txBox="1"/>
          <p:nvPr/>
        </p:nvSpPr>
        <p:spPr>
          <a:xfrm>
            <a:off x="71432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1102x</a:t>
            </a:r>
          </a:p>
        </p:txBody>
      </p:sp>
      <p:sp>
        <p:nvSpPr>
          <p:cNvPr id="1106" name="TextBox 1105"/>
          <p:cNvSpPr txBox="1"/>
          <p:nvPr/>
        </p:nvSpPr>
        <p:spPr>
          <a:xfrm>
            <a:off x="71485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1103x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71538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1104x</a:t>
            </a:r>
          </a:p>
        </p:txBody>
      </p:sp>
      <p:sp>
        <p:nvSpPr>
          <p:cNvPr id="1108" name="TextBox 1107"/>
          <p:cNvSpPr txBox="1"/>
          <p:nvPr/>
        </p:nvSpPr>
        <p:spPr>
          <a:xfrm>
            <a:off x="71592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1105x</a:t>
            </a:r>
          </a:p>
        </p:txBody>
      </p:sp>
      <p:sp>
        <p:nvSpPr>
          <p:cNvPr id="1109" name="TextBox 1108"/>
          <p:cNvSpPr txBox="1"/>
          <p:nvPr/>
        </p:nvSpPr>
        <p:spPr>
          <a:xfrm>
            <a:off x="71645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1106x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71698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1107x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71752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1108x</a:t>
            </a:r>
          </a:p>
        </p:txBody>
      </p:sp>
      <p:sp>
        <p:nvSpPr>
          <p:cNvPr id="1112" name="TextBox 1111"/>
          <p:cNvSpPr txBox="1"/>
          <p:nvPr/>
        </p:nvSpPr>
        <p:spPr>
          <a:xfrm>
            <a:off x="71805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1109x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71859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1110x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71912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1111x</a:t>
            </a:r>
          </a:p>
        </p:txBody>
      </p:sp>
      <p:sp>
        <p:nvSpPr>
          <p:cNvPr id="1115" name="TextBox 1114"/>
          <p:cNvSpPr txBox="1"/>
          <p:nvPr/>
        </p:nvSpPr>
        <p:spPr>
          <a:xfrm>
            <a:off x="71965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1112x</a:t>
            </a:r>
          </a:p>
        </p:txBody>
      </p:sp>
      <p:sp>
        <p:nvSpPr>
          <p:cNvPr id="1116" name="TextBox 1115"/>
          <p:cNvSpPr txBox="1"/>
          <p:nvPr/>
        </p:nvSpPr>
        <p:spPr>
          <a:xfrm>
            <a:off x="72019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1113x</a:t>
            </a:r>
          </a:p>
        </p:txBody>
      </p:sp>
      <p:sp>
        <p:nvSpPr>
          <p:cNvPr id="1117" name="TextBox 1116"/>
          <p:cNvSpPr txBox="1"/>
          <p:nvPr/>
        </p:nvSpPr>
        <p:spPr>
          <a:xfrm>
            <a:off x="72072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1114x</a:t>
            </a:r>
          </a:p>
        </p:txBody>
      </p:sp>
      <p:sp>
        <p:nvSpPr>
          <p:cNvPr id="1118" name="TextBox 1117"/>
          <p:cNvSpPr txBox="1"/>
          <p:nvPr/>
        </p:nvSpPr>
        <p:spPr>
          <a:xfrm>
            <a:off x="72125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1115x</a:t>
            </a:r>
          </a:p>
        </p:txBody>
      </p:sp>
      <p:sp>
        <p:nvSpPr>
          <p:cNvPr id="1119" name="TextBox 1118"/>
          <p:cNvSpPr txBox="1"/>
          <p:nvPr/>
        </p:nvSpPr>
        <p:spPr>
          <a:xfrm>
            <a:off x="72179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1116x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72232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1117x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72285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1118x</a:t>
            </a:r>
          </a:p>
        </p:txBody>
      </p:sp>
      <p:sp>
        <p:nvSpPr>
          <p:cNvPr id="1122" name="TextBox 1121"/>
          <p:cNvSpPr txBox="1"/>
          <p:nvPr/>
        </p:nvSpPr>
        <p:spPr>
          <a:xfrm>
            <a:off x="72339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1119x</a:t>
            </a:r>
          </a:p>
        </p:txBody>
      </p:sp>
      <p:sp>
        <p:nvSpPr>
          <p:cNvPr id="1123" name="TextBox 1122"/>
          <p:cNvSpPr txBox="1"/>
          <p:nvPr/>
        </p:nvSpPr>
        <p:spPr>
          <a:xfrm>
            <a:off x="723927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1120x</a:t>
            </a:r>
          </a:p>
        </p:txBody>
      </p:sp>
      <p:sp>
        <p:nvSpPr>
          <p:cNvPr id="1124" name="TextBox 1123"/>
          <p:cNvSpPr txBox="1"/>
          <p:nvPr/>
        </p:nvSpPr>
        <p:spPr>
          <a:xfrm>
            <a:off x="724460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1121x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724994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1122x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725528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1123x</a:t>
            </a:r>
          </a:p>
        </p:txBody>
      </p:sp>
      <p:sp>
        <p:nvSpPr>
          <p:cNvPr id="1127" name="TextBox 1126"/>
          <p:cNvSpPr txBox="1"/>
          <p:nvPr/>
        </p:nvSpPr>
        <p:spPr>
          <a:xfrm>
            <a:off x="726062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1124x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72659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1125x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72712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1126x</a:t>
            </a:r>
          </a:p>
        </p:txBody>
      </p:sp>
      <p:sp>
        <p:nvSpPr>
          <p:cNvPr id="1130" name="TextBox 1129"/>
          <p:cNvSpPr txBox="1"/>
          <p:nvPr/>
        </p:nvSpPr>
        <p:spPr>
          <a:xfrm>
            <a:off x="72766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1127x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72819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1128x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72873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1129x</a:t>
            </a:r>
          </a:p>
        </p:txBody>
      </p:sp>
      <p:sp>
        <p:nvSpPr>
          <p:cNvPr id="1133" name="TextBox 1132"/>
          <p:cNvSpPr txBox="1"/>
          <p:nvPr/>
        </p:nvSpPr>
        <p:spPr>
          <a:xfrm>
            <a:off x="72926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1130x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72979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1131x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73033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1132x</a:t>
            </a:r>
          </a:p>
        </p:txBody>
      </p:sp>
      <p:sp>
        <p:nvSpPr>
          <p:cNvPr id="1136" name="TextBox 1135"/>
          <p:cNvSpPr txBox="1"/>
          <p:nvPr/>
        </p:nvSpPr>
        <p:spPr>
          <a:xfrm>
            <a:off x="73086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1133x</a:t>
            </a:r>
          </a:p>
        </p:txBody>
      </p:sp>
      <p:sp>
        <p:nvSpPr>
          <p:cNvPr id="1137" name="TextBox 1136"/>
          <p:cNvSpPr txBox="1"/>
          <p:nvPr/>
        </p:nvSpPr>
        <p:spPr>
          <a:xfrm>
            <a:off x="73139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1134x</a:t>
            </a:r>
          </a:p>
        </p:txBody>
      </p:sp>
      <p:sp>
        <p:nvSpPr>
          <p:cNvPr id="1138" name="TextBox 1137"/>
          <p:cNvSpPr txBox="1"/>
          <p:nvPr/>
        </p:nvSpPr>
        <p:spPr>
          <a:xfrm>
            <a:off x="73193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1135x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73246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1136x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73300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1137x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73353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1138x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73406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1139x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73460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1140x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73513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1141x</a:t>
            </a:r>
          </a:p>
        </p:txBody>
      </p:sp>
      <p:sp>
        <p:nvSpPr>
          <p:cNvPr id="1145" name="TextBox 1144"/>
          <p:cNvSpPr txBox="1"/>
          <p:nvPr/>
        </p:nvSpPr>
        <p:spPr>
          <a:xfrm>
            <a:off x="73566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1142x</a:t>
            </a:r>
          </a:p>
        </p:txBody>
      </p:sp>
      <p:sp>
        <p:nvSpPr>
          <p:cNvPr id="1146" name="TextBox 1145"/>
          <p:cNvSpPr txBox="1"/>
          <p:nvPr/>
        </p:nvSpPr>
        <p:spPr>
          <a:xfrm>
            <a:off x="736202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1143x</a:t>
            </a:r>
          </a:p>
        </p:txBody>
      </p:sp>
      <p:sp>
        <p:nvSpPr>
          <p:cNvPr id="1147" name="TextBox 1146"/>
          <p:cNvSpPr txBox="1"/>
          <p:nvPr/>
        </p:nvSpPr>
        <p:spPr>
          <a:xfrm>
            <a:off x="736735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1144x</a:t>
            </a:r>
          </a:p>
        </p:txBody>
      </p:sp>
      <p:sp>
        <p:nvSpPr>
          <p:cNvPr id="1148" name="TextBox 1147"/>
          <p:cNvSpPr txBox="1"/>
          <p:nvPr/>
        </p:nvSpPr>
        <p:spPr>
          <a:xfrm>
            <a:off x="737269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1145x</a:t>
            </a:r>
          </a:p>
        </p:txBody>
      </p:sp>
      <p:sp>
        <p:nvSpPr>
          <p:cNvPr id="1149" name="TextBox 1148"/>
          <p:cNvSpPr txBox="1"/>
          <p:nvPr/>
        </p:nvSpPr>
        <p:spPr>
          <a:xfrm>
            <a:off x="737803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1146x</a:t>
            </a:r>
          </a:p>
        </p:txBody>
      </p:sp>
      <p:sp>
        <p:nvSpPr>
          <p:cNvPr id="1150" name="TextBox 1149"/>
          <p:cNvSpPr txBox="1"/>
          <p:nvPr/>
        </p:nvSpPr>
        <p:spPr>
          <a:xfrm>
            <a:off x="738337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1147x</a:t>
            </a:r>
          </a:p>
        </p:txBody>
      </p:sp>
      <p:sp>
        <p:nvSpPr>
          <p:cNvPr id="1151" name="TextBox 1150"/>
          <p:cNvSpPr txBox="1"/>
          <p:nvPr/>
        </p:nvSpPr>
        <p:spPr>
          <a:xfrm>
            <a:off x="738870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1148x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739404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1149x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739938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1150x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740471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1151x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741005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1152x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741539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1153x</a:t>
            </a:r>
          </a:p>
        </p:txBody>
      </p:sp>
      <p:sp>
        <p:nvSpPr>
          <p:cNvPr id="1157" name="TextBox 1156"/>
          <p:cNvSpPr txBox="1"/>
          <p:nvPr/>
        </p:nvSpPr>
        <p:spPr>
          <a:xfrm>
            <a:off x="74207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1154x</a:t>
            </a:r>
          </a:p>
        </p:txBody>
      </p:sp>
      <p:sp>
        <p:nvSpPr>
          <p:cNvPr id="1158" name="TextBox 1157"/>
          <p:cNvSpPr txBox="1"/>
          <p:nvPr/>
        </p:nvSpPr>
        <p:spPr>
          <a:xfrm>
            <a:off x="74260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1155x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74314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1156x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74367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1157x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74420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1158x</a:t>
            </a:r>
          </a:p>
        </p:txBody>
      </p:sp>
      <p:sp>
        <p:nvSpPr>
          <p:cNvPr id="1162" name="TextBox 1161"/>
          <p:cNvSpPr txBox="1"/>
          <p:nvPr/>
        </p:nvSpPr>
        <p:spPr>
          <a:xfrm>
            <a:off x="74474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1159x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74527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1160x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74580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1161x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74634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1162x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74687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1163x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74740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1164x</a:t>
            </a:r>
          </a:p>
        </p:txBody>
      </p:sp>
      <p:sp>
        <p:nvSpPr>
          <p:cNvPr id="1168" name="TextBox 1167"/>
          <p:cNvSpPr txBox="1"/>
          <p:nvPr/>
        </p:nvSpPr>
        <p:spPr>
          <a:xfrm>
            <a:off x="74794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1165x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74847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1166x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74901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1167x</a:t>
            </a:r>
          </a:p>
        </p:txBody>
      </p:sp>
      <p:sp>
        <p:nvSpPr>
          <p:cNvPr id="1171" name="TextBox 1170"/>
          <p:cNvSpPr txBox="1"/>
          <p:nvPr/>
        </p:nvSpPr>
        <p:spPr>
          <a:xfrm>
            <a:off x="74954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1168x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75007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1169x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75061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1170x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751145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1171x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751679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1172x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752213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1173x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752746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1174x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753280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1175x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753814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1176x</a:t>
            </a:r>
          </a:p>
        </p:txBody>
      </p:sp>
      <p:sp>
        <p:nvSpPr>
          <p:cNvPr id="1180" name="TextBox 1179"/>
          <p:cNvSpPr txBox="1"/>
          <p:nvPr/>
        </p:nvSpPr>
        <p:spPr>
          <a:xfrm>
            <a:off x="754347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1177x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754881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1178x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755415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1179x</a:t>
            </a:r>
          </a:p>
        </p:txBody>
      </p:sp>
      <p:sp>
        <p:nvSpPr>
          <p:cNvPr id="1183" name="TextBox 1182"/>
          <p:cNvSpPr txBox="1"/>
          <p:nvPr/>
        </p:nvSpPr>
        <p:spPr>
          <a:xfrm>
            <a:off x="755949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1180x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756482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1181x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75701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1182x</a:t>
            </a:r>
          </a:p>
        </p:txBody>
      </p:sp>
      <p:sp>
        <p:nvSpPr>
          <p:cNvPr id="1186" name="TextBox 1185"/>
          <p:cNvSpPr txBox="1"/>
          <p:nvPr/>
        </p:nvSpPr>
        <p:spPr>
          <a:xfrm>
            <a:off x="75755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1183x</a:t>
            </a:r>
          </a:p>
        </p:txBody>
      </p:sp>
      <p:sp>
        <p:nvSpPr>
          <p:cNvPr id="1187" name="TextBox 1186"/>
          <p:cNvSpPr txBox="1"/>
          <p:nvPr/>
        </p:nvSpPr>
        <p:spPr>
          <a:xfrm>
            <a:off x="75808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1184x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75861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1185x</a:t>
            </a:r>
          </a:p>
        </p:txBody>
      </p:sp>
      <p:sp>
        <p:nvSpPr>
          <p:cNvPr id="1189" name="TextBox 1188"/>
          <p:cNvSpPr txBox="1"/>
          <p:nvPr/>
        </p:nvSpPr>
        <p:spPr>
          <a:xfrm>
            <a:off x="75915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1186x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75968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1187x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76021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1188x</a:t>
            </a:r>
          </a:p>
        </p:txBody>
      </p:sp>
      <p:sp>
        <p:nvSpPr>
          <p:cNvPr id="1192" name="TextBox 1191"/>
          <p:cNvSpPr txBox="1"/>
          <p:nvPr/>
        </p:nvSpPr>
        <p:spPr>
          <a:xfrm>
            <a:off x="76075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1189x</a:t>
            </a:r>
          </a:p>
        </p:txBody>
      </p:sp>
      <p:sp>
        <p:nvSpPr>
          <p:cNvPr id="1193" name="TextBox 1192"/>
          <p:cNvSpPr txBox="1"/>
          <p:nvPr/>
        </p:nvSpPr>
        <p:spPr>
          <a:xfrm>
            <a:off x="76128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1190x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76181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1191x</a:t>
            </a:r>
          </a:p>
        </p:txBody>
      </p:sp>
      <p:sp>
        <p:nvSpPr>
          <p:cNvPr id="1195" name="TextBox 1194"/>
          <p:cNvSpPr txBox="1"/>
          <p:nvPr/>
        </p:nvSpPr>
        <p:spPr>
          <a:xfrm>
            <a:off x="76235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1192x</a:t>
            </a:r>
          </a:p>
        </p:txBody>
      </p:sp>
      <p:sp>
        <p:nvSpPr>
          <p:cNvPr id="1196" name="TextBox 1195"/>
          <p:cNvSpPr txBox="1"/>
          <p:nvPr/>
        </p:nvSpPr>
        <p:spPr>
          <a:xfrm>
            <a:off x="76288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1193x</a:t>
            </a:r>
          </a:p>
        </p:txBody>
      </p:sp>
      <p:sp>
        <p:nvSpPr>
          <p:cNvPr id="1197" name="TextBox 1196"/>
          <p:cNvSpPr txBox="1"/>
          <p:nvPr/>
        </p:nvSpPr>
        <p:spPr>
          <a:xfrm>
            <a:off x="76342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1194x</a:t>
            </a:r>
          </a:p>
        </p:txBody>
      </p:sp>
      <p:sp>
        <p:nvSpPr>
          <p:cNvPr id="1198" name="TextBox 1197"/>
          <p:cNvSpPr txBox="1"/>
          <p:nvPr/>
        </p:nvSpPr>
        <p:spPr>
          <a:xfrm>
            <a:off x="76395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1195x</a:t>
            </a:r>
          </a:p>
        </p:txBody>
      </p:sp>
      <p:sp>
        <p:nvSpPr>
          <p:cNvPr id="1199" name="TextBox 1198"/>
          <p:cNvSpPr txBox="1"/>
          <p:nvPr/>
        </p:nvSpPr>
        <p:spPr>
          <a:xfrm>
            <a:off x="76448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1196x</a:t>
            </a:r>
          </a:p>
        </p:txBody>
      </p:sp>
      <p:sp>
        <p:nvSpPr>
          <p:cNvPr id="1200" name="TextBox 1199"/>
          <p:cNvSpPr txBox="1"/>
          <p:nvPr/>
        </p:nvSpPr>
        <p:spPr>
          <a:xfrm>
            <a:off x="76502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1197x</a:t>
            </a:r>
          </a:p>
        </p:txBody>
      </p:sp>
      <p:sp>
        <p:nvSpPr>
          <p:cNvPr id="1201" name="TextBox 1200"/>
          <p:cNvSpPr txBox="1"/>
          <p:nvPr/>
        </p:nvSpPr>
        <p:spPr>
          <a:xfrm>
            <a:off x="76555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1198x</a:t>
            </a:r>
          </a:p>
        </p:txBody>
      </p:sp>
      <p:sp>
        <p:nvSpPr>
          <p:cNvPr id="1202" name="TextBox 1201"/>
          <p:cNvSpPr txBox="1"/>
          <p:nvPr/>
        </p:nvSpPr>
        <p:spPr>
          <a:xfrm>
            <a:off x="76608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1199x</a:t>
            </a:r>
          </a:p>
        </p:txBody>
      </p:sp>
      <p:sp>
        <p:nvSpPr>
          <p:cNvPr id="1203" name="TextBox 1202"/>
          <p:cNvSpPr txBox="1"/>
          <p:nvPr/>
        </p:nvSpPr>
        <p:spPr>
          <a:xfrm>
            <a:off x="766622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1200x</a:t>
            </a:r>
          </a:p>
        </p:txBody>
      </p:sp>
      <p:sp>
        <p:nvSpPr>
          <p:cNvPr id="1204" name="TextBox 1203"/>
          <p:cNvSpPr txBox="1"/>
          <p:nvPr/>
        </p:nvSpPr>
        <p:spPr>
          <a:xfrm>
            <a:off x="767156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1201x</a:t>
            </a:r>
          </a:p>
        </p:txBody>
      </p:sp>
      <p:sp>
        <p:nvSpPr>
          <p:cNvPr id="1205" name="TextBox 1204"/>
          <p:cNvSpPr txBox="1"/>
          <p:nvPr/>
        </p:nvSpPr>
        <p:spPr>
          <a:xfrm>
            <a:off x="767690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1202x</a:t>
            </a:r>
          </a:p>
        </p:txBody>
      </p:sp>
      <p:sp>
        <p:nvSpPr>
          <p:cNvPr id="1206" name="TextBox 1205"/>
          <p:cNvSpPr txBox="1"/>
          <p:nvPr/>
        </p:nvSpPr>
        <p:spPr>
          <a:xfrm>
            <a:off x="768224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1203x</a:t>
            </a:r>
          </a:p>
        </p:txBody>
      </p:sp>
      <p:sp>
        <p:nvSpPr>
          <p:cNvPr id="1207" name="TextBox 1206"/>
          <p:cNvSpPr txBox="1"/>
          <p:nvPr/>
        </p:nvSpPr>
        <p:spPr>
          <a:xfrm>
            <a:off x="768757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1204x</a:t>
            </a:r>
          </a:p>
        </p:txBody>
      </p:sp>
      <p:sp>
        <p:nvSpPr>
          <p:cNvPr id="1208" name="TextBox 1207"/>
          <p:cNvSpPr txBox="1"/>
          <p:nvPr/>
        </p:nvSpPr>
        <p:spPr>
          <a:xfrm>
            <a:off x="769291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1205x</a:t>
            </a:r>
          </a:p>
        </p:txBody>
      </p:sp>
      <p:sp>
        <p:nvSpPr>
          <p:cNvPr id="1209" name="TextBox 1208"/>
          <p:cNvSpPr txBox="1"/>
          <p:nvPr/>
        </p:nvSpPr>
        <p:spPr>
          <a:xfrm>
            <a:off x="769825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1206x</a:t>
            </a:r>
          </a:p>
        </p:txBody>
      </p:sp>
      <p:sp>
        <p:nvSpPr>
          <p:cNvPr id="1210" name="TextBox 1209"/>
          <p:cNvSpPr txBox="1"/>
          <p:nvPr/>
        </p:nvSpPr>
        <p:spPr>
          <a:xfrm>
            <a:off x="770358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1207x</a:t>
            </a:r>
          </a:p>
        </p:txBody>
      </p:sp>
      <p:sp>
        <p:nvSpPr>
          <p:cNvPr id="1211" name="TextBox 1210"/>
          <p:cNvSpPr txBox="1"/>
          <p:nvPr/>
        </p:nvSpPr>
        <p:spPr>
          <a:xfrm>
            <a:off x="770892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1208x</a:t>
            </a:r>
          </a:p>
        </p:txBody>
      </p:sp>
      <p:sp>
        <p:nvSpPr>
          <p:cNvPr id="1212" name="TextBox 1211"/>
          <p:cNvSpPr txBox="1"/>
          <p:nvPr/>
        </p:nvSpPr>
        <p:spPr>
          <a:xfrm>
            <a:off x="771426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1209x</a:t>
            </a:r>
          </a:p>
        </p:txBody>
      </p:sp>
      <p:sp>
        <p:nvSpPr>
          <p:cNvPr id="1213" name="TextBox 1212"/>
          <p:cNvSpPr txBox="1"/>
          <p:nvPr/>
        </p:nvSpPr>
        <p:spPr>
          <a:xfrm>
            <a:off x="771959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1210x</a:t>
            </a:r>
          </a:p>
        </p:txBody>
      </p:sp>
      <p:sp>
        <p:nvSpPr>
          <p:cNvPr id="1214" name="TextBox 1213"/>
          <p:cNvSpPr txBox="1"/>
          <p:nvPr/>
        </p:nvSpPr>
        <p:spPr>
          <a:xfrm>
            <a:off x="77249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1211x</a:t>
            </a:r>
          </a:p>
        </p:txBody>
      </p:sp>
      <p:sp>
        <p:nvSpPr>
          <p:cNvPr id="1215" name="TextBox 1214"/>
          <p:cNvSpPr txBox="1"/>
          <p:nvPr/>
        </p:nvSpPr>
        <p:spPr>
          <a:xfrm>
            <a:off x="77302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1212x</a:t>
            </a:r>
          </a:p>
        </p:txBody>
      </p:sp>
      <p:sp>
        <p:nvSpPr>
          <p:cNvPr id="1216" name="TextBox 1215"/>
          <p:cNvSpPr txBox="1"/>
          <p:nvPr/>
        </p:nvSpPr>
        <p:spPr>
          <a:xfrm>
            <a:off x="77356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1213x</a:t>
            </a:r>
          </a:p>
        </p:txBody>
      </p:sp>
      <p:sp>
        <p:nvSpPr>
          <p:cNvPr id="1217" name="TextBox 1216"/>
          <p:cNvSpPr txBox="1"/>
          <p:nvPr/>
        </p:nvSpPr>
        <p:spPr>
          <a:xfrm>
            <a:off x="77409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1214x</a:t>
            </a:r>
          </a:p>
        </p:txBody>
      </p:sp>
      <p:sp>
        <p:nvSpPr>
          <p:cNvPr id="1218" name="TextBox 1217"/>
          <p:cNvSpPr txBox="1"/>
          <p:nvPr/>
        </p:nvSpPr>
        <p:spPr>
          <a:xfrm>
            <a:off x="77462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1215x</a:t>
            </a:r>
          </a:p>
        </p:txBody>
      </p:sp>
      <p:sp>
        <p:nvSpPr>
          <p:cNvPr id="1219" name="TextBox 1218"/>
          <p:cNvSpPr txBox="1"/>
          <p:nvPr/>
        </p:nvSpPr>
        <p:spPr>
          <a:xfrm>
            <a:off x="77516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1216x</a:t>
            </a:r>
          </a:p>
        </p:txBody>
      </p:sp>
      <p:sp>
        <p:nvSpPr>
          <p:cNvPr id="1220" name="TextBox 1219"/>
          <p:cNvSpPr txBox="1"/>
          <p:nvPr/>
        </p:nvSpPr>
        <p:spPr>
          <a:xfrm>
            <a:off x="77569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1217x</a:t>
            </a:r>
          </a:p>
        </p:txBody>
      </p:sp>
      <p:sp>
        <p:nvSpPr>
          <p:cNvPr id="1221" name="TextBox 1220"/>
          <p:cNvSpPr txBox="1"/>
          <p:nvPr/>
        </p:nvSpPr>
        <p:spPr>
          <a:xfrm>
            <a:off x="77622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1218x</a:t>
            </a:r>
          </a:p>
        </p:txBody>
      </p:sp>
      <p:sp>
        <p:nvSpPr>
          <p:cNvPr id="1222" name="TextBox 1221"/>
          <p:cNvSpPr txBox="1"/>
          <p:nvPr/>
        </p:nvSpPr>
        <p:spPr>
          <a:xfrm>
            <a:off x="77676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1219x</a:t>
            </a:r>
          </a:p>
        </p:txBody>
      </p:sp>
      <p:sp>
        <p:nvSpPr>
          <p:cNvPr id="1223" name="TextBox 1222"/>
          <p:cNvSpPr txBox="1"/>
          <p:nvPr/>
        </p:nvSpPr>
        <p:spPr>
          <a:xfrm>
            <a:off x="77729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1220x</a:t>
            </a:r>
          </a:p>
        </p:txBody>
      </p:sp>
      <p:sp>
        <p:nvSpPr>
          <p:cNvPr id="1224" name="TextBox 1223"/>
          <p:cNvSpPr txBox="1"/>
          <p:nvPr/>
        </p:nvSpPr>
        <p:spPr>
          <a:xfrm>
            <a:off x="77783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1221x</a:t>
            </a:r>
          </a:p>
        </p:txBody>
      </p:sp>
      <p:sp>
        <p:nvSpPr>
          <p:cNvPr id="1225" name="TextBox 1224"/>
          <p:cNvSpPr txBox="1"/>
          <p:nvPr/>
        </p:nvSpPr>
        <p:spPr>
          <a:xfrm>
            <a:off x="77836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1222x</a:t>
            </a:r>
          </a:p>
        </p:txBody>
      </p:sp>
      <p:sp>
        <p:nvSpPr>
          <p:cNvPr id="1226" name="TextBox 1225"/>
          <p:cNvSpPr txBox="1"/>
          <p:nvPr/>
        </p:nvSpPr>
        <p:spPr>
          <a:xfrm>
            <a:off x="77889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1223x</a:t>
            </a:r>
          </a:p>
        </p:txBody>
      </p:sp>
      <p:sp>
        <p:nvSpPr>
          <p:cNvPr id="1227" name="TextBox 1226"/>
          <p:cNvSpPr txBox="1"/>
          <p:nvPr/>
        </p:nvSpPr>
        <p:spPr>
          <a:xfrm>
            <a:off x="77943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1224x</a:t>
            </a:r>
          </a:p>
        </p:txBody>
      </p:sp>
      <p:sp>
        <p:nvSpPr>
          <p:cNvPr id="1228" name="TextBox 1227"/>
          <p:cNvSpPr txBox="1"/>
          <p:nvPr/>
        </p:nvSpPr>
        <p:spPr>
          <a:xfrm>
            <a:off x="77996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1225x</a:t>
            </a:r>
          </a:p>
        </p:txBody>
      </p:sp>
      <p:sp>
        <p:nvSpPr>
          <p:cNvPr id="1229" name="TextBox 1228"/>
          <p:cNvSpPr txBox="1"/>
          <p:nvPr/>
        </p:nvSpPr>
        <p:spPr>
          <a:xfrm>
            <a:off x="78049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1226x</a:t>
            </a:r>
          </a:p>
        </p:txBody>
      </p:sp>
      <p:sp>
        <p:nvSpPr>
          <p:cNvPr id="1230" name="TextBox 1229"/>
          <p:cNvSpPr txBox="1"/>
          <p:nvPr/>
        </p:nvSpPr>
        <p:spPr>
          <a:xfrm>
            <a:off x="78103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1227x</a:t>
            </a:r>
          </a:p>
        </p:txBody>
      </p:sp>
      <p:sp>
        <p:nvSpPr>
          <p:cNvPr id="1231" name="TextBox 1230"/>
          <p:cNvSpPr txBox="1"/>
          <p:nvPr/>
        </p:nvSpPr>
        <p:spPr>
          <a:xfrm>
            <a:off x="781566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1228x</a:t>
            </a:r>
          </a:p>
        </p:txBody>
      </p:sp>
      <p:sp>
        <p:nvSpPr>
          <p:cNvPr id="1232" name="TextBox 1231"/>
          <p:cNvSpPr txBox="1"/>
          <p:nvPr/>
        </p:nvSpPr>
        <p:spPr>
          <a:xfrm>
            <a:off x="782100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1229x</a:t>
            </a:r>
          </a:p>
        </p:txBody>
      </p:sp>
      <p:sp>
        <p:nvSpPr>
          <p:cNvPr id="1233" name="TextBox 1232"/>
          <p:cNvSpPr txBox="1"/>
          <p:nvPr/>
        </p:nvSpPr>
        <p:spPr>
          <a:xfrm>
            <a:off x="782633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1230x</a:t>
            </a:r>
          </a:p>
        </p:txBody>
      </p:sp>
      <p:sp>
        <p:nvSpPr>
          <p:cNvPr id="1234" name="TextBox 1233"/>
          <p:cNvSpPr txBox="1"/>
          <p:nvPr/>
        </p:nvSpPr>
        <p:spPr>
          <a:xfrm>
            <a:off x="783167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1231x</a:t>
            </a:r>
          </a:p>
        </p:txBody>
      </p:sp>
      <p:sp>
        <p:nvSpPr>
          <p:cNvPr id="1235" name="TextBox 1234"/>
          <p:cNvSpPr txBox="1"/>
          <p:nvPr/>
        </p:nvSpPr>
        <p:spPr>
          <a:xfrm>
            <a:off x="783701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1232x</a:t>
            </a:r>
          </a:p>
        </p:txBody>
      </p:sp>
      <p:sp>
        <p:nvSpPr>
          <p:cNvPr id="1236" name="TextBox 1235"/>
          <p:cNvSpPr txBox="1"/>
          <p:nvPr/>
        </p:nvSpPr>
        <p:spPr>
          <a:xfrm>
            <a:off x="784234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1233x</a:t>
            </a:r>
          </a:p>
        </p:txBody>
      </p:sp>
      <p:sp>
        <p:nvSpPr>
          <p:cNvPr id="1237" name="TextBox 1236"/>
          <p:cNvSpPr txBox="1"/>
          <p:nvPr/>
        </p:nvSpPr>
        <p:spPr>
          <a:xfrm>
            <a:off x="784768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1234x</a:t>
            </a:r>
          </a:p>
        </p:txBody>
      </p:sp>
      <p:sp>
        <p:nvSpPr>
          <p:cNvPr id="1238" name="TextBox 1237"/>
          <p:cNvSpPr txBox="1"/>
          <p:nvPr/>
        </p:nvSpPr>
        <p:spPr>
          <a:xfrm>
            <a:off x="785302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1235x</a:t>
            </a:r>
          </a:p>
        </p:txBody>
      </p:sp>
      <p:sp>
        <p:nvSpPr>
          <p:cNvPr id="1239" name="TextBox 1238"/>
          <p:cNvSpPr txBox="1"/>
          <p:nvPr/>
        </p:nvSpPr>
        <p:spPr>
          <a:xfrm>
            <a:off x="785836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1236x</a:t>
            </a:r>
          </a:p>
        </p:txBody>
      </p:sp>
      <p:sp>
        <p:nvSpPr>
          <p:cNvPr id="1240" name="TextBox 1239"/>
          <p:cNvSpPr txBox="1"/>
          <p:nvPr/>
        </p:nvSpPr>
        <p:spPr>
          <a:xfrm>
            <a:off x="786369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1237x</a:t>
            </a:r>
          </a:p>
        </p:txBody>
      </p:sp>
      <p:sp>
        <p:nvSpPr>
          <p:cNvPr id="1241" name="TextBox 1240"/>
          <p:cNvSpPr txBox="1"/>
          <p:nvPr/>
        </p:nvSpPr>
        <p:spPr>
          <a:xfrm>
            <a:off x="786903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1238x</a:t>
            </a:r>
          </a:p>
        </p:txBody>
      </p:sp>
      <p:sp>
        <p:nvSpPr>
          <p:cNvPr id="1242" name="TextBox 1241"/>
          <p:cNvSpPr txBox="1"/>
          <p:nvPr/>
        </p:nvSpPr>
        <p:spPr>
          <a:xfrm>
            <a:off x="787437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1239x</a:t>
            </a:r>
          </a:p>
        </p:txBody>
      </p:sp>
      <p:sp>
        <p:nvSpPr>
          <p:cNvPr id="1243" name="TextBox 1242"/>
          <p:cNvSpPr txBox="1"/>
          <p:nvPr/>
        </p:nvSpPr>
        <p:spPr>
          <a:xfrm>
            <a:off x="787970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1240x</a:t>
            </a:r>
          </a:p>
        </p:txBody>
      </p:sp>
      <p:sp>
        <p:nvSpPr>
          <p:cNvPr id="1244" name="TextBox 1243"/>
          <p:cNvSpPr txBox="1"/>
          <p:nvPr/>
        </p:nvSpPr>
        <p:spPr>
          <a:xfrm>
            <a:off x="788504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1241x</a:t>
            </a:r>
          </a:p>
        </p:txBody>
      </p:sp>
      <p:sp>
        <p:nvSpPr>
          <p:cNvPr id="1245" name="TextBox 1244"/>
          <p:cNvSpPr txBox="1"/>
          <p:nvPr/>
        </p:nvSpPr>
        <p:spPr>
          <a:xfrm>
            <a:off x="789038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1242x</a:t>
            </a:r>
          </a:p>
        </p:txBody>
      </p:sp>
      <p:sp>
        <p:nvSpPr>
          <p:cNvPr id="1246" name="TextBox 1245"/>
          <p:cNvSpPr txBox="1"/>
          <p:nvPr/>
        </p:nvSpPr>
        <p:spPr>
          <a:xfrm>
            <a:off x="789571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1243x</a:t>
            </a:r>
          </a:p>
        </p:txBody>
      </p:sp>
      <p:sp>
        <p:nvSpPr>
          <p:cNvPr id="1247" name="TextBox 1246"/>
          <p:cNvSpPr txBox="1"/>
          <p:nvPr/>
        </p:nvSpPr>
        <p:spPr>
          <a:xfrm>
            <a:off x="790105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1244x</a:t>
            </a:r>
          </a:p>
        </p:txBody>
      </p:sp>
      <p:sp>
        <p:nvSpPr>
          <p:cNvPr id="1248" name="TextBox 1247"/>
          <p:cNvSpPr txBox="1"/>
          <p:nvPr/>
        </p:nvSpPr>
        <p:spPr>
          <a:xfrm>
            <a:off x="790639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1245x</a:t>
            </a:r>
          </a:p>
        </p:txBody>
      </p:sp>
      <p:sp>
        <p:nvSpPr>
          <p:cNvPr id="1249" name="TextBox 1248"/>
          <p:cNvSpPr txBox="1"/>
          <p:nvPr/>
        </p:nvSpPr>
        <p:spPr>
          <a:xfrm>
            <a:off x="791173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1246x</a:t>
            </a:r>
          </a:p>
        </p:txBody>
      </p:sp>
      <p:sp>
        <p:nvSpPr>
          <p:cNvPr id="1250" name="TextBox 1249"/>
          <p:cNvSpPr txBox="1"/>
          <p:nvPr/>
        </p:nvSpPr>
        <p:spPr>
          <a:xfrm>
            <a:off x="791706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1247x</a:t>
            </a:r>
          </a:p>
        </p:txBody>
      </p:sp>
      <p:sp>
        <p:nvSpPr>
          <p:cNvPr id="1251" name="TextBox 1250"/>
          <p:cNvSpPr txBox="1"/>
          <p:nvPr/>
        </p:nvSpPr>
        <p:spPr>
          <a:xfrm>
            <a:off x="792240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1248x</a:t>
            </a:r>
          </a:p>
        </p:txBody>
      </p:sp>
      <p:sp>
        <p:nvSpPr>
          <p:cNvPr id="1252" name="TextBox 1251"/>
          <p:cNvSpPr txBox="1"/>
          <p:nvPr/>
        </p:nvSpPr>
        <p:spPr>
          <a:xfrm>
            <a:off x="792774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1249x</a:t>
            </a:r>
          </a:p>
        </p:txBody>
      </p:sp>
      <p:sp>
        <p:nvSpPr>
          <p:cNvPr id="1253" name="TextBox 1252"/>
          <p:cNvSpPr txBox="1"/>
          <p:nvPr/>
        </p:nvSpPr>
        <p:spPr>
          <a:xfrm>
            <a:off x="793307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1250x</a:t>
            </a:r>
          </a:p>
        </p:txBody>
      </p:sp>
      <p:sp>
        <p:nvSpPr>
          <p:cNvPr id="1254" name="TextBox 1253"/>
          <p:cNvSpPr txBox="1"/>
          <p:nvPr/>
        </p:nvSpPr>
        <p:spPr>
          <a:xfrm>
            <a:off x="793841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1251x</a:t>
            </a:r>
          </a:p>
        </p:txBody>
      </p:sp>
      <p:sp>
        <p:nvSpPr>
          <p:cNvPr id="1255" name="TextBox 1254"/>
          <p:cNvSpPr txBox="1"/>
          <p:nvPr/>
        </p:nvSpPr>
        <p:spPr>
          <a:xfrm>
            <a:off x="794375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1252x</a:t>
            </a:r>
          </a:p>
        </p:txBody>
      </p:sp>
      <p:sp>
        <p:nvSpPr>
          <p:cNvPr id="1256" name="TextBox 1255"/>
          <p:cNvSpPr txBox="1"/>
          <p:nvPr/>
        </p:nvSpPr>
        <p:spPr>
          <a:xfrm>
            <a:off x="794908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1253x</a:t>
            </a:r>
          </a:p>
        </p:txBody>
      </p:sp>
      <p:sp>
        <p:nvSpPr>
          <p:cNvPr id="1257" name="TextBox 1256"/>
          <p:cNvSpPr txBox="1"/>
          <p:nvPr/>
        </p:nvSpPr>
        <p:spPr>
          <a:xfrm>
            <a:off x="795442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1254x</a:t>
            </a:r>
          </a:p>
        </p:txBody>
      </p:sp>
      <p:sp>
        <p:nvSpPr>
          <p:cNvPr id="1258" name="TextBox 1257"/>
          <p:cNvSpPr txBox="1"/>
          <p:nvPr/>
        </p:nvSpPr>
        <p:spPr>
          <a:xfrm>
            <a:off x="795976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1255x</a:t>
            </a:r>
          </a:p>
        </p:txBody>
      </p:sp>
      <p:sp>
        <p:nvSpPr>
          <p:cNvPr id="1259" name="TextBox 1258"/>
          <p:cNvSpPr txBox="1"/>
          <p:nvPr/>
        </p:nvSpPr>
        <p:spPr>
          <a:xfrm>
            <a:off x="796510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1256x</a:t>
            </a:r>
          </a:p>
        </p:txBody>
      </p:sp>
      <p:sp>
        <p:nvSpPr>
          <p:cNvPr id="1260" name="TextBox 1259"/>
          <p:cNvSpPr txBox="1"/>
          <p:nvPr/>
        </p:nvSpPr>
        <p:spPr>
          <a:xfrm>
            <a:off x="797043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1257x</a:t>
            </a:r>
          </a:p>
        </p:txBody>
      </p:sp>
      <p:sp>
        <p:nvSpPr>
          <p:cNvPr id="1261" name="TextBox 1260"/>
          <p:cNvSpPr txBox="1"/>
          <p:nvPr/>
        </p:nvSpPr>
        <p:spPr>
          <a:xfrm>
            <a:off x="797577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1258x</a:t>
            </a:r>
          </a:p>
        </p:txBody>
      </p:sp>
      <p:sp>
        <p:nvSpPr>
          <p:cNvPr id="1262" name="TextBox 1261"/>
          <p:cNvSpPr txBox="1"/>
          <p:nvPr/>
        </p:nvSpPr>
        <p:spPr>
          <a:xfrm>
            <a:off x="798111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1259x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798644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1260x</a:t>
            </a:r>
          </a:p>
        </p:txBody>
      </p:sp>
      <p:sp>
        <p:nvSpPr>
          <p:cNvPr id="1264" name="TextBox 1263"/>
          <p:cNvSpPr txBox="1"/>
          <p:nvPr/>
        </p:nvSpPr>
        <p:spPr>
          <a:xfrm>
            <a:off x="799178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1261x</a:t>
            </a:r>
          </a:p>
        </p:txBody>
      </p:sp>
      <p:sp>
        <p:nvSpPr>
          <p:cNvPr id="1265" name="TextBox 1264"/>
          <p:cNvSpPr txBox="1"/>
          <p:nvPr/>
        </p:nvSpPr>
        <p:spPr>
          <a:xfrm>
            <a:off x="799712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1262x</a:t>
            </a:r>
          </a:p>
        </p:txBody>
      </p:sp>
      <p:sp>
        <p:nvSpPr>
          <p:cNvPr id="1266" name="TextBox 1265"/>
          <p:cNvSpPr txBox="1"/>
          <p:nvPr/>
        </p:nvSpPr>
        <p:spPr>
          <a:xfrm>
            <a:off x="800245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1263x</a:t>
            </a:r>
          </a:p>
        </p:txBody>
      </p:sp>
      <p:sp>
        <p:nvSpPr>
          <p:cNvPr id="1267" name="TextBox 1266"/>
          <p:cNvSpPr txBox="1"/>
          <p:nvPr/>
        </p:nvSpPr>
        <p:spPr>
          <a:xfrm>
            <a:off x="800779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1264x</a:t>
            </a:r>
          </a:p>
        </p:txBody>
      </p:sp>
      <p:sp>
        <p:nvSpPr>
          <p:cNvPr id="1268" name="TextBox 1267"/>
          <p:cNvSpPr txBox="1"/>
          <p:nvPr/>
        </p:nvSpPr>
        <p:spPr>
          <a:xfrm>
            <a:off x="801313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1265x</a:t>
            </a:r>
          </a:p>
        </p:txBody>
      </p:sp>
      <p:sp>
        <p:nvSpPr>
          <p:cNvPr id="1269" name="TextBox 1268"/>
          <p:cNvSpPr txBox="1"/>
          <p:nvPr/>
        </p:nvSpPr>
        <p:spPr>
          <a:xfrm>
            <a:off x="801846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1266x</a:t>
            </a:r>
          </a:p>
        </p:txBody>
      </p:sp>
      <p:sp>
        <p:nvSpPr>
          <p:cNvPr id="1270" name="TextBox 1269"/>
          <p:cNvSpPr txBox="1"/>
          <p:nvPr/>
        </p:nvSpPr>
        <p:spPr>
          <a:xfrm>
            <a:off x="802380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1267x</a:t>
            </a:r>
          </a:p>
        </p:txBody>
      </p:sp>
      <p:sp>
        <p:nvSpPr>
          <p:cNvPr id="1271" name="TextBox 1270"/>
          <p:cNvSpPr txBox="1"/>
          <p:nvPr/>
        </p:nvSpPr>
        <p:spPr>
          <a:xfrm>
            <a:off x="802914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1268x</a:t>
            </a:r>
          </a:p>
        </p:txBody>
      </p:sp>
      <p:sp>
        <p:nvSpPr>
          <p:cNvPr id="1272" name="TextBox 1271"/>
          <p:cNvSpPr txBox="1"/>
          <p:nvPr/>
        </p:nvSpPr>
        <p:spPr>
          <a:xfrm>
            <a:off x="803448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1269x</a:t>
            </a:r>
          </a:p>
        </p:txBody>
      </p:sp>
      <p:sp>
        <p:nvSpPr>
          <p:cNvPr id="1273" name="TextBox 1272"/>
          <p:cNvSpPr txBox="1"/>
          <p:nvPr/>
        </p:nvSpPr>
        <p:spPr>
          <a:xfrm>
            <a:off x="803981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1270x</a:t>
            </a:r>
          </a:p>
        </p:txBody>
      </p:sp>
      <p:sp>
        <p:nvSpPr>
          <p:cNvPr id="1274" name="TextBox 1273"/>
          <p:cNvSpPr txBox="1"/>
          <p:nvPr/>
        </p:nvSpPr>
        <p:spPr>
          <a:xfrm>
            <a:off x="804515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1271x</a:t>
            </a:r>
          </a:p>
        </p:txBody>
      </p:sp>
      <p:sp>
        <p:nvSpPr>
          <p:cNvPr id="1275" name="TextBox 1274"/>
          <p:cNvSpPr txBox="1"/>
          <p:nvPr/>
        </p:nvSpPr>
        <p:spPr>
          <a:xfrm>
            <a:off x="805049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1272x</a:t>
            </a:r>
          </a:p>
        </p:txBody>
      </p:sp>
      <p:sp>
        <p:nvSpPr>
          <p:cNvPr id="1276" name="TextBox 1275"/>
          <p:cNvSpPr txBox="1"/>
          <p:nvPr/>
        </p:nvSpPr>
        <p:spPr>
          <a:xfrm>
            <a:off x="805582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1273x</a:t>
            </a:r>
          </a:p>
        </p:txBody>
      </p:sp>
      <p:sp>
        <p:nvSpPr>
          <p:cNvPr id="1277" name="TextBox 1276"/>
          <p:cNvSpPr txBox="1"/>
          <p:nvPr/>
        </p:nvSpPr>
        <p:spPr>
          <a:xfrm>
            <a:off x="806116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1274x</a:t>
            </a:r>
          </a:p>
        </p:txBody>
      </p:sp>
      <p:sp>
        <p:nvSpPr>
          <p:cNvPr id="1278" name="TextBox 1277"/>
          <p:cNvSpPr txBox="1"/>
          <p:nvPr/>
        </p:nvSpPr>
        <p:spPr>
          <a:xfrm>
            <a:off x="8066502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1275x</a:t>
            </a:r>
          </a:p>
        </p:txBody>
      </p:sp>
      <p:sp>
        <p:nvSpPr>
          <p:cNvPr id="1279" name="TextBox 1278"/>
          <p:cNvSpPr txBox="1"/>
          <p:nvPr/>
        </p:nvSpPr>
        <p:spPr>
          <a:xfrm>
            <a:off x="8071839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1276x</a:t>
            </a:r>
          </a:p>
        </p:txBody>
      </p:sp>
      <p:sp>
        <p:nvSpPr>
          <p:cNvPr id="1280" name="TextBox 1279"/>
          <p:cNvSpPr txBox="1"/>
          <p:nvPr/>
        </p:nvSpPr>
        <p:spPr>
          <a:xfrm>
            <a:off x="8077176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1277x</a:t>
            </a:r>
          </a:p>
        </p:txBody>
      </p:sp>
      <p:sp>
        <p:nvSpPr>
          <p:cNvPr id="1281" name="TextBox 1280"/>
          <p:cNvSpPr txBox="1"/>
          <p:nvPr/>
        </p:nvSpPr>
        <p:spPr>
          <a:xfrm>
            <a:off x="8082513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1278x</a:t>
            </a:r>
          </a:p>
        </p:txBody>
      </p:sp>
      <p:sp>
        <p:nvSpPr>
          <p:cNvPr id="1282" name="TextBox 1281"/>
          <p:cNvSpPr txBox="1"/>
          <p:nvPr/>
        </p:nvSpPr>
        <p:spPr>
          <a:xfrm>
            <a:off x="8087850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1279x</a:t>
            </a:r>
          </a:p>
        </p:txBody>
      </p:sp>
      <p:sp>
        <p:nvSpPr>
          <p:cNvPr id="1283" name="TextBox 1282"/>
          <p:cNvSpPr txBox="1"/>
          <p:nvPr/>
        </p:nvSpPr>
        <p:spPr>
          <a:xfrm>
            <a:off x="8093187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1280x</a:t>
            </a:r>
          </a:p>
        </p:txBody>
      </p:sp>
      <p:sp>
        <p:nvSpPr>
          <p:cNvPr id="1284" name="TextBox 1283"/>
          <p:cNvSpPr txBox="1"/>
          <p:nvPr/>
        </p:nvSpPr>
        <p:spPr>
          <a:xfrm>
            <a:off x="8098524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1281x</a:t>
            </a:r>
          </a:p>
        </p:txBody>
      </p:sp>
      <p:sp>
        <p:nvSpPr>
          <p:cNvPr id="1285" name="TextBox 1284"/>
          <p:cNvSpPr txBox="1"/>
          <p:nvPr/>
        </p:nvSpPr>
        <p:spPr>
          <a:xfrm>
            <a:off x="8103861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1282x</a:t>
            </a:r>
          </a:p>
        </p:txBody>
      </p:sp>
      <p:sp>
        <p:nvSpPr>
          <p:cNvPr id="1286" name="TextBox 1285"/>
          <p:cNvSpPr txBox="1"/>
          <p:nvPr/>
        </p:nvSpPr>
        <p:spPr>
          <a:xfrm>
            <a:off x="8109198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1283x</a:t>
            </a:r>
          </a:p>
        </p:txBody>
      </p:sp>
      <p:sp>
        <p:nvSpPr>
          <p:cNvPr id="1287" name="TextBox 1286"/>
          <p:cNvSpPr txBox="1"/>
          <p:nvPr/>
        </p:nvSpPr>
        <p:spPr>
          <a:xfrm>
            <a:off x="8114535" y="932688"/>
            <a:ext cx="219456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7F8C8D"/>
                </a:solidFill>
                <a:latin typeface="Calibri"/>
              </a:defRPr>
            </a:pPr>
            <a:r>
              <a:t>1284x</a:t>
            </a:r>
          </a:p>
        </p:txBody>
      </p:sp>
      <p:sp>
        <p:nvSpPr>
          <p:cNvPr id="1288" name="Rectangle 1287"/>
          <p:cNvSpPr/>
          <p:nvPr/>
        </p:nvSpPr>
        <p:spPr>
          <a:xfrm>
            <a:off x="1376936" y="1078992"/>
            <a:ext cx="19050" cy="3493007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9" name="TextBox 1288"/>
          <p:cNvSpPr txBox="1"/>
          <p:nvPr/>
        </p:nvSpPr>
        <p:spPr>
          <a:xfrm>
            <a:off x="45720" y="109728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3mm</a:t>
            </a:r>
          </a:p>
        </p:txBody>
      </p:sp>
      <p:sp>
        <p:nvSpPr>
          <p:cNvPr id="1290" name="Rectangle 1289"/>
          <p:cNvSpPr/>
          <p:nvPr/>
        </p:nvSpPr>
        <p:spPr>
          <a:xfrm>
            <a:off x="1371600" y="1113495"/>
            <a:ext cx="685800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1" name="TextBox 1290"/>
          <p:cNvSpPr txBox="1"/>
          <p:nvPr/>
        </p:nvSpPr>
        <p:spPr>
          <a:xfrm>
            <a:off x="8266175" y="1097280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1826.1x</a:t>
            </a:r>
          </a:p>
        </p:txBody>
      </p:sp>
      <p:sp>
        <p:nvSpPr>
          <p:cNvPr id="1292" name="TextBox 1291"/>
          <p:cNvSpPr txBox="1"/>
          <p:nvPr/>
        </p:nvSpPr>
        <p:spPr>
          <a:xfrm>
            <a:off x="45720" y="121310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2mm</a:t>
            </a:r>
          </a:p>
        </p:txBody>
      </p:sp>
      <p:sp>
        <p:nvSpPr>
          <p:cNvPr id="1293" name="Rectangle 1292"/>
          <p:cNvSpPr/>
          <p:nvPr/>
        </p:nvSpPr>
        <p:spPr>
          <a:xfrm>
            <a:off x="1371600" y="1229319"/>
            <a:ext cx="685800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4" name="TextBox 1293"/>
          <p:cNvSpPr txBox="1"/>
          <p:nvPr/>
        </p:nvSpPr>
        <p:spPr>
          <a:xfrm>
            <a:off x="8266175" y="1213104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1514.8x</a:t>
            </a:r>
          </a:p>
        </p:txBody>
      </p:sp>
      <p:sp>
        <p:nvSpPr>
          <p:cNvPr id="1295" name="TextBox 1294"/>
          <p:cNvSpPr txBox="1"/>
          <p:nvPr/>
        </p:nvSpPr>
        <p:spPr>
          <a:xfrm>
            <a:off x="45720" y="132892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doitgen</a:t>
            </a:r>
          </a:p>
        </p:txBody>
      </p:sp>
      <p:sp>
        <p:nvSpPr>
          <p:cNvPr id="1296" name="Rectangle 1295"/>
          <p:cNvSpPr/>
          <p:nvPr/>
        </p:nvSpPr>
        <p:spPr>
          <a:xfrm>
            <a:off x="1371600" y="1345143"/>
            <a:ext cx="684871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7" name="TextBox 1296"/>
          <p:cNvSpPr txBox="1"/>
          <p:nvPr/>
        </p:nvSpPr>
        <p:spPr>
          <a:xfrm>
            <a:off x="8256894" y="1328927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1283.3x</a:t>
            </a:r>
          </a:p>
        </p:txBody>
      </p:sp>
      <p:sp>
        <p:nvSpPr>
          <p:cNvPr id="1298" name="TextBox 1297"/>
          <p:cNvSpPr txBox="1"/>
          <p:nvPr/>
        </p:nvSpPr>
        <p:spPr>
          <a:xfrm>
            <a:off x="45720" y="144475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heat_3d</a:t>
            </a:r>
          </a:p>
        </p:txBody>
      </p:sp>
      <p:sp>
        <p:nvSpPr>
          <p:cNvPr id="1299" name="Rectangle 1298"/>
          <p:cNvSpPr/>
          <p:nvPr/>
        </p:nvSpPr>
        <p:spPr>
          <a:xfrm>
            <a:off x="1371600" y="1460967"/>
            <a:ext cx="1261437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0" name="TextBox 1299"/>
          <p:cNvSpPr txBox="1"/>
          <p:nvPr/>
        </p:nvSpPr>
        <p:spPr>
          <a:xfrm>
            <a:off x="2669613" y="1444751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236.4x</a:t>
            </a:r>
          </a:p>
        </p:txBody>
      </p:sp>
      <p:sp>
        <p:nvSpPr>
          <p:cNvPr id="1301" name="TextBox 1300"/>
          <p:cNvSpPr txBox="1"/>
          <p:nvPr/>
        </p:nvSpPr>
        <p:spPr>
          <a:xfrm>
            <a:off x="45720" y="156057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syr2k</a:t>
            </a:r>
          </a:p>
        </p:txBody>
      </p:sp>
      <p:sp>
        <p:nvSpPr>
          <p:cNvPr id="1302" name="Rectangle 1301"/>
          <p:cNvSpPr/>
          <p:nvPr/>
        </p:nvSpPr>
        <p:spPr>
          <a:xfrm>
            <a:off x="1371600" y="1576791"/>
            <a:ext cx="74687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2155046" y="1560576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139.9x</a:t>
            </a:r>
          </a:p>
        </p:txBody>
      </p:sp>
      <p:sp>
        <p:nvSpPr>
          <p:cNvPr id="1304" name="TextBox 1303"/>
          <p:cNvSpPr txBox="1"/>
          <p:nvPr/>
        </p:nvSpPr>
        <p:spPr>
          <a:xfrm>
            <a:off x="45720" y="167640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gemm</a:t>
            </a:r>
          </a:p>
        </p:txBody>
      </p:sp>
      <p:sp>
        <p:nvSpPr>
          <p:cNvPr id="1305" name="Rectangle 1304"/>
          <p:cNvSpPr/>
          <p:nvPr/>
        </p:nvSpPr>
        <p:spPr>
          <a:xfrm>
            <a:off x="1371600" y="1692615"/>
            <a:ext cx="706626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2114802" y="1676400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132.4x</a:t>
            </a:r>
          </a:p>
        </p:txBody>
      </p:sp>
      <p:sp>
        <p:nvSpPr>
          <p:cNvPr id="1307" name="TextBox 1306"/>
          <p:cNvSpPr txBox="1"/>
          <p:nvPr/>
        </p:nvSpPr>
        <p:spPr>
          <a:xfrm>
            <a:off x="45720" y="179222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mvt</a:t>
            </a:r>
          </a:p>
        </p:txBody>
      </p:sp>
      <p:sp>
        <p:nvSpPr>
          <p:cNvPr id="1308" name="Rectangle 1307"/>
          <p:cNvSpPr/>
          <p:nvPr/>
        </p:nvSpPr>
        <p:spPr>
          <a:xfrm>
            <a:off x="1371600" y="1808439"/>
            <a:ext cx="277176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1685352" y="1792224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51.9x</a:t>
            </a:r>
          </a:p>
        </p:txBody>
      </p:sp>
      <p:sp>
        <p:nvSpPr>
          <p:cNvPr id="1310" name="TextBox 1309"/>
          <p:cNvSpPr txBox="1"/>
          <p:nvPr/>
        </p:nvSpPr>
        <p:spPr>
          <a:xfrm>
            <a:off x="45720" y="190804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correlation</a:t>
            </a:r>
          </a:p>
        </p:txBody>
      </p:sp>
      <p:sp>
        <p:nvSpPr>
          <p:cNvPr id="1311" name="Rectangle 1310"/>
          <p:cNvSpPr/>
          <p:nvPr/>
        </p:nvSpPr>
        <p:spPr>
          <a:xfrm>
            <a:off x="1371600" y="1924263"/>
            <a:ext cx="264905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1673081" y="1908047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49.6x</a:t>
            </a:r>
          </a:p>
        </p:txBody>
      </p:sp>
      <p:sp>
        <p:nvSpPr>
          <p:cNvPr id="1313" name="TextBox 1312"/>
          <p:cNvSpPr txBox="1"/>
          <p:nvPr/>
        </p:nvSpPr>
        <p:spPr>
          <a:xfrm>
            <a:off x="45720" y="202387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floyd_warshall</a:t>
            </a:r>
          </a:p>
        </p:txBody>
      </p:sp>
      <p:sp>
        <p:nvSpPr>
          <p:cNvPr id="1314" name="Rectangle 1313"/>
          <p:cNvSpPr/>
          <p:nvPr/>
        </p:nvSpPr>
        <p:spPr>
          <a:xfrm>
            <a:off x="1371600" y="2040087"/>
            <a:ext cx="25310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1661276" y="2023871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47.4x</a:t>
            </a:r>
          </a:p>
        </p:txBody>
      </p:sp>
      <p:sp>
        <p:nvSpPr>
          <p:cNvPr id="1316" name="TextBox 1315"/>
          <p:cNvSpPr txBox="1"/>
          <p:nvPr/>
        </p:nvSpPr>
        <p:spPr>
          <a:xfrm>
            <a:off x="45720" y="213969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covariance</a:t>
            </a:r>
          </a:p>
        </p:txBody>
      </p:sp>
      <p:sp>
        <p:nvSpPr>
          <p:cNvPr id="1317" name="Rectangle 1316"/>
          <p:cNvSpPr/>
          <p:nvPr/>
        </p:nvSpPr>
        <p:spPr>
          <a:xfrm>
            <a:off x="1371600" y="2155911"/>
            <a:ext cx="24830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1656476" y="2139696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46.5x</a:t>
            </a:r>
          </a:p>
        </p:txBody>
      </p:sp>
      <p:sp>
        <p:nvSpPr>
          <p:cNvPr id="1319" name="TextBox 1318"/>
          <p:cNvSpPr txBox="1"/>
          <p:nvPr/>
        </p:nvSpPr>
        <p:spPr>
          <a:xfrm>
            <a:off x="45720" y="225552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gemver</a:t>
            </a:r>
          </a:p>
        </p:txBody>
      </p:sp>
      <p:sp>
        <p:nvSpPr>
          <p:cNvPr id="1320" name="Rectangle 1319"/>
          <p:cNvSpPr/>
          <p:nvPr/>
        </p:nvSpPr>
        <p:spPr>
          <a:xfrm>
            <a:off x="1371600" y="2271735"/>
            <a:ext cx="216256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1624432" y="2255520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40.5x</a:t>
            </a:r>
          </a:p>
        </p:txBody>
      </p:sp>
      <p:sp>
        <p:nvSpPr>
          <p:cNvPr id="1322" name="TextBox 1321"/>
          <p:cNvSpPr txBox="1"/>
          <p:nvPr/>
        </p:nvSpPr>
        <p:spPr>
          <a:xfrm>
            <a:off x="45720" y="2371343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jacobi_2d</a:t>
            </a:r>
          </a:p>
        </p:txBody>
      </p:sp>
      <p:sp>
        <p:nvSpPr>
          <p:cNvPr id="1323" name="Rectangle 1322"/>
          <p:cNvSpPr/>
          <p:nvPr/>
        </p:nvSpPr>
        <p:spPr>
          <a:xfrm>
            <a:off x="1371600" y="2387559"/>
            <a:ext cx="196485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1604661" y="2371343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36.8x</a:t>
            </a:r>
          </a:p>
        </p:txBody>
      </p:sp>
      <p:sp>
        <p:nvSpPr>
          <p:cNvPr id="1325" name="TextBox 1324"/>
          <p:cNvSpPr txBox="1"/>
          <p:nvPr/>
        </p:nvSpPr>
        <p:spPr>
          <a:xfrm>
            <a:off x="45720" y="2487168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gesummv</a:t>
            </a:r>
          </a:p>
        </p:txBody>
      </p:sp>
      <p:sp>
        <p:nvSpPr>
          <p:cNvPr id="1326" name="Rectangle 1325"/>
          <p:cNvSpPr/>
          <p:nvPr/>
        </p:nvSpPr>
        <p:spPr>
          <a:xfrm>
            <a:off x="1371600" y="2503383"/>
            <a:ext cx="156643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1564819" y="2487168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29.4x</a:t>
            </a:r>
          </a:p>
        </p:txBody>
      </p:sp>
      <p:sp>
        <p:nvSpPr>
          <p:cNvPr id="1328" name="TextBox 1327"/>
          <p:cNvSpPr txBox="1"/>
          <p:nvPr/>
        </p:nvSpPr>
        <p:spPr>
          <a:xfrm>
            <a:off x="45720" y="2602992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deriche</a:t>
            </a:r>
          </a:p>
        </p:txBody>
      </p:sp>
      <p:sp>
        <p:nvSpPr>
          <p:cNvPr id="1329" name="Rectangle 1328"/>
          <p:cNvSpPr/>
          <p:nvPr/>
        </p:nvSpPr>
        <p:spPr>
          <a:xfrm>
            <a:off x="1371600" y="2619207"/>
            <a:ext cx="152623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1560799" y="2602992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28.6x</a:t>
            </a:r>
          </a:p>
        </p:txBody>
      </p:sp>
      <p:sp>
        <p:nvSpPr>
          <p:cNvPr id="1331" name="TextBox 1330"/>
          <p:cNvSpPr txBox="1"/>
          <p:nvPr/>
        </p:nvSpPr>
        <p:spPr>
          <a:xfrm>
            <a:off x="45720" y="2718815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syrk</a:t>
            </a:r>
          </a:p>
        </p:txBody>
      </p:sp>
      <p:sp>
        <p:nvSpPr>
          <p:cNvPr id="1332" name="Rectangle 1331"/>
          <p:cNvSpPr/>
          <p:nvPr/>
        </p:nvSpPr>
        <p:spPr>
          <a:xfrm>
            <a:off x="1371600" y="2735031"/>
            <a:ext cx="120465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528641" y="2718815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22.6x</a:t>
            </a:r>
          </a:p>
        </p:txBody>
      </p:sp>
      <p:sp>
        <p:nvSpPr>
          <p:cNvPr id="1334" name="TextBox 1333"/>
          <p:cNvSpPr txBox="1"/>
          <p:nvPr/>
        </p:nvSpPr>
        <p:spPr>
          <a:xfrm>
            <a:off x="45720" y="2834639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trmm</a:t>
            </a:r>
          </a:p>
        </p:txBody>
      </p:sp>
      <p:sp>
        <p:nvSpPr>
          <p:cNvPr id="1335" name="Rectangle 1334"/>
          <p:cNvSpPr/>
          <p:nvPr/>
        </p:nvSpPr>
        <p:spPr>
          <a:xfrm>
            <a:off x="1371600" y="2850855"/>
            <a:ext cx="102127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510303" y="2834639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19.1x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45720" y="295046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fdtd_2d</a:t>
            </a:r>
          </a:p>
        </p:txBody>
      </p:sp>
      <p:sp>
        <p:nvSpPr>
          <p:cNvPr id="1338" name="Rectangle 1337"/>
          <p:cNvSpPr/>
          <p:nvPr/>
        </p:nvSpPr>
        <p:spPr>
          <a:xfrm>
            <a:off x="1371600" y="2966679"/>
            <a:ext cx="8234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490524" y="2950464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15.4x</a:t>
            </a:r>
          </a:p>
        </p:txBody>
      </p:sp>
      <p:sp>
        <p:nvSpPr>
          <p:cNvPr id="1340" name="TextBox 1339"/>
          <p:cNvSpPr txBox="1"/>
          <p:nvPr/>
        </p:nvSpPr>
        <p:spPr>
          <a:xfrm>
            <a:off x="45720" y="306628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symm</a:t>
            </a:r>
          </a:p>
        </p:txBody>
      </p:sp>
      <p:sp>
        <p:nvSpPr>
          <p:cNvPr id="1341" name="Rectangle 1340"/>
          <p:cNvSpPr/>
          <p:nvPr/>
        </p:nvSpPr>
        <p:spPr>
          <a:xfrm>
            <a:off x="1371600" y="3082503"/>
            <a:ext cx="44930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453106" y="3066287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8.42x</a:t>
            </a:r>
          </a:p>
        </p:txBody>
      </p:sp>
      <p:sp>
        <p:nvSpPr>
          <p:cNvPr id="1343" name="TextBox 1342"/>
          <p:cNvSpPr txBox="1"/>
          <p:nvPr/>
        </p:nvSpPr>
        <p:spPr>
          <a:xfrm>
            <a:off x="45720" y="318211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atax</a:t>
            </a:r>
          </a:p>
        </p:txBody>
      </p:sp>
      <p:sp>
        <p:nvSpPr>
          <p:cNvPr id="1344" name="Rectangle 1343"/>
          <p:cNvSpPr/>
          <p:nvPr/>
        </p:nvSpPr>
        <p:spPr>
          <a:xfrm>
            <a:off x="1371600" y="3198327"/>
            <a:ext cx="39008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447184" y="3182111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7.31x</a:t>
            </a:r>
          </a:p>
        </p:txBody>
      </p:sp>
      <p:sp>
        <p:nvSpPr>
          <p:cNvPr id="1346" name="TextBox 1345"/>
          <p:cNvSpPr txBox="1"/>
          <p:nvPr/>
        </p:nvSpPr>
        <p:spPr>
          <a:xfrm>
            <a:off x="45720" y="329793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bicg</a:t>
            </a:r>
          </a:p>
        </p:txBody>
      </p:sp>
      <p:sp>
        <p:nvSpPr>
          <p:cNvPr id="1347" name="Rectangle 1346"/>
          <p:cNvSpPr/>
          <p:nvPr/>
        </p:nvSpPr>
        <p:spPr>
          <a:xfrm>
            <a:off x="1371600" y="3314151"/>
            <a:ext cx="33662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8" name="TextBox 1347"/>
          <p:cNvSpPr txBox="1"/>
          <p:nvPr/>
        </p:nvSpPr>
        <p:spPr>
          <a:xfrm>
            <a:off x="1441838" y="3297936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6.31x</a:t>
            </a:r>
          </a:p>
        </p:txBody>
      </p:sp>
      <p:sp>
        <p:nvSpPr>
          <p:cNvPr id="1349" name="TextBox 1348"/>
          <p:cNvSpPr txBox="1"/>
          <p:nvPr/>
        </p:nvSpPr>
        <p:spPr>
          <a:xfrm>
            <a:off x="45720" y="3413760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jacobi_1d</a:t>
            </a:r>
          </a:p>
        </p:txBody>
      </p:sp>
      <p:sp>
        <p:nvSpPr>
          <p:cNvPr id="1350" name="Rectangle 1349"/>
          <p:cNvSpPr/>
          <p:nvPr/>
        </p:nvSpPr>
        <p:spPr>
          <a:xfrm>
            <a:off x="1371600" y="3429975"/>
            <a:ext cx="27432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1" name="TextBox 1350"/>
          <p:cNvSpPr txBox="1"/>
          <p:nvPr/>
        </p:nvSpPr>
        <p:spPr>
          <a:xfrm>
            <a:off x="1435608" y="3413760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2.82x</a:t>
            </a:r>
          </a:p>
        </p:txBody>
      </p:sp>
      <p:sp>
        <p:nvSpPr>
          <p:cNvPr id="1352" name="TextBox 1351"/>
          <p:cNvSpPr txBox="1"/>
          <p:nvPr/>
        </p:nvSpPr>
        <p:spPr>
          <a:xfrm>
            <a:off x="45720" y="3529583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</a:t>
            </a:r>
          </a:p>
        </p:txBody>
      </p:sp>
      <p:sp>
        <p:nvSpPr>
          <p:cNvPr id="1353" name="Rectangle 1352"/>
          <p:cNvSpPr/>
          <p:nvPr/>
        </p:nvSpPr>
        <p:spPr>
          <a:xfrm>
            <a:off x="1371600" y="3545799"/>
            <a:ext cx="27432" cy="8339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4" name="TextBox 1353"/>
          <p:cNvSpPr txBox="1"/>
          <p:nvPr/>
        </p:nvSpPr>
        <p:spPr>
          <a:xfrm>
            <a:off x="1435608" y="3529583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27AE60"/>
                </a:solidFill>
                <a:latin typeface="Courier New"/>
              </a:defRPr>
            </a:pPr>
            <a:r>
              <a:t>1.85x</a:t>
            </a:r>
          </a:p>
        </p:txBody>
      </p:sp>
      <p:sp>
        <p:nvSpPr>
          <p:cNvPr id="1355" name="TextBox 1354"/>
          <p:cNvSpPr txBox="1"/>
          <p:nvPr/>
        </p:nvSpPr>
        <p:spPr>
          <a:xfrm>
            <a:off x="45720" y="364540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ludcmp</a:t>
            </a:r>
          </a:p>
        </p:txBody>
      </p:sp>
      <p:sp>
        <p:nvSpPr>
          <p:cNvPr id="1356" name="Rectangle 1355"/>
          <p:cNvSpPr/>
          <p:nvPr/>
        </p:nvSpPr>
        <p:spPr>
          <a:xfrm>
            <a:off x="1371600" y="3661623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7" name="TextBox 1356"/>
          <p:cNvSpPr txBox="1"/>
          <p:nvPr/>
        </p:nvSpPr>
        <p:spPr>
          <a:xfrm>
            <a:off x="1435608" y="3645407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0.91x</a:t>
            </a:r>
          </a:p>
        </p:txBody>
      </p:sp>
      <p:sp>
        <p:nvSpPr>
          <p:cNvPr id="1358" name="TextBox 1357"/>
          <p:cNvSpPr txBox="1"/>
          <p:nvPr/>
        </p:nvSpPr>
        <p:spPr>
          <a:xfrm>
            <a:off x="45720" y="3761232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gramschmidt</a:t>
            </a:r>
          </a:p>
        </p:txBody>
      </p:sp>
      <p:sp>
        <p:nvSpPr>
          <p:cNvPr id="1359" name="Rectangle 1358"/>
          <p:cNvSpPr/>
          <p:nvPr/>
        </p:nvSpPr>
        <p:spPr>
          <a:xfrm>
            <a:off x="1371600" y="3777447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0" name="TextBox 1359"/>
          <p:cNvSpPr txBox="1"/>
          <p:nvPr/>
        </p:nvSpPr>
        <p:spPr>
          <a:xfrm>
            <a:off x="1435608" y="3761232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0.41x</a:t>
            </a:r>
          </a:p>
        </p:txBody>
      </p:sp>
      <p:sp>
        <p:nvSpPr>
          <p:cNvPr id="1361" name="TextBox 1360"/>
          <p:cNvSpPr txBox="1"/>
          <p:nvPr/>
        </p:nvSpPr>
        <p:spPr>
          <a:xfrm>
            <a:off x="45720" y="3877055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trisolv</a:t>
            </a:r>
          </a:p>
        </p:txBody>
      </p:sp>
      <p:sp>
        <p:nvSpPr>
          <p:cNvPr id="1362" name="Rectangle 1361"/>
          <p:cNvSpPr/>
          <p:nvPr/>
        </p:nvSpPr>
        <p:spPr>
          <a:xfrm>
            <a:off x="1371600" y="3893271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3" name="TextBox 1362"/>
          <p:cNvSpPr txBox="1"/>
          <p:nvPr/>
        </p:nvSpPr>
        <p:spPr>
          <a:xfrm>
            <a:off x="1435608" y="3877055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0.40x</a:t>
            </a:r>
          </a:p>
        </p:txBody>
      </p:sp>
      <p:sp>
        <p:nvSpPr>
          <p:cNvPr id="1364" name="TextBox 1363"/>
          <p:cNvSpPr txBox="1"/>
          <p:nvPr/>
        </p:nvSpPr>
        <p:spPr>
          <a:xfrm>
            <a:off x="45720" y="3992879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durbin</a:t>
            </a:r>
          </a:p>
        </p:txBody>
      </p:sp>
      <p:sp>
        <p:nvSpPr>
          <p:cNvPr id="1365" name="Rectangle 1364"/>
          <p:cNvSpPr/>
          <p:nvPr/>
        </p:nvSpPr>
        <p:spPr>
          <a:xfrm>
            <a:off x="1371600" y="4009095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6" name="TextBox 1365"/>
          <p:cNvSpPr txBox="1"/>
          <p:nvPr/>
        </p:nvSpPr>
        <p:spPr>
          <a:xfrm>
            <a:off x="1435608" y="3992879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0.37x</a:t>
            </a:r>
          </a:p>
        </p:txBody>
      </p:sp>
      <p:sp>
        <p:nvSpPr>
          <p:cNvPr id="1367" name="TextBox 1366"/>
          <p:cNvSpPr txBox="1"/>
          <p:nvPr/>
        </p:nvSpPr>
        <p:spPr>
          <a:xfrm>
            <a:off x="45720" y="4108704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seidel_2d</a:t>
            </a:r>
          </a:p>
        </p:txBody>
      </p:sp>
      <p:sp>
        <p:nvSpPr>
          <p:cNvPr id="1368" name="Rectangle 1367"/>
          <p:cNvSpPr/>
          <p:nvPr/>
        </p:nvSpPr>
        <p:spPr>
          <a:xfrm>
            <a:off x="1371600" y="4124919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9" name="TextBox 1368"/>
          <p:cNvSpPr txBox="1"/>
          <p:nvPr/>
        </p:nvSpPr>
        <p:spPr>
          <a:xfrm>
            <a:off x="1435608" y="4108704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~0.11x*</a:t>
            </a:r>
          </a:p>
        </p:txBody>
      </p:sp>
      <p:sp>
        <p:nvSpPr>
          <p:cNvPr id="1370" name="TextBox 1369"/>
          <p:cNvSpPr txBox="1"/>
          <p:nvPr/>
        </p:nvSpPr>
        <p:spPr>
          <a:xfrm>
            <a:off x="45720" y="4224527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adi</a:t>
            </a:r>
          </a:p>
        </p:txBody>
      </p:sp>
      <p:sp>
        <p:nvSpPr>
          <p:cNvPr id="1371" name="Rectangle 1370"/>
          <p:cNvSpPr/>
          <p:nvPr/>
        </p:nvSpPr>
        <p:spPr>
          <a:xfrm>
            <a:off x="1371600" y="4240743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2" name="TextBox 1371"/>
          <p:cNvSpPr txBox="1"/>
          <p:nvPr/>
        </p:nvSpPr>
        <p:spPr>
          <a:xfrm>
            <a:off x="1435608" y="4224527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~0.05x*</a:t>
            </a:r>
          </a:p>
        </p:txBody>
      </p:sp>
      <p:sp>
        <p:nvSpPr>
          <p:cNvPr id="1373" name="TextBox 1372"/>
          <p:cNvSpPr txBox="1"/>
          <p:nvPr/>
        </p:nvSpPr>
        <p:spPr>
          <a:xfrm>
            <a:off x="45720" y="4340351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cholesky</a:t>
            </a:r>
          </a:p>
        </p:txBody>
      </p:sp>
      <p:sp>
        <p:nvSpPr>
          <p:cNvPr id="1374" name="Rectangle 1373"/>
          <p:cNvSpPr/>
          <p:nvPr/>
        </p:nvSpPr>
        <p:spPr>
          <a:xfrm>
            <a:off x="1371600" y="4356567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5" name="TextBox 1374"/>
          <p:cNvSpPr txBox="1"/>
          <p:nvPr/>
        </p:nvSpPr>
        <p:spPr>
          <a:xfrm>
            <a:off x="1435608" y="4340351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~0.03x*</a:t>
            </a:r>
          </a:p>
        </p:txBody>
      </p:sp>
      <p:sp>
        <p:nvSpPr>
          <p:cNvPr id="1376" name="TextBox 1375"/>
          <p:cNvSpPr txBox="1"/>
          <p:nvPr/>
        </p:nvSpPr>
        <p:spPr>
          <a:xfrm>
            <a:off x="45720" y="4456176"/>
            <a:ext cx="118872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>
              <a:defRPr sz="700">
                <a:solidFill>
                  <a:srgbClr val="2C3E50"/>
                </a:solidFill>
                <a:latin typeface="Courier New"/>
              </a:defRPr>
            </a:pPr>
            <a:r>
              <a:t>nussinov</a:t>
            </a:r>
          </a:p>
        </p:txBody>
      </p:sp>
      <p:sp>
        <p:nvSpPr>
          <p:cNvPr id="1377" name="Rectangle 1376"/>
          <p:cNvSpPr/>
          <p:nvPr/>
        </p:nvSpPr>
        <p:spPr>
          <a:xfrm>
            <a:off x="1371600" y="4472391"/>
            <a:ext cx="27432" cy="8339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8" name="TextBox 1377"/>
          <p:cNvSpPr txBox="1"/>
          <p:nvPr/>
        </p:nvSpPr>
        <p:spPr>
          <a:xfrm>
            <a:off x="1435608" y="4456176"/>
            <a:ext cx="640080" cy="115823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650">
                <a:solidFill>
                  <a:srgbClr val="C0392B"/>
                </a:solidFill>
                <a:latin typeface="Courier New"/>
              </a:defRPr>
            </a:pPr>
            <a:r>
              <a:t>~0.03x*</a:t>
            </a:r>
          </a:p>
        </p:txBody>
      </p:sp>
      <p:sp>
        <p:nvSpPr>
          <p:cNvPr id="1379" name="Rectangle 1378"/>
          <p:cNvSpPr/>
          <p:nvPr/>
        </p:nvSpPr>
        <p:spPr>
          <a:xfrm>
            <a:off x="6400800" y="4617719"/>
            <a:ext cx="182880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0" name="TextBox 1379"/>
          <p:cNvSpPr txBox="1"/>
          <p:nvPr/>
        </p:nvSpPr>
        <p:spPr>
          <a:xfrm>
            <a:off x="6629400" y="4599431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Faster (22)</a:t>
            </a:r>
          </a:p>
        </p:txBody>
      </p:sp>
      <p:sp>
        <p:nvSpPr>
          <p:cNvPr id="1381" name="Rectangle 1380"/>
          <p:cNvSpPr/>
          <p:nvPr/>
        </p:nvSpPr>
        <p:spPr>
          <a:xfrm>
            <a:off x="7498079" y="4617719"/>
            <a:ext cx="18288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7726679" y="4599431"/>
            <a:ext cx="7315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04"/>
              </a:lnSpc>
              <a:defRPr sz="700" b="0">
                <a:solidFill>
                  <a:srgbClr val="2C3E50"/>
                </a:solidFill>
                <a:latin typeface="Calibri"/>
              </a:defRPr>
            </a:pPr>
            <a:r>
              <a:t>Slower (8)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8x-Scale Regressions: What Degraded?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Kernels where 8x-scale speedup is significantly worse than 1x baseline. Root causes: LLM nondeterminism, tolerance failures, or suboptimal parallelization.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658368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640080"/>
                <a:gridCol w="640080"/>
                <a:gridCol w="548640"/>
                <a:gridCol w="457200"/>
                <a:gridCol w="329184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1x Spd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8x Spd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8x Att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1.09x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0.37x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Inherently sequential O(N^2); no parallelization 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174650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defRPr sz="1300" b="1">
                <a:solidFill>
                  <a:srgbClr val="1B2A4A"/>
                </a:solidFill>
                <a:latin typeface="Calibri"/>
              </a:defRPr>
            </a:pPr>
            <a:r>
              <a:t>Analysis: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0824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0 kernel(s) regressed from PASS to FAIL at 8x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1 kernel(s) show &gt;50% speedup degradation vs 1x baseline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Remaining regressions: cache pressure at 8x (64x more data), sequential algorithms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7 major regressions FIXED via guidance improvements (next slide): 2mm, doitgen, covariance, jacobi_1d (prompt anti-patterns), jacobi_2d, fdtd_2d (2D stencil threshold), adi (FP32 tolerance)</a:t>
            </a:r>
          </a:p>
          <a:p>
            <a:pPr>
              <a:lnSpc>
                <a:spcPts val="1300"/>
              </a:lnSpc>
              <a:spcAft>
                <a:spcPts val="400"/>
              </a:spcAft>
            </a:pPr>
            <a:r>
              <a:rPr sz="1000">
                <a:solidFill>
                  <a:srgbClr val="2C3E50"/>
                </a:solidFill>
                <a:latin typeface="Calibri"/>
              </a:rPr>
              <a:t>23 kernel(s) improved &gt;10% at 8x (larger matrices amortize GPU launch overhead)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Iterative Guidance Refinement at 8x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7 kernels regressed at 8x. Pattern-based guidance fixes (not per-kernel hardcoded) resolved all 7.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51560"/>
            <a:ext cx="4160520" cy="132588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1064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2mm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106424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C0392B"/>
                </a:solidFill>
                <a:latin typeface="Courier New"/>
              </a:defRPr>
            </a:pPr>
            <a:r>
              <a:t>0.07x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1115568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88920" y="1106424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27AE60"/>
                </a:solidFill>
                <a:latin typeface="Courier New"/>
              </a:defRPr>
            </a:pPr>
            <a:r>
              <a:t>1515x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10972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(21,640x)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380743"/>
            <a:ext cx="3941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Cause: Serial fallback over parallel kernels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581912"/>
            <a:ext cx="39410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Fix: Anti-pattern: "never call serial grid=(1,)</a:t>
            </a:r>
            <a:br/>
            <a:r>
              <a:t>fallback over tiled phase kernels"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59" y="1051560"/>
            <a:ext cx="4160520" cy="132588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11064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doitgen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06424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C0392B"/>
                </a:solidFill>
                <a:latin typeface="Courier New"/>
              </a:defRPr>
            </a:pPr>
            <a:r>
              <a:t>1.52x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49440" y="1115568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59" y="1106424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27AE60"/>
                </a:solidFill>
                <a:latin typeface="Courier New"/>
              </a:defRPr>
            </a:pPr>
            <a:r>
              <a:t>1283x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0972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(844x)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380743"/>
            <a:ext cx="3941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Cause: 32K Python-side kernel launches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1581912"/>
            <a:ext cx="39410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Fix: Grid fusion: grid=(NR*NQ,) + A.clone()</a:t>
            </a:r>
            <a:br/>
            <a:r>
              <a:t>for Triton non-power-of-2 compiler bug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514599"/>
            <a:ext cx="4160520" cy="132588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256946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covariance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2569463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C0392B"/>
                </a:solidFill>
                <a:latin typeface="Courier New"/>
              </a:defRPr>
            </a:pPr>
            <a:r>
              <a:t>0.68x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14600" y="2578607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88920" y="2569463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27AE60"/>
                </a:solidFill>
                <a:latin typeface="Courier New"/>
              </a:defRPr>
            </a:pPr>
            <a:r>
              <a:t>46.5x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256032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(68x)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843783"/>
            <a:ext cx="3941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Cause: Scalar triple-nested loops, no tl.dot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3044951"/>
            <a:ext cx="39410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Fix: Require tl.dot() + tiled 2D grid</a:t>
            </a:r>
            <a:br/>
            <a:r>
              <a:t>for matrix-multiply phases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09159" y="2514599"/>
            <a:ext cx="4160520" cy="132588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8888" y="256946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defRPr sz="1400" b="1">
                <a:solidFill>
                  <a:srgbClr val="1B2A4A"/>
                </a:solidFill>
                <a:latin typeface="Calibri"/>
              </a:defRPr>
            </a:pPr>
            <a:r>
              <a:t>jacobi_1d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569463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C0392B"/>
                </a:solidFill>
                <a:latin typeface="Courier New"/>
              </a:defRPr>
            </a:pPr>
            <a:r>
              <a:t>0.14x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949440" y="2578607"/>
            <a:ext cx="228600" cy="182880"/>
          </a:xfrm>
          <a:prstGeom prst="rightArrow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59" y="2569463"/>
            <a:ext cx="640080" cy="201168"/>
          </a:xfrm>
          <a:prstGeom prst="roundRect">
            <a:avLst>
              <a:gd name="adj" fmla="val 25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27AE60"/>
                </a:solidFill>
                <a:latin typeface="Courier New"/>
              </a:defRPr>
            </a:pPr>
            <a:r>
              <a:t>2.66x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256032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(19x)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2843783"/>
            <a:ext cx="39410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7F8C8D"/>
                </a:solidFill>
                <a:latin typeface="Calibri"/>
              </a:defRPr>
            </a:pPr>
            <a:r>
              <a:t>Cause: 80 kernel launches, missing barriers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8888" y="3044951"/>
            <a:ext cx="39410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defRPr sz="900" b="0">
                <a:solidFill>
                  <a:srgbClr val="2C3E50"/>
                </a:solidFill>
                <a:latin typeface="Calibri"/>
              </a:defRPr>
            </a:pPr>
            <a:r>
              <a:t>Fix: Template with tl.debug_barrier() +</a:t>
            </a:r>
            <a:br/>
            <a:r>
              <a:t>pre-validation rejects code without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3657600"/>
            <a:ext cx="8686800" cy="59436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 w="19050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/>
            <a:r>
              <a:rPr b="1" sz="1200">
                <a:solidFill>
                  <a:srgbClr val="2E5C8A"/>
                </a:solidFill>
                <a:latin typeface="Calibri"/>
              </a:rPr>
              <a:t>Approach: </a:t>
            </a:r>
            <a:r>
              <a:rPr sz="1000">
                <a:solidFill>
                  <a:srgbClr val="2C3E50"/>
                </a:solidFill>
                <a:latin typeface="Calibri"/>
              </a:rPr>
              <a:t>Above 4 fixes are pattern-based, triggered by analysis properties. 3 additional fixes: jacobi_2d &amp; fdtd_2d (2D stencil threshold from &gt;=3 to &gt;=2 for multi-CTA), adi (FP32 tolerance for 478 sequential divisions x 40 timesteps). Pre-validation rejects LLM code missing required constructs before testing.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4434840"/>
            <a:ext cx="8686800" cy="32004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Result: 30/30 pass at 8x  |  Median speedup 22.57x  |  22/30 kernels faster on GPU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8x-Scale Ablation: Analysis vs No-Analysis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Both pipelines re-run at 8x sizes. Sorted by analysis advantage (top = analysis helps most).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1381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1645920"/>
              </a:tblGrid>
              <a:tr h="2011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(pass)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durbin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Y(9) 0.37x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(pass)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jacobi_2d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36.82x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(pass)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seidel_2d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FAIL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(pass)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doitgen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1283.26x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1.60x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(+803.5x)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covariance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 46.52x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0.13x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(+353.6x)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49.64x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0.30x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(+168.1x)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gemver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40.52x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Y(3) 0.34x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(+118.5x)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jacobi_1d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2.82x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Y(10) 0.13x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(+21.3x)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fdtd_2d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Y(4) 15.43x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0.80x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(+19.2x)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1514.80x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Y(7) 98.98x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(+15.3x)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bicg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6.31x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0.74x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(+8.6x)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atax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7.31x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1.34x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(+5.5x)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syr2k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139.94x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29.99x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(+4.7x)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132.40x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33.58x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(+3.9x)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defRPr sz="2800" b="1">
                <a:solidFill>
                  <a:srgbClr val="1B2A4A"/>
                </a:solidFill>
                <a:latin typeface="Calibri"/>
              </a:defRPr>
            </a:pPr>
            <a:r>
              <a:t>8x-Scale Ablation: Analysis vs No-Analysis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defRPr sz="1100" b="0">
                <a:solidFill>
                  <a:srgbClr val="7F8C8D"/>
                </a:solidFill>
                <a:latin typeface="Calibri"/>
              </a:defRPr>
            </a:pPr>
            <a:r>
              <a:t>Both pipelines re-run at 8x sizes. Sorted by analysis advantage (top = analysis helps most).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1381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560320"/>
                <a:gridCol w="2560320"/>
                <a:gridCol w="1645920"/>
              </a:tblGrid>
              <a:tr h="2011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Analysis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Winner</a:t>
                      </a:r>
                    </a:p>
                  </a:txBody>
                  <a:tcPr>
                    <a:solidFill>
                      <a:srgbClr val="2E5C8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3mm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1826.10x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Y(4) 647.24x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(+2.8x)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deriche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Y(5) 28.60x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Y(4) 22.18x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WA (+1.3x)</a:t>
                      </a:r>
                    </a:p>
                  </a:txBody>
                  <a:tcPr>
                    <a:solidFill>
                      <a:srgbClr val="D5F5E3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cholesky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51.50x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floyd_warshall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47.42x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48.03x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gramschmidt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0.41x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heat_3d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236.36x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Y(6)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1.85x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ludcmp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0.91x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51.94x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49.94x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nussinov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22.57x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23.67x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gesummv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29.35x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32.76x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 (+1.1x)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symm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Y(2) 8.42x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9.93x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 (+1.2x)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trmm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19.14x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32.92x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 (+1.7x)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trisolv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0.40x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Y(1) 60.15x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NA (+149.0x)</a:t>
                      </a:r>
                    </a:p>
                  </a:txBody>
                  <a:tcPr>
                    <a:solidFill>
                      <a:srgbClr val="FADBD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315968"/>
            <a:ext cx="859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defRPr sz="1000" b="0">
                <a:solidFill>
                  <a:srgbClr val="7F8C8D"/>
                </a:solidFill>
                <a:latin typeface="Calibri"/>
              </a:defRPr>
            </a:pPr>
            <a:r>
              <a:t>Pass: WA 30/30 vs NA 26/30  |  Median: WA 29.4x vs NA 23.7x  |  &gt;1x: WA 22/26 vs NA 15/21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36007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Head-to-head: WA wins 13  |  NA wins 4  |  TIE 3  |  WA uniquely passes 4  (65% WA win rate)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