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682"/>
                </a:solidFill>
              </a:defRPr>
            </a:pPr>
            <a:r>
              <a:t>Literature Review: LLM/Agent-Based Kernel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9 Recent Works (Jan -- Mar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Xiao Qin  |  Supervision Meeting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Overview: 9 Recent 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554480"/>
                <a:gridCol w="2743200"/>
                <a:gridCol w="201168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Base Method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Key Innovation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Affiliation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Dr.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RL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Multi-turn RL + profiling rewards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HKUST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Fine-Tuning GPT-5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Triton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RL fine-tuning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RL post-training of frontier model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Tehrani et al.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RL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Diffusion (non-AR)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Bai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AVO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CUDA/PTX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Evolutionary search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LLM agents as variation operators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K-Search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Evolutionary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Co-evolving world model for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UC Berkeley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OptiML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CUDA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MCTS search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Nsight Compute profiler in the loop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Bhattacharjee et al.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KernelBlaster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Iterative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Persistent cross-task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NVIDIA / Berkeley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AscendKernelGen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Ascend NPU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SFT + RL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CoT dataset for NPU reasoning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Cao et al.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AscendCraft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Ascend 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Intermediate DSL + LLM lowering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Wen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Jan 2026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6035040"/>
            <a:ext cx="2011680" cy="365760"/>
          </a:xfrm>
          <a:prstGeom prst="roundRect">
            <a:avLst/>
          </a:prstGeom>
          <a:solidFill>
            <a:srgbClr val="D7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14508C"/>
                </a:solidFill>
              </a:defRPr>
            </a:pPr>
            <a:r>
              <a:t>RL-Based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6035040"/>
            <a:ext cx="2011680" cy="365760"/>
          </a:xfrm>
          <a:prstGeom prst="roundRect">
            <a:avLst/>
          </a:prstGeom>
          <a:solidFill>
            <a:srgbClr val="FF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B45A00"/>
                </a:solidFill>
              </a:defRPr>
            </a:pPr>
            <a:r>
              <a:t>Search/Evolution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6035040"/>
            <a:ext cx="2011680" cy="365760"/>
          </a:xfrm>
          <a:prstGeom prst="roundRect">
            <a:avLst/>
          </a:prstGeom>
          <a:solidFill>
            <a:srgbClr val="D7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146E14"/>
                </a:solidFill>
              </a:defRPr>
            </a:pPr>
            <a:r>
              <a:t>Memory-Augmented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6035040"/>
            <a:ext cx="2011680" cy="365760"/>
          </a:xfrm>
          <a:prstGeom prst="round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B41E1E"/>
                </a:solidFill>
              </a:defRPr>
            </a:pPr>
            <a:r>
              <a:t>NPU-Targeted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What Do These Categories Mean?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11338560" cy="146304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Background: Two ways to fine-tune an LLM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SFT (Supervised Fine-Tuning): Give the model (input, correct output) pairs, train it to mimic. Simple but needs high-quality data.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RL Fine-Tuning: Let the model generate code, compile &amp; run it, give a reward score. Model learns from trial-and-error. Harder to train but doesn't need 'correct' answers.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Typical pipeline: SFT first (warm-up) -&gt; then RL on top (push beyond what examples can teach).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5486400" cy="164592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508C"/>
                </a:solidFill>
              </a:defRPr>
            </a:pPr>
            <a:r>
              <a:t>RL Fine-Tuning (modify the LLM's weights)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Further train the LLM on kernel tasks using rewards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from compiling &amp; running the generated code.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Like grading homework repeatedly until the student improves.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17520"/>
            <a:ext cx="5486400" cy="164592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5A00"/>
                </a:solidFill>
              </a:defRPr>
            </a:pPr>
            <a:r>
              <a:t>Search / Evolution (keep LLM frozen, search at inference)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Don't change the LLM. Use it to generate many candidates,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test them, and iteratively improve via search (evolutionary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algorithms, MCTS tree search). Like brainstorm + trial-and-error.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937760"/>
            <a:ext cx="5486400" cy="1645920"/>
          </a:xfrm>
          <a:prstGeom prst="roundRect">
            <a:avLst/>
          </a:prstGeom>
          <a:solidFill>
            <a:srgbClr val="D7F0D7"/>
          </a:solidFill>
          <a:ln w="25400">
            <a:solidFill>
              <a:srgbClr val="14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6E14"/>
                </a:solidFill>
              </a:defRPr>
            </a:pPr>
            <a:r>
              <a:t>Memory-Augmented (accumulate experience, no weight updates)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LLM is frozen, but the system stores what optimizations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worked before. Retrieves relevant past experience as prompt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context. Like an engineer with lab notebooks.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937760"/>
            <a:ext cx="5486400" cy="1645920"/>
          </a:xfrm>
          <a:prstGeom prst="roundRect">
            <a:avLst/>
          </a:prstGeom>
          <a:solidFill>
            <a:srgbClr val="FADCDC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1E1E"/>
                </a:solidFill>
              </a:defRPr>
            </a:pPr>
            <a:r>
              <a:t>NPU-Targeted (non-GPU accelerators)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LLMs know nearly nothing about NPU programming (Huawei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Ascend) -- need domain-specific datasets, DSLs, or CoT.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'DSL transcompilation' = LLM writes simpler DSL, then lower to HW.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Taxonomy of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463040"/>
            <a:ext cx="3931920" cy="54864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LLM-Based Kernel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457200"/>
          </a:xfrm>
          <a:prstGeom prst="roundRect">
            <a:avLst/>
          </a:prstGeom>
          <a:solidFill>
            <a:srgbClr val="D7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14508C"/>
                </a:solidFill>
              </a:defRPr>
            </a:pPr>
            <a:r>
              <a:t>RL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Dr. Kernel (14B, TRLOO)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FT GPT-5 (RL post-train)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DICE (Diffusion + BiC-RL)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560320"/>
            <a:ext cx="2560320" cy="457200"/>
          </a:xfrm>
          <a:prstGeom prst="roundRect">
            <a:avLst/>
          </a:prstGeom>
          <a:solidFill>
            <a:srgbClr val="FFE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B45A00"/>
                </a:solidFill>
              </a:defRPr>
            </a:pPr>
            <a:r>
              <a:t>Search /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AVO (agent evolutionary 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703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K-Search (world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14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OptiML (MCTS + Nsight)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2560320" cy="457200"/>
          </a:xfrm>
          <a:prstGeom prst="roundRect">
            <a:avLst/>
          </a:prstGeom>
          <a:solidFill>
            <a:srgbClr val="D7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146E14"/>
                </a:solidFill>
              </a:defRPr>
            </a:pPr>
            <a:r>
              <a:t>Memory-Augmented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KernelBlaster (MAIC-RL)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560320"/>
            <a:ext cx="2560320" cy="457200"/>
          </a:xfrm>
          <a:prstGeom prst="round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B41E1E"/>
                </a:solidFill>
              </a:defRPr>
            </a:pPr>
            <a:r>
              <a:t>NPU-Targeted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91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AscendKernelGen (SFT+RL)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703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- AscendCraft (DSL transc.)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400" b="1">
                <a:solidFill>
                  <a:srgbClr val="004682"/>
                </a:solidFill>
              </a:defRPr>
            </a:pPr>
            <a:r>
              <a:t>Two dominant paradigms: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1) Train the model (RL fine-tuning) -- modify weights to internalize kernel optimization knowledge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2) Search at inference time (evolution, MCTS, agent loops) -- keep model frozen, explore solution space with feedback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3) NPU works address the cold-start problem: LLMs have near-zero NPU knowledge, requiring domain-specific datasets/DSLs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Dr. Kernel: RL Done Right for Triton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Liu et al. (HKUST) | arXiv 2602.05885 |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Problem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Multi-turn RL for kernel generation suffers from reward hacking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Standard REINFORCE has biased gradients in multi-turn settings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Three Key Contributions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KernelGYM: distributed GPU env with reward-hacking detection, multi-turn data collection, stable long-term RL training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TRLOO (Turn-level REINFORCE-Leave-One-Out): unbiased advantage estimation for multi-turn RL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Profiling-based rewards (PR): uses GPU profiling metrics, not wallclock time -- prevents 'lazy optimization' shortcuts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Profiling-based rejection sampling (PRS): filters training data by profiling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508C"/>
                </a:solidFill>
              </a:defRPr>
            </a:pPr>
            <a:r>
              <a:t>Results (KernelBench Level-2)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Fraction of kernels &gt;=1.2x speedup over PyTorch: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Dr. Kernel-14B:  31.6%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Claude Sonnet 4.5:  26.7%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GPT-5:  28.6%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With test-time scaling (best-of-N): 47.8%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5303520" cy="91440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14508C"/>
                </a:solidFill>
              </a:defRPr>
            </a:pPr>
            <a:r>
              <a:t>Takeaway: Naive RL rewards (pass/fail, wallclock) are easily hacked. GPU profiling metrics are essential for honest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Fine-Tuning GPT-5 for GPU Kernel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Tehrani et al. | arXiv 2602.11000 |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Problem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Even frontier LLMs struggle with GPU kernels due to: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Scarcity of high-quality labeled training data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Compiler biases when generating synthetic solutions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Limited generalization across hardware generations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Method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RL fine-tuning of GPT-5 using Makora's environment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RL as a data-efficient alternative to SFT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Integrated into a full coding agent for multi-turn refinement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320040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508C"/>
                </a:solidFill>
              </a:defRPr>
            </a:pPr>
            <a:r>
              <a:t>Results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Single-attempt correctness: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43.7% → 77.0% (+33.3pp)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Kernels outperforming TorchInductor: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14.8% → 21.8% (+7pp)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With full coding agent: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97.4% solve rate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2.12× geomean speedup over TorchInductor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846320"/>
            <a:ext cx="5303520" cy="73152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14508C"/>
                </a:solidFill>
              </a:defRPr>
            </a:pPr>
            <a:r>
              <a:t>Takeaway: Even frontier models have huge headroom for domain-specific RL post-training. Agent wrapper pushes correctness to near-100%.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DICE: Diffusion LLMs for CUDA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Bai et al. | arXiv 2602.11715 |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Idea: Use diffusion LLMs (not autoregressive)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Why Diffusion?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Parallel token generation -&gt; holistic structural planning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Non-sequential refinement suits code where global structure matters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Avoids left-to-right commitment of autoregressive models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Method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CuKe dataset: curated SFT data, 2.0x speedup threshold (quality &gt; quantity)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BiC-RL (Bi-phase Curated RL):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Stage 1: Kernel infilling (complete partial kernels -- easier task)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Stage 2: End-to-end generation (full kernels from scratch)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Models at 1.7B, 4B, 8B parameter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508C"/>
                </a:solidFill>
              </a:defRPr>
            </a:pPr>
            <a:r>
              <a:t>Results (KernelBench)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Outperforms both AR and diffusion LLMs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of comparable scale on KernelBench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First diffusion LLM family specifically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designed for kernel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731520"/>
          </a:xfrm>
          <a:prstGeom prst="roundRect">
            <a:avLst/>
          </a:prstGeom>
          <a:solidFill>
            <a:srgbClr val="D7E6FA"/>
          </a:solidFill>
          <a:ln w="25400">
            <a:solidFill>
              <a:srgbClr val="1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14508C"/>
                </a:solidFill>
              </a:defRPr>
            </a:pPr>
            <a:r>
              <a:t>Takeaway: Diffusion architectures are a viable alternative to AR for structured code generation -- holistic planning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AVO: Agentic Variation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Chen et al. (NVIDIA) | arXiv 2603.24517 | 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Idea: Replace evolutionary operators with LLM agents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How It Works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Classical: fixed mutation + crossover heuristics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AVO: self-directed agent loops as variation operators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Each agent can: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Consult evolutionary lineage (what worked/failed)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Query a domain-specific knowledge base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Use execution feedback to propose, repair, critique, verify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7 days of continuous autonomous evolution on Blackwell B200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Target: Multi-head Attention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The most aggressively hand-optimized kernel in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5A00"/>
                </a:solidFill>
              </a:defRPr>
            </a:pPr>
            <a:r>
              <a:t>Results (Attention on B200)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Outperforms cuDNN by up to 3.5%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Outperforms FlashAttention-4 by up to 10.5%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Optimizations transfer across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attention variants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91440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B45A00"/>
                </a:solidFill>
              </a:defRPr>
            </a:pPr>
            <a:r>
              <a:t>Takeaway: LLM agents can beat hand-tuned vendor libraries on the most optimized kernels -- but requires massive compute (7 days on B200s).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K-Search: Co-Evolving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Cao et al. (UC Berkeley) | arXiv 2602.19128 |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Problem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Existing evolutionary approaches treat LLMs as stochastic code generators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Lack planning; discard promising strategies due to buggy intermediate code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Innovation: Decoupled Planning &amp; Instantiation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High-level: what optimization strategy to pursue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(e.g., 'use shared memory tiling with 2D thread blocks')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Low-level: actual code implementation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Co-evolving world model guides search using LLM domain knowledge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Enables non-monotonic optimization paths: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temporary regressions -&gt; large gains (won't abandon buggy but promising strategies)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5A00"/>
                </a:solidFill>
              </a:defRPr>
            </a:pPr>
            <a:r>
              <a:t>Results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Average 2.10× over SOTA evolutionary search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Up to 14.3× on complex MoE kernels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SOTA on GPUMode TriMul benchmark: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1030us on H100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Beats both automated &amp; human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5303520" cy="82296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B45A00"/>
                </a:solidFill>
              </a:defRPr>
            </a:pPr>
            <a:r>
              <a:t>Takeaway: Separating 'what to try' from 'how to implement it' is crucial -- don't abandon strategies just because intermediate code is buggy.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OptiML: MCTS + Hardware Profiler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Bhattacharjee et al. | arXiv 2602.12305 |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Idea: Kernel optimization as search under verification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Two-Stage Architecture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OptiML-G (Generator): Mixture-of-Thoughts proposal policy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Synthesizes initial programs from NL or existing code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OptiML-X (Optimizer): Monte Carlo Tree Search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LLM-driven code edits guided by Nsight Compute feedback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- Each candidate: compiled -&gt; verified -&gt; profiled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Reward Design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Composite: runtime + HW bottleneck (mem throughput, occupancy) + regression guards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Advantage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Interpretable: traceable sequence of edits with profiler evidence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Stages decoupled: can use OptiML-X on human-written kernels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572000"/>
            <a:ext cx="5303520" cy="73152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B45A00"/>
                </a:solidFill>
              </a:defRPr>
            </a:pPr>
            <a:r>
              <a:t>Takeaway: MCTS + Nsight Compute feedback = better performance + explainability. Two decoupled stages are independently useful.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KernelBlaster: Cross-Task Memory-Augmented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Dong et al. (NVIDIA / Berkeley) | arXiv 2602.14293 |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Problem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Existing agentic workflows cannot aggregate knowledge from prior optimization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Re-explore the same space for each new kernel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MAIC-RL (Memory-Augmented In-Context RL)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Persistent, searchable CUDA knowledge base across tasks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Insights from kernel A inform optimization of kernel B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No LLM fine-tuning -- learns through accumulated in-context experience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Profile-Guided Textual Gradients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Profiling feedback encoded as 'gradients' in text form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Steers exploration toward promising optimization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1828800"/>
          </a:xfrm>
          <a:prstGeom prst="roundRect">
            <a:avLst/>
          </a:prstGeom>
          <a:solidFill>
            <a:srgbClr val="D7F0D7"/>
          </a:solidFill>
          <a:ln w="25400">
            <a:solidFill>
              <a:srgbClr val="14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146E14"/>
                </a:solidFill>
              </a:defRPr>
            </a:pPr>
            <a:r>
              <a:t>Results (vs PyTorch baselines)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Level 1: 1.43× speedup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Level 2: 2.50× speedup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Level 3: 1.50× speedup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657600"/>
            <a:ext cx="5303520" cy="731520"/>
          </a:xfrm>
          <a:prstGeom prst="roundRect">
            <a:avLst/>
          </a:prstGeom>
          <a:solidFill>
            <a:srgbClr val="D7F0D7"/>
          </a:solidFill>
          <a:ln w="25400">
            <a:solidFill>
              <a:srgbClr val="14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146E14"/>
                </a:solidFill>
              </a:defRPr>
            </a:pPr>
            <a:r>
              <a:t>Takeaway: Cross-task knowledge transfer avoids redundant exploration. Fine-tuning not always needed if you can accumulate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AscendKernelGen: LLMs for NPU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Cao et al. (20 authors) | arXiv 2601.07160 | Jan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Problem: LLMs completely fail on NPU kernels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General-purpose LLMs: near-zero success on Ascend NPU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NPU DSLs are too specialized, underrepresented in training data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Contributions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Ascend-CoT dataset: chain-of-thought reasoning for NPU kernel programming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KernelGen-LM: domain-specific LM with SFT + RL + execution feedback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NPUKernelBench: evaluation across compilation, correctness,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ADCDC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1E1E"/>
                </a:solidFill>
              </a:defRPr>
            </a:pPr>
            <a:r>
              <a:t>Results (Complex Level-2 Kernels)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Compilation success: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  0% (baseline) -&gt; 95.5% (Pass@10)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Functional correctness: 64.3%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731520"/>
          </a:xfrm>
          <a:prstGeom prst="roundRect">
            <a:avLst/>
          </a:prstGeom>
          <a:solidFill>
            <a:srgbClr val="FADCDC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B41E1E"/>
                </a:solidFill>
              </a:defRPr>
            </a:pPr>
            <a:r>
              <a:t>Takeaway: GPU-centric LLM training data does NOT transfer to NPUs. Domain-specific datasets with structured reasoning are essential.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AscendCraft: DSL-Guided Transcompilation for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Wen et al. | arXiv 2601.22760 | Jan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Key Idea: Decompose hard problem via intermediate DSL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Two-Step Pipeline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Step 1 -- DSL Generation: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LLM generates lightweight DSL abstracting AscendC complexity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Preserves Ascend-specific semantics (tiling, data movement, pipeline)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Uses category-specific expert examples (7 operator categories)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Step 2 -- Transcompilation: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646464"/>
                </a:solidFill>
              </a:defRPr>
            </a:pPr>
            <a:r>
              <a:t>  Constraint-driven LLM lowering passes: DSL -&gt; full AscendC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004682"/>
                </a:solidFill>
              </a:defRPr>
            </a:pPr>
            <a:r>
              <a:t>Generalizability</a:t>
            </a:r>
          </a:p>
          <a:p>
            <a:pPr lvl="1">
              <a:spcAft>
                <a:spcPts val="200"/>
              </a:spcAft>
              <a:defRPr sz="1300" b="0">
                <a:solidFill>
                  <a:srgbClr val="1E1E1E"/>
                </a:solidFill>
              </a:defRPr>
            </a:pPr>
            <a:r>
              <a:t>Successfully generates correct kernels for mHC architecture (different NPU)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ADCDC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B41E1E"/>
                </a:solidFill>
              </a:defRPr>
            </a:pPr>
            <a:r>
              <a:t>Results (MultiKernelBench)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Compilation: 98.1%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Functional correctness: 90.4%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46.2% match/exceed PyTorch eager perf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Generalizes to mHC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731520"/>
          </a:xfrm>
          <a:prstGeom prst="roundRect">
            <a:avLst/>
          </a:prstGeom>
          <a:solidFill>
            <a:srgbClr val="FADCDC"/>
          </a:solidFill>
          <a:ln w="2540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/>
          <a:lstStyle/>
          <a:p>
            <a:pPr algn="ctr">
              <a:defRPr sz="1300" b="1">
                <a:solidFill>
                  <a:srgbClr val="B41E1E"/>
                </a:solidFill>
              </a:defRPr>
            </a:pPr>
            <a:r>
              <a:t>Takeaway: An intermediate DSL decomposes the hard problem into two tractable steps. The approach is portable across NPU targets.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Cross-Paper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22860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Fine-tune?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Multi-turn?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Profiler?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Search?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4682"/>
                          </a:solidFill>
                        </a:defRPr>
                      </a:pPr>
                      <a:r>
                        <a:t>Open-source?</a:t>
                      </a:r>
                    </a:p>
                  </a:txBody>
                  <a:tcPr>
                    <a:solidFill>
                      <a:srgbClr val="DCEB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Dr.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(14B)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(profiling rewards)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(KernelGYM)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FT GPT-5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(GPT-5)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(agent)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(1.7-8B)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AVO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(agent)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Evolutionary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K-Search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Evol. + world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OptiML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(Nsight)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MCTS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KernelBlaster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 (agent)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In-context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AscendKernelGen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AscendCraft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Key Trends Across All 9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004682"/>
                </a:solidFill>
              </a:defRPr>
            </a:pPr>
            <a:r>
              <a:t>1. RL fine-tuning is the dominant training paradigm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4/9 actually update model weights via RL (Dr.Kernel, FT GPT-5, DICE, AscendKernelGen)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Note: KernelBlaster's 'in-context RL' is NOT weight-updating RL --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646464"/>
                </a:solidFill>
              </a:defRPr>
            </a:pPr>
            <a:r>
              <a:t>  it keeps the LLM frozen and 'learns' by accumulating experience in prompts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Profiling-based rewards &gt;&gt; pass/fail or wallclock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004682"/>
                </a:solidFill>
              </a:defRPr>
            </a:pPr>
            <a:r>
              <a:t>2. Search as alternative to fine-tuning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AVO, K-Search, OptiML, KernelBlaster avoid fine-tuning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Trade training cost for inference-time compute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004682"/>
                </a:solidFill>
              </a:defRPr>
            </a:pPr>
            <a:r>
              <a:t>3. Decoupling planning from implementation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Idea: decide WHAT optimization to try (e.g. 'use shared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646464"/>
                </a:solidFill>
              </a:defRPr>
            </a:pPr>
            <a:r>
              <a:t>  memory tiling') separately from HOW to write the code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Why it matters: a good strategy may have a buggy first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646464"/>
                </a:solidFill>
              </a:defRPr>
            </a:pPr>
            <a:r>
              <a:t>  implementation. Without decoupling, the system sees bad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646464"/>
                </a:solidFill>
              </a:defRPr>
            </a:pPr>
            <a:r>
              <a:t>  perf and abandons the strategy. With decoupling, it can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646464"/>
                </a:solidFill>
              </a:defRPr>
            </a:pPr>
            <a:r>
              <a:t>  retry the implementation while keeping the strategy.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K-Search, OptiML, AscendCraft all use this pattern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004682"/>
                </a:solidFill>
              </a:defRPr>
            </a:pPr>
            <a:r>
              <a:t>4. Hardware feedback loops are essential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5/9 works use profiler feedback (Nsight, GPU profiling)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004682"/>
                </a:solidFill>
              </a:defRPr>
            </a:pPr>
            <a:r>
              <a:t>5. Non-GPU targets emerging</a:t>
            </a:r>
          </a:p>
          <a:p>
            <a:pPr lvl="1">
              <a:spcAft>
                <a:spcPts val="200"/>
              </a:spcAft>
              <a:defRPr sz="1200" b="0">
                <a:solidFill>
                  <a:srgbClr val="1E1E1E"/>
                </a:solidFill>
              </a:defRPr>
            </a:pPr>
            <a:r>
              <a:t>2 works target Ascend NPUs; GPU knowledge doesn't transfer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365760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What's notably absent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No work uses compiler analysis to guide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generation (our unique angle)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Few address correctness verification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beyond test-case matching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No work targets C-to-Triton translation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(most are PyTorch-to-Triton/CUDA)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Limited focus on dependence analysis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for race condition prevention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2"/>
                </a:solidFill>
              </a:defRPr>
            </a:pPr>
            <a:r>
              <a:t>Positioning Our Work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Current Work (Workshop Paper)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Compiler analysis -&gt; structured prompts -&gt; LLM -&gt; Triton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Focus: what parallelism is safe (correctness-first)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- 30/30 PolyBench/C, 150/151 TSVC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Gap: single-shot prompting only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No RL, no search, no iterative refinement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00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004682"/>
                </a:solidFill>
              </a:defRPr>
            </a:pPr>
            <a:r>
              <a:t>Extension Directions (Conference Paper)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1. Analysis-guided search: compiler analysis as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'world model' in K-Search / MCTS framework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2. Analysis as RL reward: dependence analysis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for correctness verification in RL loop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3. Multi-turn refinement: analysis feedback to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iteratively fix race conditions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4. Harder benchmarks: KernelBench-style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FEBD2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600" b="1">
                <a:solidFill>
                  <a:srgbClr val="B45A00"/>
                </a:solidFill>
              </a:defRPr>
            </a:pPr>
            <a:r>
              <a:t>Discussion Points for Supervisors</a:t>
            </a:r>
          </a:p>
          <a:p>
            <a:pPr>
              <a:defRPr sz="1300">
                <a:solidFill>
                  <a:srgbClr val="1E1E1E"/>
                </a:solidFill>
              </a:defRPr>
            </a:pP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1. Which extension direction best leverages our unique compiler analysis angle?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2. Search-based (K-Search style) vs. RL-based (Dr. Kernel style) -- which is more feasible for us?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3. Benchmark choice: stay with PolyBench/TSVC or move to KernelBench (de facto standard)?</a:t>
            </a:r>
          </a:p>
          <a:p>
            <a:pPr>
              <a:defRPr sz="1300" b="1">
                <a:solidFill>
                  <a:srgbClr val="1E1E1E"/>
                </a:solidFill>
              </a:defRPr>
            </a:pPr>
            <a:r>
              <a:t>4. Conference target and timeline: what is the minimum viable extension to differentiate?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